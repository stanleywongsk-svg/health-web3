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9"/>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24"/>
    <p:sldId id="27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16" d="100"/>
          <a:sy n="116" d="100"/>
        </p:scale>
        <p:origin x="86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808F42-5DFD-004C-8D4F-8B0273EA5AEC}" type="datetimeFigureOut">
              <a:rPr lang="en-GB" smtClean="0"/>
              <a:t>29/09/2026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8A73AE-6579-E046-825E-D6DEBB2BA603}" type="slidenum">
              <a:rPr lang="en-GB" smtClean="0"/>
              <a:t>‹#›</a:t>
            </a:fld>
            <a:endParaRPr lang="en-GB"/>
          </a:p>
        </p:txBody>
      </p:sp>
    </p:spTree>
    <p:extLst>
      <p:ext uri="{BB962C8B-B14F-4D97-AF65-F5344CB8AC3E}">
        <p14:creationId xmlns:p14="http://schemas.microsoft.com/office/powerpoint/2010/main" val="1137449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about 30 seconds. HealthLoop is an iOS-first health habit service for Hong Kong adults. We have enough technical work to discuss a concrete product, but we still need evidence that people will use it repeatedly and that a buyer will pay for operating support. The proposal is to test those questions in a bounded pilot after native and privacy readiness gates pass. The app uses Simplified Chinese; this research presentation follows the English template. The date is the evidence review date, not a promised launch or presentation date. Team letters are the project’s existing role labels, not invented member names. There is no in-app AI doctor or chatbot; Codex is a development tool. The main presentation uses the template’s 20-minute allocation, including this opening, followed by five minutes of questions.</a:t>
            </a:r>
          </a:p>
          <a:p/>
          <a:p>
            <a:r>
              <a:t>Sources and evidence scope</a:t>
            </a:r>
          </a:p>
          <a:p/>
          <a:p>
            <a:r>
              <a:t>E1 — HealthLoop implementation brief and requirement register</a:t>
            </a:r>
          </a:p>
          <a:p>
            <a:r>
              <a:t>MEGA_PROMPT.md; docs/requirements.md</a:t>
            </a:r>
          </a:p>
          <a:p>
            <a:r>
              <a:t>Local repository inspected 5 October 2026. Preserves 58 IDs and B/C ownership. Product rules are not medical recommendations.</a:t>
            </a:r>
          </a:p>
          <a:p/>
          <a:p>
            <a:r>
              <a:t>E4 — HealthLoop application and business proposal</a:t>
            </a:r>
          </a:p>
          <a:p>
            <a:r>
              <a:t>docs/proposals/HealthLoop_应用说明与商业提案_简体中文.md</a:t>
            </a:r>
          </a:p>
          <a:p>
            <a:r>
              <a:t>28 September 2026. Pricing, costs, cohort thresholds and funding scenarios are unvalidated planning assumptions. This deck proposes the 12-user, 8-task and 2-paid-pilot research details.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with the decision: continue a narrow noncash habit proposition and test repeat use before expanding incentives or building a broad commercial platform. The segment and pain statement are working hypotheses, not interview findings. The initial Hong Kong focus and iPhone platform come from the approved implementation brief. There is no market-size estimate because the available evidence does not establish the eligible, reachable or paying audience. Health reads, cloud synchronisation, marketing and reminders have separate choices. A person can decline optional choices and still access the basic app. No wallet, NFT purchase, ad interaction or insurance policy is required. Core points cannot be transferred, redeemed for cash or promised conversion to future tokens. The proposal must stand on the usefulness of the experience rather than speculative reward value.</a:t>
            </a:r>
          </a:p>
          <a:p/>
          <a:p>
            <a:r>
              <a:t>Sources and evidence scope</a:t>
            </a:r>
          </a:p>
          <a:p/>
          <a:p>
            <a:r>
              <a:t>S1 — Hong Kong Department of Health, Health Behaviour Survey 2023</a:t>
            </a:r>
          </a:p>
          <a:p>
            <a:r>
              <a:t>https://www.chp.gov.hk/files/pdf/dh_hbs_2023_report_eng.pdf</a:t>
            </a:r>
          </a:p>
          <a:p>
            <a:r>
              <a:t>2023 fieldwork; report published 2025. Executive summary pp. v–vi, printed pp. 22–29. Adult figures are for ages 18+. Population context, not a HealthLoop demand or effect estimate.</a:t>
            </a:r>
          </a:p>
          <a:p/>
          <a:p>
            <a:r>
              <a:t>E1 — HealthLoop implementation brief and requirement register</a:t>
            </a:r>
          </a:p>
          <a:p>
            <a:r>
              <a:t>MEGA_PROMPT.md; docs/requirements.md</a:t>
            </a:r>
          </a:p>
          <a:p>
            <a:r>
              <a:t>Local repository inspected 5 October 2026. Preserves 58 IDs and B/C ownership. Product rules are not medical recommendations.</a:t>
            </a:r>
          </a:p>
          <a:p/>
          <a:p>
            <a:r>
              <a:t>E2 — HealthLoop implementation status and executed test evidence</a:t>
            </a:r>
          </a:p>
          <a:p>
            <a:r>
              <a:t>docs/IMPLEMENTATION_STATUS.md; docs/TEST_EVIDENCE.md</a:t>
            </a:r>
          </a:p>
          <a:p>
            <a:r>
              <a:t>Includes dated 24–28 September and 5 October 2026 engineering records. The October tests were run in a separate application session, not this proposal session. Current UI interaction and physical-device acceptance remain unverified.</a:t>
            </a:r>
          </a:p>
          <a:p/>
          <a:p>
            <a:r>
              <a:t>E3 — HealthLoop simulator walkthrough and redacted recording</a:t>
            </a:r>
          </a:p>
          <a:p>
            <a:r>
              <a:t>docs/SIMULATOR_WALKTHROUGH_20260928.md; docs/evidence/recordings/HealthLoop-simulator-walkthrough.mp4</a:t>
            </a:r>
          </a:p>
          <a:p>
            <a:r>
              <a:t>28 September 2026. Local test account and real local Auth/Edge/database. No real health readings, awards, merchant redemption or physical-device acceptance.</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responsibility map, not a biography slide. The repository does not supply member names, qualifications or verified access to recruitment partners, so no credentials or institutional relationships are invented. B owns mobile and native delivery; C owns server rules, data permissions and accounting. Only B and C own the 58 technical requirements and review one another. Their human acceptance is still pending; generated code and passing tests do not confer approval. A coordinates product, commercial research and legal review, without replacing a qualified adviser. D supports research, design, recruitment and black-box QA. The concrete team asset is an existing implementation and a recorded simulator flow. Those assets make a prototype study feasible, but neither is evidence of an unmet customer need.</a:t>
            </a:r>
          </a:p>
          <a:p/>
          <a:p>
            <a:r>
              <a:t>Sources and evidence scope</a:t>
            </a:r>
          </a:p>
          <a:p/>
          <a:p>
            <a:r>
              <a:t>E1 — HealthLoop implementation brief and requirement register</a:t>
            </a:r>
          </a:p>
          <a:p>
            <a:r>
              <a:t>MEGA_PROMPT.md; docs/requirements.md</a:t>
            </a:r>
          </a:p>
          <a:p>
            <a:r>
              <a:t>Local repository inspected 5 October 2026. Preserves 58 IDs and B/C ownership. Product rules are not medical recommendations.</a:t>
            </a:r>
          </a:p>
          <a:p/>
          <a:p>
            <a:r>
              <a:t>E2 — HealthLoop implementation status and executed test evidence</a:t>
            </a:r>
          </a:p>
          <a:p>
            <a:r>
              <a:t>docs/IMPLEMENTATION_STATUS.md; docs/TEST_EVIDENCE.md</a:t>
            </a:r>
          </a:p>
          <a:p>
            <a:r>
              <a:t>Includes dated 24–28 September and 5 October 2026 engineering records. The October tests were run in a separate application session, not this proposal session. Current UI interaction and physical-device acceptance remain unverified.</a:t>
            </a:r>
          </a:p>
          <a:p/>
          <a:p>
            <a:r>
              <a:t>E3 — HealthLoop simulator walkthrough and redacted recording</a:t>
            </a:r>
          </a:p>
          <a:p>
            <a:r>
              <a:t>docs/SIMULATOR_WALKTHROUGH_20260928.md; docs/evidence/recordings/HealthLoop-simulator-walkthrough.mp4</a:t>
            </a:r>
          </a:p>
          <a:p>
            <a:r>
              <a:t>28 September 2026. Local test account and real local Auth/Edge/database. No real health readings, awards, merchant redemption or physical-device acceptance.</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job without assuming that another health app is the answer. We want to understand how adults fit activity into ordinary workdays, what they already do, and what would count as a better outcome. Desk-based adults are a proposed first recruitment segment rather than a measured market. Initial research can compare ages 25–44 and 45–64 as exploratory strata; the product’s general audience remains adults aged 18 or older. We must check the suitability of Simplified Chinese for the Hong Kong participants we can actually reach. Traditional Chinese support has not been implemented. Apple Health is a credible existing option. We should include participants who say it is already sufficient, and people who prefer no app. The proposed service does not offer rehabilitation, diagnosis or a prescription for how much exercise someone should do.</a:t>
            </a:r>
          </a:p>
          <a:p/>
          <a:p>
            <a:r>
              <a:t>Sources and evidence scope</a:t>
            </a:r>
          </a:p>
          <a:p/>
          <a:p>
            <a:r>
              <a:t>S1 — Hong Kong Department of Health, Health Behaviour Survey 2023</a:t>
            </a:r>
          </a:p>
          <a:p>
            <a:r>
              <a:t>https://www.chp.gov.hk/files/pdf/dh_hbs_2023_report_eng.pdf</a:t>
            </a:r>
          </a:p>
          <a:p>
            <a:r>
              <a:t>2023 fieldwork; report published 2025. Executive summary pp. v–vi, printed pp. 22–29. Adult figures are for ages 18+. Population context, not a HealthLoop demand or effect estimate.</a:t>
            </a:r>
          </a:p>
          <a:p/>
          <a:p>
            <a:r>
              <a:t>S2 — Apple Support, Use the Health app on your iPhone or iPad</a:t>
            </a:r>
          </a:p>
          <a:p>
            <a:r>
              <a:t>https://support.apple.com/en-hk/104997</a:t>
            </a:r>
          </a:p>
          <a:p>
            <a:r>
              <a:t>Official product description checked 5 October 2026. Does not demonstrate comparative retention.</a:t>
            </a:r>
          </a:p>
          <a:p/>
          <a:p>
            <a:r>
              <a:t>E1 — HealthLoop implementation brief and requirement register</a:t>
            </a:r>
          </a:p>
          <a:p>
            <a:r>
              <a:t>MEGA_PROMPT.md; docs/requirements.md</a:t>
            </a:r>
          </a:p>
          <a:p>
            <a:r>
              <a:t>Local repository inspected 5 October 2026. Preserves 58 IDs and B/C ownership. Product rules are not medical recommendations.</a:t>
            </a:r>
          </a:p>
          <a:p/>
          <a:p>
            <a:r>
              <a:t>E4 — HealthLoop application and business proposal</a:t>
            </a:r>
          </a:p>
          <a:p>
            <a:r>
              <a:t>docs/proposals/HealthLoop_应用说明与商业提案_简体中文.md</a:t>
            </a:r>
          </a:p>
          <a:p>
            <a:r>
              <a:t>28 September 2026. Pricing, costs, cohort thresholds and funding scenarios are unvalidated planning assumptions. This deck proposes the 12-user, 8-task and 2-paid-pilot research details.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Separate the completed method from the proposed method. Completed work for this deck consists of an official-source desk review and an inspection of the project brief, existing commercial proposal, implementation status and recorded technical evidence. There are no user interviews, survey responses or buyer conversations in the material reviewed. Proposed research proceeds by dependencies: approve the minimal research protocol; interview twelve adults; include eight of them in task-based usability sessions; then, after device readiness and first-party measurement are in place, observe a cohort with at least one hundred matured activations. Separately, interview five people with budget responsibility. Use recent specific behaviour before describing the concept. This sequence informs the segment, onboarding language and commercial scope rather than claiming validation from stated enthusiasm alone.</a:t>
            </a:r>
          </a:p>
          <a:p/>
          <a:p>
            <a:r>
              <a:t>Sources and evidence scope</a:t>
            </a:r>
          </a:p>
          <a:p/>
          <a:p>
            <a:r>
              <a:t>S1 — Hong Kong Department of Health, Health Behaviour Survey 2023</a:t>
            </a:r>
          </a:p>
          <a:p>
            <a:r>
              <a:t>https://www.chp.gov.hk/files/pdf/dh_hbs_2023_report_eng.pdf</a:t>
            </a:r>
          </a:p>
          <a:p>
            <a:r>
              <a:t>2023 fieldwork; report published 2025. Executive summary pp. v–vi, printed pp. 22–29. Adult figures are for ages 18+. Population context, not a HealthLoop demand or effect estimate.</a:t>
            </a:r>
          </a:p>
          <a:p/>
          <a:p>
            <a:r>
              <a:t>S2 — Apple Support, Use the Health app on your iPhone or iPad</a:t>
            </a:r>
          </a:p>
          <a:p>
            <a:r>
              <a:t>https://support.apple.com/en-hk/104997</a:t>
            </a:r>
          </a:p>
          <a:p>
            <a:r>
              <a:t>Official product description checked 5 October 2026. Does not demonstrate comparative retention.</a:t>
            </a:r>
          </a:p>
          <a:p/>
          <a:p>
            <a:r>
              <a:t>S3 — Sweatcoin Terms of Use, sections 7–8</a:t>
            </a:r>
          </a:p>
          <a:p>
            <a:r>
              <a:t>https://sweatco.in/tnc</a:t>
            </a:r>
          </a:p>
          <a:p>
            <a:r>
              <a:t>Official description of movement-based units and a third-party benefits marketplace, checked 5 October 2026. No claim about Hong Kong offer availability or HealthLoop partnerships.</a:t>
            </a:r>
          </a:p>
          <a:p/>
          <a:p>
            <a:r>
              <a:t>S4 — Apple App Review Guidelines, 5.1.2(vi) and 5.1.3(i)</a:t>
            </a:r>
          </a:p>
          <a:p>
            <a:r>
              <a:t>https://developer.apple.com/app-store/review/guidelines/#health-and-health-research</a:t>
            </a:r>
          </a:p>
          <a:p>
            <a:r>
              <a:t>Checked 5 October 2026. Platform policy informs product design; it is not legal advice or evidence of approval.</a:t>
            </a:r>
          </a:p>
          <a:p/>
          <a:p>
            <a:r>
              <a:t>E4 — HealthLoop application and business proposal</a:t>
            </a:r>
          </a:p>
          <a:p>
            <a:r>
              <a:t>docs/proposals/HealthLoop_应用说明与商业提案_简体中文.md</a:t>
            </a:r>
          </a:p>
          <a:p>
            <a:r>
              <a:t>28 September 2026. Pricing, costs, cohort thresholds and funding scenarios are unvalidated planning assumptions. This deck proposes the 12-user, 8-task and 2-paid-pilot research details.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count of zero refers to external primary-research participants documented in the reviewed repository. Synthetic accounts, automated test cases and an operator’s simulator walkthrough are not participants. Recruitment through two independent community or workplace channels is proposed; no access or partner permission is assumed. D can support recruitment and notes, with A coordinating scope and consent. A twelve-person qualitative sample helps discover friction but cannot estimate population prevalence. Include disconfirming participants, different levels of app familiarity and people who refuse optional cloud or marketing consent. Keep employer participation voluntary and avoid supervisor access to individual records. Obtain separate permission for recording, define storage, withdrawal and deletion before starting, and keep any real health records out of the coding session. A device study must never write invented samples into HealthKit.</a:t>
            </a:r>
          </a:p>
          <a:p/>
          <a:p>
            <a:r>
              <a:t>Sources and evidence scope</a:t>
            </a:r>
          </a:p>
          <a:p/>
          <a:p>
            <a:r>
              <a:t>E4 — HealthLoop application and business proposal</a:t>
            </a:r>
          </a:p>
          <a:p>
            <a:r>
              <a:t>docs/proposals/HealthLoop_应用说明与商业提案_简体中文.md</a:t>
            </a:r>
          </a:p>
          <a:p>
            <a:r>
              <a:t>28 September 2026. Pricing, costs, cohort thresholds and funding scenarios are unvalidated planning assumptions. This deck proposes the 12-user, 8-task and 2-paid-pilot research details.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S1 is the Hong Kong Department of Health’s Health Behaviour Survey 2023, published in 2025. The displayed statistics refer to adults aged eighteen or above. The overall survey enumerated 4,839 people aged fifteen or above from 2,145 households between July and November 2023; that overall sample is not the adult analytic denominator. Sitting or reclining excludes sleep. The data describe a population context and cannot be multiplied into HealthLoop revenue or taken as evidence that the app works. S2 confirms that Apple Health already performs basic tracking and aggregation. S3 describes Sweatcoin’s movement-based units and marketplace. These alternatives make our central test harder: does clear, localised mission feedback add enough value to be worth using? We make no comparison of clinical outcomes, retention or local merchant availability.</a:t>
            </a:r>
          </a:p>
          <a:p/>
          <a:p>
            <a:r>
              <a:t>Sources and evidence scope</a:t>
            </a:r>
          </a:p>
          <a:p/>
          <a:p>
            <a:r>
              <a:t>S1 — Hong Kong Department of Health, Health Behaviour Survey 2023</a:t>
            </a:r>
          </a:p>
          <a:p>
            <a:r>
              <a:t>https://www.chp.gov.hk/files/pdf/dh_hbs_2023_report_eng.pdf</a:t>
            </a:r>
          </a:p>
          <a:p>
            <a:r>
              <a:t>2023 fieldwork; report published 2025. Executive summary pp. v–vi, printed pp. 22–29. Adult figures are for ages 18+. Population context, not a HealthLoop demand or effect estimate.</a:t>
            </a:r>
          </a:p>
          <a:p/>
          <a:p>
            <a:r>
              <a:t>S2 — Apple Support, Use the Health app on your iPhone or iPad</a:t>
            </a:r>
          </a:p>
          <a:p>
            <a:r>
              <a:t>https://support.apple.com/en-hk/104997</a:t>
            </a:r>
          </a:p>
          <a:p>
            <a:r>
              <a:t>Official product description checked 5 October 2026. Does not demonstrate comparative retention.</a:t>
            </a:r>
          </a:p>
          <a:p/>
          <a:p>
            <a:r>
              <a:t>S3 — Sweatcoin Terms of Use, sections 7–8</a:t>
            </a:r>
          </a:p>
          <a:p>
            <a:r>
              <a:t>https://sweatco.in/tnc</a:t>
            </a:r>
          </a:p>
          <a:p>
            <a:r>
              <a:t>Official description of movement-based units and a third-party benefits marketplace, checked 5 October 2026. No claim about Hong Kong offer availability or HealthLoop partnerships.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desk and technical findings, not completed fieldwork. Public context and established alternatives justify investigating the problem while leaving demand unproven. The 5 October application record reports a revised walk-to-points experience, server mission progress and recovery of accepted-summary claims after restart. Its logged checks passed: 355 unit/guard tests in 20 files, lint/types, 34 client-file boundaries, all 58 requirement assignments, 68 SQL groups, 25 cross-layer tests, 34 Edge/worker tests and one real local HTTP scenario with six groups. iOS export and native simulator compilation also passed. Those checks were run by the separate application session, not this proposal session. The current UI walkthrough was blocked by a locked Mac, so September’s successful recording remains evidence of the earlier interface only. No two-iPhone acceptance, retention cohort or human sign-off is established.</a:t>
            </a:r>
          </a:p>
          <a:p/>
          <a:p>
            <a:r>
              <a:t>Sources and evidence scope</a:t>
            </a:r>
          </a:p>
          <a:p/>
          <a:p>
            <a:r>
              <a:t>S1 — Hong Kong Department of Health, Health Behaviour Survey 2023</a:t>
            </a:r>
          </a:p>
          <a:p>
            <a:r>
              <a:t>https://www.chp.gov.hk/files/pdf/dh_hbs_2023_report_eng.pdf</a:t>
            </a:r>
          </a:p>
          <a:p>
            <a:r>
              <a:t>2023 fieldwork; report published 2025. Executive summary pp. v–vi, printed pp. 22–29. Adult figures are for ages 18+. Population context, not a HealthLoop demand or effect estimate.</a:t>
            </a:r>
          </a:p>
          <a:p/>
          <a:p>
            <a:r>
              <a:t>S2 — Apple Support, Use the Health app on your iPhone or iPad</a:t>
            </a:r>
          </a:p>
          <a:p>
            <a:r>
              <a:t>https://support.apple.com/en-hk/104997</a:t>
            </a:r>
          </a:p>
          <a:p>
            <a:r>
              <a:t>Official product description checked 5 October 2026. Does not demonstrate comparative retention.</a:t>
            </a:r>
          </a:p>
          <a:p/>
          <a:p>
            <a:r>
              <a:t>S3 — Sweatcoin Terms of Use, sections 7–8</a:t>
            </a:r>
          </a:p>
          <a:p>
            <a:r>
              <a:t>https://sweatco.in/tnc</a:t>
            </a:r>
          </a:p>
          <a:p>
            <a:r>
              <a:t>Official description of movement-based units and a third-party benefits marketplace, checked 5 October 2026. No claim about Hong Kong offer availability or HealthLoop partnerships.</a:t>
            </a:r>
          </a:p>
          <a:p/>
          <a:p>
            <a:r>
              <a:t>E2 — HealthLoop implementation status and executed test evidence</a:t>
            </a:r>
          </a:p>
          <a:p>
            <a:r>
              <a:t>docs/IMPLEMENTATION_STATUS.md; docs/TEST_EVIDENCE.md</a:t>
            </a:r>
          </a:p>
          <a:p>
            <a:r>
              <a:t>Includes dated 24–28 September and 5 October 2026 engineering records. The October tests were run in a separate application session, not this proposal session. Current UI interaction and physical-device acceptance remain unverified.</a:t>
            </a:r>
          </a:p>
          <a:p/>
          <a:p>
            <a:r>
              <a:t>E3 — HealthLoop simulator walkthrough and redacted recording</a:t>
            </a:r>
          </a:p>
          <a:p>
            <a:r>
              <a:t>docs/SIMULATOR_WALKTHROUGH_20260928.md; docs/evidence/recordings/HealthLoop-simulator-walkthrough.mp4</a:t>
            </a:r>
          </a:p>
          <a:p>
            <a:r>
              <a:t>28 September 2026. Local test account and real local Auth/Edge/database. No real health readings, awards, merchant redemption or physical-device acceptance.</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original template asks for an evidence-based persona. At the current stage, labelling an invented person as research-derived would overstate the evidence. We therefore use a provisional segment profile and explicitly identify the assumptions to test. The goal is to learn whether people actually experience a gap between viewing records and maintaining a routine. We do not know their income, exact age, health status, shopping behaviour or emotional response. Do not add those details for realism. The first design implication is modest: a person should understand the next action, the available data and the consequence of their consent choices. Research should either replace this profile with a traceable synthesis or reject it. A non-user who says the existing tracker is enough is useful evidence, not a failed recruit.</a:t>
            </a:r>
          </a:p>
          <a:p/>
          <a:p>
            <a:r>
              <a:t>Sources and evidence scope</a:t>
            </a:r>
          </a:p>
          <a:p/>
          <a:p>
            <a:r>
              <a:t>E1 — HealthLoop implementation brief and requirement register</a:t>
            </a:r>
          </a:p>
          <a:p>
            <a:r>
              <a:t>MEGA_PROMPT.md; docs/requirements.md</a:t>
            </a:r>
          </a:p>
          <a:p>
            <a:r>
              <a:t>Local repository inspected 5 October 2026. Preserves 58 IDs and B/C ownership. Product rules are not medical recommendations.</a:t>
            </a:r>
          </a:p>
          <a:p/>
          <a:p>
            <a:r>
              <a:t>E4 — HealthLoop application and business proposal</a:t>
            </a:r>
          </a:p>
          <a:p>
            <a:r>
              <a:t>docs/proposals/HealthLoop_应用说明与商业提案_简体中文.md</a:t>
            </a:r>
          </a:p>
          <a:p>
            <a:r>
              <a:t>28 September 2026. Pricing, costs, cohort thresholds and funding scenarios are unvalidated planning assumptions. This deck proposes the 12-user, 8-task and 2-paid-pilot research details.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this as a future scenario to test, not a witnessed customer journey. The trigger is a workday break. The person checks an existing activity record, encounters a HealthLoop mission and decides whether to allow the relevant reads and minimum cloud summary. Only a server-confirmed result becomes available points. Empty or unavailable data must remain honest; it must not be interpreted as zero activity or proven refusal of HealthKit read access. During a task session, ask the participant to explain each screen in their own words. Observe where they hesitate and whether the first action is obvious. Do not coach the person through a confusing permission decision. The outcome we want to learn is whether understandable feedback provides enough value for a later voluntary return. Feelings and friction remain hypotheses until observed.</a:t>
            </a:r>
          </a:p>
          <a:p/>
          <a:p>
            <a:r>
              <a:t>Sources and evidence scope</a:t>
            </a:r>
          </a:p>
          <a:p/>
          <a:p>
            <a:r>
              <a:t>E1 — HealthLoop implementation brief and requirement register</a:t>
            </a:r>
          </a:p>
          <a:p>
            <a:r>
              <a:t>MEGA_PROMPT.md; docs/requirements.md</a:t>
            </a:r>
          </a:p>
          <a:p>
            <a:r>
              <a:t>Local repository inspected 5 October 2026. Preserves 58 IDs and B/C ownership. Product rules are not medical recommendations.</a:t>
            </a:r>
          </a:p>
          <a:p/>
          <a:p>
            <a:r>
              <a:t>E4 — HealthLoop application and business proposal</a:t>
            </a:r>
          </a:p>
          <a:p>
            <a:r>
              <a:t>docs/proposals/HealthLoop_应用说明与商业提案_简体中文.md</a:t>
            </a:r>
          </a:p>
          <a:p>
            <a:r>
              <a:t>28 September 2026. Pricing, costs, cohort thresholds and funding scenarios are unvalidated planning assumptions. This deck proposes the 12-user, 8-task and 2-paid-pilot research details.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rows separate possible pains, the strength of evidence and possible interventions. The first row has public context but no direct user confirmation. The second has real product rules and an existing interface, but no participant comprehension test. The third is a business hypothesis from the earlier proposal, with no recorded buyer interview. Prioritise research that could overturn the product decision: whether users understand the mission and whether they return when points have no cash value. Then test a buyer’s actual need for programme delivery. Do not assume that an organisation wants an employee health dashboard. If buyers require personal health profiles or health-based advertising, that demand does not fit the current product boundary. Human acceptance and commercial approval remain separate from B/C’s implementation work.</a:t>
            </a:r>
          </a:p>
          <a:p/>
          <a:p>
            <a:r>
              <a:t>Sources and evidence scope</a:t>
            </a:r>
          </a:p>
          <a:p/>
          <a:p>
            <a:r>
              <a:t>S1 — Hong Kong Department of Health, Health Behaviour Survey 2023</a:t>
            </a:r>
          </a:p>
          <a:p>
            <a:r>
              <a:t>https://www.chp.gov.hk/files/pdf/dh_hbs_2023_report_eng.pdf</a:t>
            </a:r>
          </a:p>
          <a:p>
            <a:r>
              <a:t>2023 fieldwork; report published 2025. Executive summary pp. v–vi, printed pp. 22–29. Adult figures are for ages 18+. Population context, not a HealthLoop demand or effect estimate.</a:t>
            </a:r>
          </a:p>
          <a:p/>
          <a:p>
            <a:r>
              <a:t>S2 — Apple Support, Use the Health app on your iPhone or iPad</a:t>
            </a:r>
          </a:p>
          <a:p>
            <a:r>
              <a:t>https://support.apple.com/en-hk/104997</a:t>
            </a:r>
          </a:p>
          <a:p>
            <a:r>
              <a:t>Official product description checked 5 October 2026. Does not demonstrate comparative retention.</a:t>
            </a:r>
          </a:p>
          <a:p/>
          <a:p>
            <a:r>
              <a:t>E1 — HealthLoop implementation brief and requirement register</a:t>
            </a:r>
          </a:p>
          <a:p>
            <a:r>
              <a:t>MEGA_PROMPT.md; docs/requirements.md</a:t>
            </a:r>
          </a:p>
          <a:p>
            <a:r>
              <a:t>Local repository inspected 5 October 2026. Preserves 58 IDs and B/C ownership. Product rules are not medical recommendations.</a:t>
            </a:r>
          </a:p>
          <a:p/>
          <a:p>
            <a:r>
              <a:t>E3 — HealthLoop simulator walkthrough and redacted recording</a:t>
            </a:r>
          </a:p>
          <a:p>
            <a:r>
              <a:t>docs/SIMULATOR_WALKTHROUGH_20260928.md; docs/evidence/recordings/HealthLoop-simulator-walkthrough.mp4</a:t>
            </a:r>
          </a:p>
          <a:p>
            <a:r>
              <a:t>28 September 2026. Local test account and real local Auth/Edge/database. No real health readings, awards, merchant redemption or physical-device acceptance.</a:t>
            </a:r>
          </a:p>
          <a:p/>
          <a:p>
            <a:r>
              <a:t>E4 — HealthLoop application and business proposal</a:t>
            </a:r>
          </a:p>
          <a:p>
            <a:r>
              <a:t>docs/proposals/HealthLoop_应用说明与商业提案_简体中文.md</a:t>
            </a:r>
          </a:p>
          <a:p>
            <a:r>
              <a:t>28 September 2026. Pricing, costs, cohort thresholds and funding scenarios are unvalidated planning assumptions. This deck proposes the 12-user, 8-task and 2-paid-pilot research details.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core flow in product language. A person signs in by email code, confirms adulthood and saves separate consent choices. On a capable device, read-only HealthKit provides available activity data; raw sleep and heart-rate series remain on-device. With cloud consent, only the minimum activity summary reaches the server. Daily tiers award the highest entitlement: 3,000 eligible steps earns 10 points; 5,000 earns 20; 7,000 earns 30. An upgrade from 10 to 20 grants only another 10. A weekly mission awards 20 once for at least three distinct days meeting the pinned goal, 3,000 by default. Rules use Asia/Hong_Kong and a next-day noon late-sync cutoff. These are product rules, not medical advice. Current reward codes are demonstrations without merchant redemption rights. No wallet, cash conversion, future-token rights or reward for ad interactions belongs to the core.</a:t>
            </a:r>
          </a:p>
          <a:p/>
          <a:p>
            <a:r>
              <a:t>Sources and evidence scope</a:t>
            </a:r>
          </a:p>
          <a:p/>
          <a:p>
            <a:r>
              <a:t>E1 — HealthLoop implementation brief and requirement register</a:t>
            </a:r>
          </a:p>
          <a:p>
            <a:r>
              <a:t>MEGA_PROMPT.md; docs/requirements.md</a:t>
            </a:r>
          </a:p>
          <a:p>
            <a:r>
              <a:t>Local repository inspected 5 October 2026. Preserves 58 IDs and B/C ownership. Product rules are not medical recommendations.</a:t>
            </a:r>
          </a:p>
          <a:p/>
          <a:p>
            <a:r>
              <a:t>E2 — HealthLoop implementation status and executed test evidence</a:t>
            </a:r>
          </a:p>
          <a:p>
            <a:r>
              <a:t>docs/IMPLEMENTATION_STATUS.md; docs/TEST_EVIDENCE.md</a:t>
            </a:r>
          </a:p>
          <a:p>
            <a:r>
              <a:t>Includes dated 24–28 September and 5 October 2026 engineering records. The October tests were run in a separate application session, not this proposal session. Current UI interaction and physical-device acceptance remain unverified.</a:t>
            </a:r>
          </a:p>
          <a:p/>
          <a:p>
            <a:r>
              <a:t>E3 — HealthLoop simulator walkthrough and redacted recording</a:t>
            </a:r>
          </a:p>
          <a:p>
            <a:r>
              <a:t>docs/SIMULATOR_WALKTHROUGH_20260928.md; docs/evidence/recordings/HealthLoop-simulator-walkthrough.mp4</a:t>
            </a:r>
          </a:p>
          <a:p>
            <a:r>
              <a:t>28 September 2026. Local test account and real local Auth/Edge/database. No real health readings, awards, merchant redemption or physical-device acceptance.</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existing business proposal prioritises an organisation service package: generic habit content, onboarding, participant support and administrative delivery. The organisation would buy that service, not employee health records. A separate hypothesis is clearly labelled, non-personalised sponsorship sold by placement. Sponsor events must exclude health values, health-derived groups, task outcomes, wallet identifiers and identifiers joinable to health records. These are proposed offerings: enterprise capability F03 requires separate scope approval; P23/P24 sponsorship and P30 measurement are not implemented. No contracts, customers or revenue are documented. The proposed prices and cost allocations are unvalidated inputs copied from E4. The small example surplus is not profit guidance: it excludes tax and other costs and assumes delivery capacity. Appendix 18 shows the model and adverse scenarios. Our immediate commercial task is buyer discovery, followed only by separately authorised pilots after readiness gates.</a:t>
            </a:r>
          </a:p>
          <a:p/>
          <a:p>
            <a:r>
              <a:t>Sources and evidence scope</a:t>
            </a:r>
          </a:p>
          <a:p/>
          <a:p>
            <a:r>
              <a:t>S4 — Apple App Review Guidelines, 5.1.2(vi) and 5.1.3(i)</a:t>
            </a:r>
          </a:p>
          <a:p>
            <a:r>
              <a:t>https://developer.apple.com/app-store/review/guidelines/#health-and-health-research</a:t>
            </a:r>
          </a:p>
          <a:p>
            <a:r>
              <a:t>Checked 5 October 2026. Platform policy informs product design; it is not legal advice or evidence of approval.</a:t>
            </a:r>
          </a:p>
          <a:p/>
          <a:p>
            <a:r>
              <a:t>E1 — HealthLoop implementation brief and requirement register</a:t>
            </a:r>
          </a:p>
          <a:p>
            <a:r>
              <a:t>MEGA_PROMPT.md; docs/requirements.md</a:t>
            </a:r>
          </a:p>
          <a:p>
            <a:r>
              <a:t>Local repository inspected 5 October 2026. Preserves 58 IDs and B/C ownership. Product rules are not medical recommendations.</a:t>
            </a:r>
          </a:p>
          <a:p/>
          <a:p>
            <a:r>
              <a:t>E4 — HealthLoop application and business proposal</a:t>
            </a:r>
          </a:p>
          <a:p>
            <a:r>
              <a:t>docs/proposals/HealthLoop_应用说明与商业提案_简体中文.md</a:t>
            </a:r>
          </a:p>
          <a:p>
            <a:r>
              <a:t>28 September 2026. Pricing, costs, cohort thresholds and funding scenarios are unvalidated planning assumptions. This deck proposes the 12-user, 8-task and 2-paid-pilot research details.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evidence has narrowed the next decision, not proved product-market fit. Start with usability: at least six of eight task participants should finish the mission/ledger/privacy walkthrough unaided, with no serious misunderstanding of cash value or consent; otherwise revise and retest. This criterion is proposed in this deck. For retention, E4 defines activation as login, adult confirmation, saved choices and a home or mission view within seven days of registration; optional health, marketing and notification consent are not conditions. Set activation as D0. D7 is a voluntary core-page view on D6–8; D28 is D26–30. Include only fully matured observation windows, report sample size, uncertainty and channel differences, and exclude synthetic accounts. The 35%/20% thresholds are proposed decisions, not benchmarks or results. Buyer validation requires actual budget and procurement evidence; two authorised paid pilots with positive direct contribution are a subsequent proposed gate, not a current commitment.</a:t>
            </a:r>
          </a:p>
          <a:p/>
          <a:p>
            <a:r>
              <a:t>Sources and evidence scope</a:t>
            </a:r>
          </a:p>
          <a:p/>
          <a:p>
            <a:r>
              <a:t>E1 — HealthLoop implementation brief and requirement register</a:t>
            </a:r>
          </a:p>
          <a:p>
            <a:r>
              <a:t>MEGA_PROMPT.md; docs/requirements.md</a:t>
            </a:r>
          </a:p>
          <a:p>
            <a:r>
              <a:t>Local repository inspected 5 October 2026. Preserves 58 IDs and B/C ownership. Product rules are not medical recommendations.</a:t>
            </a:r>
          </a:p>
          <a:p/>
          <a:p>
            <a:r>
              <a:t>E4 — HealthLoop application and business proposal</a:t>
            </a:r>
          </a:p>
          <a:p>
            <a:r>
              <a:t>docs/proposals/HealthLoop_应用说明与商业提案_简体中文.md</a:t>
            </a:r>
          </a:p>
          <a:p>
            <a:r>
              <a:t>28 September 2026. Pricing, costs, cohort thresholds and funding scenarios are unvalidated planning assumptions. This deck proposes the 12-user, 8-task and 2-paid-pilot research details.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Allow five minutes for questions. Keep the proposal’s decision clear: obtain evidence of device reliability, understandable interaction, voluntary return and a buyer who values service delivery within the privacy boundary. Refer to the appendix for model arithmetic, evidence sources and release dependencies. There is no signed commercial partner, measured retention cohort, clinical outcome or verified physical-device health flow to report. If asked about AI, explain that development uses Codex; an AI doctor, assistant subscription or chatbot is not an assumed product feature. If asked about Web3, explain that the independent synthetic-only Lab is unbuilt and does not provide a payout route for real health activity or core points. The next technical check is the updated simulator walkthrough once the Mac is unlocked, followed by the two-iPhone matrix when signing and devices are available. Admin and privacy-operation work remain independent dependencies.</a:t>
            </a:r>
          </a:p>
          <a:p/>
          <a:p>
            <a:r>
              <a:t>Sources and evidence scope</a:t>
            </a:r>
          </a:p>
          <a:p/>
          <a:p>
            <a:r>
              <a:t>E1 — HealthLoop implementation brief and requirement register</a:t>
            </a:r>
          </a:p>
          <a:p>
            <a:r>
              <a:t>MEGA_PROMPT.md; docs/requirements.md</a:t>
            </a:r>
          </a:p>
          <a:p>
            <a:r>
              <a:t>Local repository inspected 5 October 2026. Preserves 58 IDs and B/C ownership. Product rules are not medical recommendations.</a:t>
            </a:r>
          </a:p>
          <a:p/>
          <a:p>
            <a:r>
              <a:t>E2 — HealthLoop implementation status and executed test evidence</a:t>
            </a:r>
          </a:p>
          <a:p>
            <a:r>
              <a:t>docs/IMPLEMENTATION_STATUS.md; docs/TEST_EVIDENCE.md</a:t>
            </a:r>
          </a:p>
          <a:p>
            <a:r>
              <a:t>Includes dated 24–28 September and 5 October 2026 engineering records. The October tests were run in a separate application session, not this proposal session. Current UI interaction and physical-device acceptance remain unverified.</a:t>
            </a:r>
          </a:p>
          <a:p/>
          <a:p>
            <a:r>
              <a:t>E4 — HealthLoop application and business proposal</a:t>
            </a:r>
          </a:p>
          <a:p>
            <a:r>
              <a:t>docs/proposals/HealthLoop_应用说明与商业提案_简体中文.md</a:t>
            </a:r>
          </a:p>
          <a:p>
            <a:r>
              <a:t>28 September 2026. Pricing, costs, cohort thresholds and funding scenarios are unvalidated planning assumptions. This deck proposes the 12-user, 8-task and 2-paid-pilot research details.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register. S1–S4 are official external sources checked for this deck. E1–E4 are the repository records inspected locally. Full source locations and their limitations follow below. Slide references support their associated claims; they do not turn a proposed design into measured performance. September’s simulator recording describes the earlier interface. A concurrent 5 October application session added a newer engineering checkpoint, which this deck incorporates as recorded evidence; this proposal session did not rerun those tests. Other sessions’ application and instruction edits were preserved. Technical acceptance, legal approval, independent audit and platform approval remain open. No participant IDs or quotes are fabricated. The research instrument and additional study criteria are proposed design choices.</a:t>
            </a:r>
          </a:p>
          <a:p/>
          <a:p>
            <a:r>
              <a:t>Sources and evidence scope</a:t>
            </a:r>
          </a:p>
          <a:p/>
          <a:p>
            <a:r>
              <a:t>S1 — Hong Kong Department of Health, Health Behaviour Survey 2023</a:t>
            </a:r>
          </a:p>
          <a:p>
            <a:r>
              <a:t>https://www.chp.gov.hk/files/pdf/dh_hbs_2023_report_eng.pdf</a:t>
            </a:r>
          </a:p>
          <a:p>
            <a:r>
              <a:t>2023 fieldwork; report published 2025. Executive summary pp. v–vi, printed pp. 22–29. Adult figures are for ages 18+. Population context, not a HealthLoop demand or effect estimate.</a:t>
            </a:r>
          </a:p>
          <a:p/>
          <a:p>
            <a:r>
              <a:t>S2 — Apple Support, Use the Health app on your iPhone or iPad</a:t>
            </a:r>
          </a:p>
          <a:p>
            <a:r>
              <a:t>https://support.apple.com/en-hk/104997</a:t>
            </a:r>
          </a:p>
          <a:p>
            <a:r>
              <a:t>Official product description checked 5 October 2026. Does not demonstrate comparative retention.</a:t>
            </a:r>
          </a:p>
          <a:p/>
          <a:p>
            <a:r>
              <a:t>S3 — Sweatcoin Terms of Use, sections 7–8</a:t>
            </a:r>
          </a:p>
          <a:p>
            <a:r>
              <a:t>https://sweatco.in/tnc</a:t>
            </a:r>
          </a:p>
          <a:p>
            <a:r>
              <a:t>Official description of movement-based units and a third-party benefits marketplace, checked 5 October 2026. No claim about Hong Kong offer availability or HealthLoop partnerships.</a:t>
            </a:r>
          </a:p>
          <a:p/>
          <a:p>
            <a:r>
              <a:t>S4 — Apple App Review Guidelines, 5.1.2(vi) and 5.1.3(i)</a:t>
            </a:r>
          </a:p>
          <a:p>
            <a:r>
              <a:t>https://developer.apple.com/app-store/review/guidelines/#health-and-health-research</a:t>
            </a:r>
          </a:p>
          <a:p>
            <a:r>
              <a:t>Checked 5 October 2026. Platform policy informs product design; it is not legal advice or evidence of approval.</a:t>
            </a:r>
          </a:p>
          <a:p/>
          <a:p>
            <a:r>
              <a:t>E1 — HealthLoop implementation brief and requirement register</a:t>
            </a:r>
          </a:p>
          <a:p>
            <a:r>
              <a:t>MEGA_PROMPT.md; docs/requirements.md</a:t>
            </a:r>
          </a:p>
          <a:p>
            <a:r>
              <a:t>Local repository inspected 5 October 2026. Preserves 58 IDs and B/C ownership. Product rules are not medical recommendations.</a:t>
            </a:r>
          </a:p>
          <a:p/>
          <a:p>
            <a:r>
              <a:t>E2 — HealthLoop implementation status and executed test evidence</a:t>
            </a:r>
          </a:p>
          <a:p>
            <a:r>
              <a:t>docs/IMPLEMENTATION_STATUS.md; docs/TEST_EVIDENCE.md</a:t>
            </a:r>
          </a:p>
          <a:p>
            <a:r>
              <a:t>Includes dated 24–28 September and 5 October 2026 engineering records. The October tests were run in a separate application session, not this proposal session. Current UI interaction and physical-device acceptance remain unverified.</a:t>
            </a:r>
          </a:p>
          <a:p/>
          <a:p>
            <a:r>
              <a:t>E3 — HealthLoop simulator walkthrough and redacted recording</a:t>
            </a:r>
          </a:p>
          <a:p>
            <a:r>
              <a:t>docs/SIMULATOR_WALKTHROUGH_20260928.md; docs/evidence/recordings/HealthLoop-simulator-walkthrough.mp4</a:t>
            </a:r>
          </a:p>
          <a:p>
            <a:r>
              <a:t>28 September 2026. Local test account and real local Auth/Edge/database. No real health readings, awards, merchant redemption or physical-device acceptance.</a:t>
            </a:r>
          </a:p>
          <a:p/>
          <a:p>
            <a:r>
              <a:t>E4 — HealthLoop application and business proposal</a:t>
            </a:r>
          </a:p>
          <a:p>
            <a:r>
              <a:t>docs/proposals/HealthLoop_应用说明与商业提案_简体中文.md</a:t>
            </a:r>
          </a:p>
          <a:p>
            <a:r>
              <a:t>28 September 2026. Pricing, costs, cohort thresholds and funding scenarios are unvalidated planning assumptions. This deck proposes the 12-user, 8-task and 2-paid-pilot research details.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interview questions before pitching the solution. Ask for a recent concrete event rather than agreement with a benefit statement. Follow up with what happened, which tool was used and what the person did instead. Obtain separate permission before a usability task or recording. The prototype task can ask participants to find the mission, explain what a point is worth, identify why data is missing, change optional consent and locate export/deletion controls without submitting destructive actions. Do not expose real participant health data to the coding environment. For buyers, separately ask about the last programme funded, budget ownership, procurement, delivery burden and the reaction to a defined HK$15,000 monthly service package. D can group notes; A checks interpretation; B/C review technical implications. Retain participant-code links and contrary cases. No interviews, coding exercise or synthesis has yet been performed.</a:t>
            </a:r>
          </a:p>
          <a:p/>
          <a:p>
            <a:r>
              <a:t>Sources and evidence scope</a:t>
            </a:r>
          </a:p>
          <a:p/>
          <a:p>
            <a:r>
              <a:t>E4 — HealthLoop application and business proposal</a:t>
            </a:r>
          </a:p>
          <a:p>
            <a:r>
              <a:t>docs/proposals/HealthLoop_应用说明与商业提案_简体中文.md</a:t>
            </a:r>
          </a:p>
          <a:p>
            <a:r>
              <a:t>28 September 2026. Pricing, costs, cohort thresholds and funding scenarios are unvalidated planning assumptions. This deck proposes the 12-user, 8-task and 2-paid-pilot research details.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financial figures below are illustrative planning assumptions from E4, not observed revenue, quotes, approved expenditure or a forecast. Let N be paying organisations, each with 100 monthly active users (MAU), S be sponsor units, and add 500 free MAU. Organisation price is HK$15,000 per month with HK$2,500 additional delivery cost; sponsor price is HK$10,000 with HK$2,000 content/review cost. Fixed monthly allocations of HK$90,000 consist of B/C technical resources 50,000, A/D operations/content/QA 20,000, privacy/security/legal support 7,000, base cloud/tools 8,000 and contingency 5,000. These are internal allocations, not quoted full-time staffing costs. Each MAU adds HK$8 and revenue carries a 2% collection/bad-debt allowance. Result = 11,400N + 7,800S − 94,000. Avoid double-counting fixed people and additional delivery. With one sponsor, a HK$12,000 client price lowers client contribution to HK$8,460 and requires eleven clients for cost coverage. At HK$16 per MAU, the eight-client/one-sponsor case loses HK$5,400. A zero-revenue stress case with 500 MAU uses HK$94,000 monthly; three billing cycles plus an assumed HK$60,000 one-off reserve imply HK$342,000, not an approved funding ask or a development schedule. Obtain quotes and prove capacity before relying on any figure.</a:t>
            </a:r>
          </a:p>
          <a:p/>
          <a:p>
            <a:r>
              <a:t>Sources and evidence scope</a:t>
            </a:r>
          </a:p>
          <a:p/>
          <a:p>
            <a:r>
              <a:t>E4 — HealthLoop application and business proposal</a:t>
            </a:r>
          </a:p>
          <a:p>
            <a:r>
              <a:t>docs/proposals/HealthLoop_应用说明与商业提案_简体中文.md</a:t>
            </a:r>
          </a:p>
          <a:p>
            <a:r>
              <a:t>28 September 2026. Pricing, costs, cohort thresholds and funding scenarios are unvalidated planning assumptions. This deck proposes the 12-user, 8-task and 2-paid-pilot research details.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Progress by dependencies and evidence, without a promised launch date. Gate one requires actual read-only HealthKit and source behaviour on at least two compatible iPhones, signing/installability, account and consent edge cases, accessibility and the real minimum-summary-to-ledger path. Gate two requires the remaining safe operations: administrator task publishing and live MFA, retention and deletion replay after restore, sponsorship isolation before offering placements and protected cohort measurement before claiming retention. Gate three requires an approved research/pilot scope, a buyer with budget, a clear service contract, actual delivery and payment, plus reviewed unit costs. B and C remain the only technical requirement owners and cross-reviewers. A coordinates business/product/legal work; D supports research/design/QA. External provisioning, spending, publication, deployment and transaction broadcasts still need explicit operator approval. The Lab is not implemented: it must have separate identities/database, synthetic tasks and Base Sepolia chain 84532 only. It is excluded from core revenue and there is no health-to-token or mainnet path in this proposal.</a:t>
            </a:r>
          </a:p>
          <a:p/>
          <a:p>
            <a:r>
              <a:t>Sources and evidence scope</a:t>
            </a:r>
          </a:p>
          <a:p/>
          <a:p>
            <a:r>
              <a:t>E1 — HealthLoop implementation brief and requirement register</a:t>
            </a:r>
          </a:p>
          <a:p>
            <a:r>
              <a:t>MEGA_PROMPT.md; docs/requirements.md</a:t>
            </a:r>
          </a:p>
          <a:p>
            <a:r>
              <a:t>Local repository inspected 5 October 2026. Preserves 58 IDs and B/C ownership. Product rules are not medical recommendations.</a:t>
            </a:r>
          </a:p>
          <a:p/>
          <a:p>
            <a:r>
              <a:t>E2 — HealthLoop implementation status and executed test evidence</a:t>
            </a:r>
          </a:p>
          <a:p>
            <a:r>
              <a:t>docs/IMPLEMENTATION_STATUS.md; docs/TEST_EVIDENCE.md</a:t>
            </a:r>
          </a:p>
          <a:p>
            <a:r>
              <a:t>Includes dated 24–28 September and 5 October 2026 engineering records. The October tests were run in a separate application session, not this proposal session. Current UI interaction and physical-device acceptance remain unverified.</a:t>
            </a:r>
          </a:p>
          <a:p/>
          <a:p>
            <a:r>
              <a:t>E4 — HealthLoop application and business proposal</a:t>
            </a:r>
          </a:p>
          <a:p>
            <a:r>
              <a:t>docs/proposals/HealthLoop_应用说明与商业提案_简体中文.md</a:t>
            </a:r>
          </a:p>
          <a:p>
            <a:r>
              <a:t>28 September 2026. Pricing, costs, cohort thresholds and funding scenarios are unvalidated planning assumptions. This deck proposes the 12-user, 8-task and 2-paid-pilot research details.</a:t>
            </a:r>
          </a:p>
          <a:p/>
          <a:p>
            <a:r>
              <a:t>S4 — Apple App Review Guidelines, 5.1.2(vi) and 5.1.3(i)</a:t>
            </a:r>
          </a:p>
          <a:p>
            <a:r>
              <a:t>https://developer.apple.com/app-store/review/guidelines/#health-and-health-research</a:t>
            </a:r>
          </a:p>
          <a:p>
            <a:r>
              <a:t>Checked 5 October 2026. Platform policy informs product design; it is not legal advice or evidence of approval.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97398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6727218"/>
      </p:ext>
    </p:extLst>
  </p:cSld>
  <p:clrMap bg1="lt1" tx1="dk1" bg2="lt2" tx2="dk2" accent1="accent1" accent2="accent2" accent3="accent3" accent4="accent4" accent5="accent5" accent6="accent6" hlink="hlink" folHlink="folHlink"/>
  <p:sldLayoutIdLst>
    <p:sldLayoutId id="2147483661"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www.chp.gov.hk/files/pdf/dh_hbs_2023_report_eng.pdf" TargetMode="External"/><Relationship Id="rId4" Type="http://schemas.openxmlformats.org/officeDocument/2006/relationships/hyperlink" Target="https://support.apple.com/en-hk/104997" TargetMode="External"/><Relationship Id="rId5" Type="http://schemas.openxmlformats.org/officeDocument/2006/relationships/hyperlink" Target="https://sweatco.in/tnc"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www.chp.gov.hk/files/pdf/dh_hbs_2023_report_eng.pdf" TargetMode="External"/><Relationship Id="rId4" Type="http://schemas.openxmlformats.org/officeDocument/2006/relationships/hyperlink" Target="https://developer.apple.com/app-store/review/guidelines/#health-and-health-research"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047"/>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E1C6AD6-9FD2-406D-8FF6-7FE6D0965621}"/>
              </a:ext>
            </a:extLst>
          </p:cNvPr>
          <p:cNvSpPr>
            <a:spLocks noGrp="1"/>
          </p:cNvSpPr>
          <p:nvPr/>
        </p:nvSpPr>
        <p:spPr>
          <a:xfrm>
            <a:off x="647700" y="638175"/>
            <a:ext cx="800100" cy="57150"/>
          </a:xfrm>
          <a:prstGeom prst="rect">
            <a:avLst/>
          </a:prstGeom>
          <a:solidFill>
            <a:srgbClr val="C96D4B"/>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 name="HEALTHLOOP BUSINESS PROPOSAL">
            <a:extLst>
              <a:ext uri="{FF2B5EF4-FFF2-40B4-BE49-F238E27FC236}">
                <a16:creationId xmlns:a16="http://schemas.microsoft.com/office/drawing/2014/main" id="{7BD4949B-B298-422A-A406-DEF9E123EFC4}"/>
              </a:ext>
            </a:extLst>
          </p:cNvPr>
          <p:cNvSpPr>
            <a:spLocks noGrp="1"/>
          </p:cNvSpPr>
          <p:nvPr/>
        </p:nvSpPr>
        <p:spPr>
          <a:xfrm>
            <a:off x="647700" y="1190625"/>
            <a:ext cx="10096500" cy="1905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3000"/>
              </a:lnSpc>
              <a:spcBef>
                <a:spcPts val="0"/>
              </a:spcBef>
              <a:spcAft>
                <a:spcPts val="0"/>
              </a:spcAft>
              <a:buClrTx/>
              <a:buSzTx/>
              <a:buFontTx/>
              <a:buNone/>
              <a:tabLst/>
              <a:defRPr sz="4050" b="1">
                <a:solidFill>
                  <a:srgbClr val="FFFFFF"/>
                </a:solidFill>
                <a:latin typeface="Charter"/>
                <a:ea typeface="Charter"/>
                <a:cs typeface="Charter"/>
              </a:defRPr>
            </a:pPr>
            <a:r>
              <a:rPr kumimoji="0" sz="4050" b="1" i="0" u="none" strike="noStrike" kern="1200" cap="none" spc="0" normalizeH="0" baseline="0" noProof="0">
                <a:ln>
                  <a:noFill/>
                </a:ln>
                <a:solidFill>
                  <a:srgbClr val="FFFFFF"/>
                </a:solidFill>
                <a:effectLst/>
                <a:uLnTx/>
                <a:uFillTx/>
                <a:latin typeface="Charter"/>
                <a:ea typeface="Charter"/>
                <a:cs typeface="Charter"/>
              </a:rPr>
              <a:t>HEALTHLOOP</a:t>
            </a:r>
          </a:p>
          <a:p>
            <a:pPr marL="0" marR="0" lvl="0" indent="0" algn="l" defTabSz="914400" rtl="0" eaLnBrk="1" fontAlgn="auto" latinLnBrk="0" hangingPunct="1">
              <a:lnSpc>
                <a:spcPct val="103000"/>
              </a:lnSpc>
              <a:spcBef>
                <a:spcPts val="0"/>
              </a:spcBef>
              <a:spcAft>
                <a:spcPts val="0"/>
              </a:spcAft>
              <a:buClrTx/>
              <a:buSzTx/>
              <a:buFontTx/>
              <a:buNone/>
              <a:tabLst/>
              <a:defRPr sz="4050" b="1">
                <a:solidFill>
                  <a:srgbClr val="FFFFFF"/>
                </a:solidFill>
                <a:latin typeface="Charter"/>
                <a:ea typeface="Charter"/>
                <a:cs typeface="Charter"/>
              </a:defRPr>
            </a:pPr>
            <a:r>
              <a:rPr kumimoji="0" sz="4050" b="1" i="0" u="none" strike="noStrike" kern="1200" cap="none" spc="0" normalizeH="0" baseline="0" noProof="0">
                <a:ln>
                  <a:noFill/>
                </a:ln>
                <a:solidFill>
                  <a:srgbClr val="FFFFFF"/>
                </a:solidFill>
                <a:effectLst/>
                <a:uLnTx/>
                <a:uFillTx/>
                <a:latin typeface="Charter"/>
                <a:ea typeface="Charter"/>
                <a:cs typeface="Charter"/>
              </a:rPr>
              <a:t>BUSINESS PROPOSAL</a:t>
            </a:r>
          </a:p>
        </p:txBody>
      </p:sp>
      <p:sp>
        <p:nvSpPr>
          <p:cNvPr id="3" name="Research report on an iPhone health habit service">
            <a:extLst>
              <a:ext uri="{FF2B5EF4-FFF2-40B4-BE49-F238E27FC236}">
                <a16:creationId xmlns:a16="http://schemas.microsoft.com/office/drawing/2014/main" id="{C72CD5C5-214F-48DB-9EAA-F7FDAB2EFE62}"/>
              </a:ext>
            </a:extLst>
          </p:cNvPr>
          <p:cNvSpPr>
            <a:spLocks noGrp="1"/>
          </p:cNvSpPr>
          <p:nvPr/>
        </p:nvSpPr>
        <p:spPr>
          <a:xfrm>
            <a:off x="647700" y="3476625"/>
            <a:ext cx="9525000" cy="5334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250" b="0">
                <a:solidFill>
                  <a:srgbClr val="BFE0DA"/>
                </a:solidFill>
                <a:latin typeface="Charter"/>
                <a:ea typeface="Charter"/>
                <a:cs typeface="Charter"/>
              </a:defRPr>
            </a:pPr>
            <a:r>
              <a:rPr kumimoji="0" sz="2250" b="0" i="0" u="none" strike="noStrike" kern="1200" cap="none" spc="0" normalizeH="0" baseline="0" noProof="0">
                <a:ln>
                  <a:noFill/>
                </a:ln>
                <a:solidFill>
                  <a:srgbClr val="BFE0DA"/>
                </a:solidFill>
                <a:effectLst/>
                <a:uLnTx/>
                <a:uFillTx/>
                <a:latin typeface="Charter"/>
                <a:ea typeface="Charter"/>
                <a:cs typeface="Charter"/>
              </a:rPr>
              <a:t>Research report on an iPhone health habit service</a:t>
            </a:r>
          </a:p>
        </p:txBody>
      </p:sp>
      <p:sp>
        <p:nvSpPr>
          <p:cNvPr id="4" name="Rectangle 3">
            <a:extLst>
              <a:ext uri="{FF2B5EF4-FFF2-40B4-BE49-F238E27FC236}">
                <a16:creationId xmlns:a16="http://schemas.microsoft.com/office/drawing/2014/main" id="{E18AF45D-AC11-4718-AE2E-D966F8098C95}"/>
              </a:ext>
            </a:extLst>
          </p:cNvPr>
          <p:cNvSpPr>
            <a:spLocks noGrp="1"/>
          </p:cNvSpPr>
          <p:nvPr/>
        </p:nvSpPr>
        <p:spPr>
          <a:xfrm>
            <a:off x="647700" y="4819650"/>
            <a:ext cx="10896600" cy="9525"/>
          </a:xfrm>
          <a:prstGeom prst="rect">
            <a:avLst/>
          </a:prstGeom>
          <a:solidFill>
            <a:srgbClr val="74908E"/>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5" name="COMM7115  ·  AI Media Entrepre">
            <a:extLst>
              <a:ext uri="{FF2B5EF4-FFF2-40B4-BE49-F238E27FC236}">
                <a16:creationId xmlns:a16="http://schemas.microsoft.com/office/drawing/2014/main" id="{EF01AC68-12B6-45F3-A072-D17B3C970DB6}"/>
              </a:ext>
            </a:extLst>
          </p:cNvPr>
          <p:cNvSpPr>
            <a:spLocks noGrp="1"/>
          </p:cNvSpPr>
          <p:nvPr/>
        </p:nvSpPr>
        <p:spPr>
          <a:xfrm>
            <a:off x="647700" y="5048250"/>
            <a:ext cx="9525000" cy="2857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FFFFFF"/>
                </a:solidFill>
                <a:latin typeface="Charter"/>
                <a:ea typeface="Charter"/>
                <a:cs typeface="Charter"/>
              </a:defRPr>
            </a:pPr>
            <a:r>
              <a:rPr kumimoji="0" sz="1425" b="0" i="0" u="none" strike="noStrike" kern="1200" cap="none" spc="0" normalizeH="0" baseline="0" noProof="0">
                <a:ln>
                  <a:noFill/>
                </a:ln>
                <a:solidFill>
                  <a:srgbClr val="FFFFFF"/>
                </a:solidFill>
                <a:effectLst/>
                <a:uLnTx/>
                <a:uFillTx/>
                <a:latin typeface="Charter"/>
                <a:ea typeface="Charter"/>
                <a:cs typeface="Charter"/>
              </a:rPr>
              <a:t>COMM7115  ·  AI Media Entrepreneurship Workshop</a:t>
            </a:r>
          </a:p>
        </p:txBody>
      </p:sp>
      <p:sp>
        <p:nvSpPr>
          <p:cNvPr id="6" name="HealthLoop team · A / B / C / D · Evidence reviewed 5 October 2026">
            <a:extLst>
              <a:ext uri="{FF2B5EF4-FFF2-40B4-BE49-F238E27FC236}">
                <a16:creationId xmlns:a16="http://schemas.microsoft.com/office/drawing/2014/main" id="{EE4E166D-5C74-487D-BADA-7A944FCFB5F8}"/>
              </a:ext>
            </a:extLst>
          </p:cNvPr>
          <p:cNvSpPr>
            <a:spLocks noGrp="1"/>
          </p:cNvSpPr>
          <p:nvPr/>
        </p:nvSpPr>
        <p:spPr>
          <a:xfrm>
            <a:off x="647700" y="5476875"/>
            <a:ext cx="10287000" cy="3238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BFE0DA"/>
                </a:solidFill>
                <a:latin typeface="Charter"/>
                <a:ea typeface="Charter"/>
                <a:cs typeface="Charter"/>
              </a:defRPr>
            </a:pPr>
            <a:r>
              <a:rPr kumimoji="0" sz="1425" b="0" i="0" u="none" strike="noStrike" kern="1200" cap="none" spc="0" normalizeH="0" baseline="0" noProof="0">
                <a:ln>
                  <a:noFill/>
                </a:ln>
                <a:solidFill>
                  <a:srgbClr val="BFE0DA"/>
                </a:solidFill>
                <a:effectLst/>
                <a:uLnTx/>
                <a:uFillTx/>
                <a:latin typeface="Charter"/>
                <a:ea typeface="Charter"/>
                <a:cs typeface="Charter"/>
              </a:rPr>
              <a:t>HealthLoop team · A / B / C / D · Evidence reviewed 5 October 2026</a:t>
            </a:r>
          </a:p>
        </p:txBody>
      </p:sp>
      <p:sp>
        <p:nvSpPr>
          <p:cNvPr id="7" name="20 MIN PRESENTATION  +  5 MIN ">
            <a:extLst>
              <a:ext uri="{FF2B5EF4-FFF2-40B4-BE49-F238E27FC236}">
                <a16:creationId xmlns:a16="http://schemas.microsoft.com/office/drawing/2014/main" id="{CC9BF4E7-8581-4454-9B96-20BAE08EF433}"/>
              </a:ext>
            </a:extLst>
          </p:cNvPr>
          <p:cNvSpPr>
            <a:spLocks noGrp="1"/>
          </p:cNvSpPr>
          <p:nvPr/>
        </p:nvSpPr>
        <p:spPr>
          <a:xfrm>
            <a:off x="647700" y="6343650"/>
            <a:ext cx="8572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75" b="1">
                <a:solidFill>
                  <a:srgbClr val="BFE0DA"/>
                </a:solidFill>
                <a:latin typeface="Charter"/>
                <a:ea typeface="Charter"/>
                <a:cs typeface="Charter"/>
              </a:defRPr>
            </a:pPr>
            <a:r>
              <a:rPr kumimoji="0" sz="975" b="1" i="0" u="none" strike="noStrike" kern="1200" cap="none" spc="0" normalizeH="0" baseline="0" noProof="0">
                <a:ln>
                  <a:noFill/>
                </a:ln>
                <a:solidFill>
                  <a:srgbClr val="BFE0DA"/>
                </a:solidFill>
                <a:effectLst/>
                <a:uLnTx/>
                <a:uFillTx/>
                <a:latin typeface="Charter"/>
                <a:ea typeface="Charter"/>
                <a:cs typeface="Charter"/>
              </a:rPr>
              <a:t>20 MIN PRESENTATION  +  5 MIN Q&amp;A</a:t>
            </a:r>
          </a:p>
        </p:txBody>
      </p:sp>
    </p:spTree>
    <p:extLst>
      <p:ext uri="{BB962C8B-B14F-4D97-AF65-F5344CB8AC3E}">
        <p14:creationId xmlns:p14="http://schemas.microsoft.com/office/powerpoint/2010/main" val="1893648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4" name="RESEARCH REPORT">
            <a:extLst>
              <a:ext uri="{FF2B5EF4-FFF2-40B4-BE49-F238E27FC236}">
                <a16:creationId xmlns:a16="http://schemas.microsoft.com/office/drawing/2014/main" id="{982202CF-5AC4-44BF-95D2-548A13A1A2B8}"/>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RESEARCH REPORT</a:t>
            </a:r>
          </a:p>
        </p:txBody>
      </p:sp>
      <p:sp>
        <p:nvSpPr>
          <p:cNvPr id="2" name="The proposal at a glance">
            <a:extLst>
              <a:ext uri="{FF2B5EF4-FFF2-40B4-BE49-F238E27FC236}">
                <a16:creationId xmlns:a16="http://schemas.microsoft.com/office/drawing/2014/main" id="{8514563E-1DC4-4CB5-9FFF-0332D6AF82F8}"/>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Charter"/>
                <a:ea typeface="Charter"/>
                <a:cs typeface="Charter"/>
              </a:defRPr>
            </a:pPr>
            <a:r>
              <a:rPr kumimoji="0" sz="2925" b="1" i="0" u="none" strike="noStrike" kern="1200" cap="none" spc="0" normalizeH="0" baseline="0" noProof="0">
                <a:ln>
                  <a:noFill/>
                </a:ln>
                <a:solidFill>
                  <a:srgbClr val="123047"/>
                </a:solidFill>
                <a:effectLst/>
                <a:uLnTx/>
                <a:uFillTx/>
                <a:latin typeface="Charter"/>
                <a:ea typeface="Charter"/>
                <a:cs typeface="Charter"/>
              </a:rPr>
              <a:t>The proposal at a glance</a:t>
            </a:r>
          </a:p>
        </p:txBody>
      </p:sp>
      <p:sp>
        <p:nvSpPr>
          <p:cNvPr id="3" name="Rectangle 2">
            <a:extLst>
              <a:ext uri="{FF2B5EF4-FFF2-40B4-BE49-F238E27FC236}">
                <a16:creationId xmlns:a16="http://schemas.microsoft.com/office/drawing/2014/main" id="{1A82FAB9-F860-434D-BA56-F9B0A85698B9}"/>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0AD94D51-EC68-4889-AFB6-4C2B6D09615D}"/>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COMM7115  ·  BUSINESS PROPOSAL RESEARCH</a:t>
            </a:r>
          </a:p>
        </p:txBody>
      </p:sp>
      <p:sp>
        <p:nvSpPr>
          <p:cNvPr id="5" name="02   /   1:00">
            <a:extLst>
              <a:ext uri="{FF2B5EF4-FFF2-40B4-BE49-F238E27FC236}">
                <a16:creationId xmlns:a16="http://schemas.microsoft.com/office/drawing/2014/main" id="{26604C04-EE4B-4B23-B900-C60C3CCD1C3A}"/>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02   /   1:00</a:t>
            </a:r>
          </a:p>
        </p:txBody>
      </p:sp>
      <p:sp>
        <p:nvSpPr>
          <p:cNvPr id="6" name="TARGET USER">
            <a:extLst>
              <a:ext uri="{FF2B5EF4-FFF2-40B4-BE49-F238E27FC236}">
                <a16:creationId xmlns:a16="http://schemas.microsoft.com/office/drawing/2014/main" id="{BBBB9296-81FD-457D-9850-27FB8D16CA9D}"/>
              </a:ext>
            </a:extLst>
          </p:cNvPr>
          <p:cNvSpPr>
            <a:spLocks noGrp="1"/>
          </p:cNvSpPr>
          <p:nvPr/>
        </p:nvSpPr>
        <p:spPr>
          <a:xfrm>
            <a:off x="647700" y="2000250"/>
            <a:ext cx="47625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TARGET USER</a:t>
            </a:r>
          </a:p>
        </p:txBody>
      </p:sp>
      <p:sp>
        <p:nvSpPr>
          <p:cNvPr id="7" name="Hong Kong adults with an iPhone. Initial focus: desk-based workers willing to try a Simpli">
            <a:extLst>
              <a:ext uri="{FF2B5EF4-FFF2-40B4-BE49-F238E27FC236}">
                <a16:creationId xmlns:a16="http://schemas.microsoft.com/office/drawing/2014/main" id="{53E61A5A-BBDC-43BF-896A-F1B258D525BF}"/>
              </a:ext>
            </a:extLst>
          </p:cNvPr>
          <p:cNvSpPr>
            <a:spLocks noGrp="1"/>
          </p:cNvSpPr>
          <p:nvPr/>
        </p:nvSpPr>
        <p:spPr>
          <a:xfrm>
            <a:off x="647700" y="2324100"/>
            <a:ext cx="4762500" cy="100584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Hong Kong adults with an iPhone. Initial focus: desk-based workers willing to try a Simplified Chinese app.</a:t>
            </a:r>
          </a:p>
        </p:txBody>
      </p:sp>
      <p:sp>
        <p:nvSpPr>
          <p:cNvPr id="8" name="PAIN HYPOTHESIS">
            <a:extLst>
              <a:ext uri="{FF2B5EF4-FFF2-40B4-BE49-F238E27FC236}">
                <a16:creationId xmlns:a16="http://schemas.microsoft.com/office/drawing/2014/main" id="{5F30CE05-AF69-4A58-BB61-090201D27D26}"/>
              </a:ext>
            </a:extLst>
          </p:cNvPr>
          <p:cNvSpPr>
            <a:spLocks noGrp="1"/>
          </p:cNvSpPr>
          <p:nvPr/>
        </p:nvSpPr>
        <p:spPr>
          <a:xfrm>
            <a:off x="6096000" y="2000250"/>
            <a:ext cx="523875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PAIN HYPOTHESIS</a:t>
            </a:r>
          </a:p>
        </p:txBody>
      </p:sp>
      <p:sp>
        <p:nvSpPr>
          <p:cNvPr id="9" name="A busy day makes it hard to turn activity records into a manageable, repeatable routine.">
            <a:extLst>
              <a:ext uri="{FF2B5EF4-FFF2-40B4-BE49-F238E27FC236}">
                <a16:creationId xmlns:a16="http://schemas.microsoft.com/office/drawing/2014/main" id="{6863DFCF-6058-4402-85D2-C59D4419D50B}"/>
              </a:ext>
            </a:extLst>
          </p:cNvPr>
          <p:cNvSpPr>
            <a:spLocks noGrp="1"/>
          </p:cNvSpPr>
          <p:nvPr/>
        </p:nvSpPr>
        <p:spPr>
          <a:xfrm>
            <a:off x="6096000" y="2324100"/>
            <a:ext cx="5238750" cy="100584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A busy day makes it hard to turn activity records into a manageable, repeatable routine.</a:t>
            </a:r>
          </a:p>
        </p:txBody>
      </p:sp>
      <p:sp>
        <p:nvSpPr>
          <p:cNvPr id="10" name="Rectangle 9">
            <a:extLst>
              <a:ext uri="{FF2B5EF4-FFF2-40B4-BE49-F238E27FC236}">
                <a16:creationId xmlns:a16="http://schemas.microsoft.com/office/drawing/2014/main" id="{67AAD73A-7956-4F72-9FF4-F1DBB9ACC6CA}"/>
              </a:ext>
            </a:extLst>
          </p:cNvPr>
          <p:cNvSpPr>
            <a:spLocks noGrp="1"/>
          </p:cNvSpPr>
          <p:nvPr/>
        </p:nvSpPr>
        <p:spPr>
          <a:xfrm>
            <a:off x="647700" y="34766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1" name="CURRENT PROJECT DIRECTION">
            <a:extLst>
              <a:ext uri="{FF2B5EF4-FFF2-40B4-BE49-F238E27FC236}">
                <a16:creationId xmlns:a16="http://schemas.microsoft.com/office/drawing/2014/main" id="{67915E2C-F2DF-46A8-BFF2-7BF573772069}"/>
              </a:ext>
            </a:extLst>
          </p:cNvPr>
          <p:cNvSpPr>
            <a:spLocks noGrp="1"/>
          </p:cNvSpPr>
          <p:nvPr/>
        </p:nvSpPr>
        <p:spPr>
          <a:xfrm>
            <a:off x="647700" y="3800475"/>
            <a:ext cx="4762500" cy="2190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CURRENT PROJECT DIRECTION</a:t>
            </a:r>
          </a:p>
        </p:txBody>
      </p:sp>
      <p:sp>
        <p:nvSpPr>
          <p:cNvPr id="12" name="HealthLoop pairs optional health reads with clear daily missions and traceable, noncash po">
            <a:extLst>
              <a:ext uri="{FF2B5EF4-FFF2-40B4-BE49-F238E27FC236}">
                <a16:creationId xmlns:a16="http://schemas.microsoft.com/office/drawing/2014/main" id="{E80E660E-2F14-47FB-BA2D-EF92556100E5}"/>
              </a:ext>
            </a:extLst>
          </p:cNvPr>
          <p:cNvSpPr>
            <a:spLocks noGrp="1"/>
          </p:cNvSpPr>
          <p:nvPr/>
        </p:nvSpPr>
        <p:spPr>
          <a:xfrm>
            <a:off x="647700" y="4181475"/>
            <a:ext cx="10477500" cy="9144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250" b="1">
                <a:solidFill>
                  <a:srgbClr val="123047"/>
                </a:solidFill>
                <a:latin typeface="Charter"/>
                <a:ea typeface="Charter"/>
                <a:cs typeface="Charter"/>
              </a:defRPr>
            </a:pPr>
            <a:r>
              <a:rPr kumimoji="0" sz="2250" b="1" i="0" u="none" strike="noStrike" kern="1200" cap="none" spc="0" normalizeH="0" baseline="0" noProof="0">
                <a:ln>
                  <a:noFill/>
                </a:ln>
                <a:solidFill>
                  <a:srgbClr val="123047"/>
                </a:solidFill>
                <a:effectLst/>
                <a:uLnTx/>
                <a:uFillTx/>
                <a:latin typeface="Charter"/>
                <a:ea typeface="Charter"/>
                <a:cs typeface="Charter"/>
              </a:rPr>
              <a:t>HealthLoop pairs optional health reads with clear daily missions and traceable, noncash points.</a:t>
            </a:r>
          </a:p>
        </p:txBody>
      </p:sp>
      <p:sp>
        <p:nvSpPr>
          <p:cNvPr id="13" name="Evidence: public research and a tested prototype [S1, E2–E3]. Open question: will people k">
            <a:extLst>
              <a:ext uri="{FF2B5EF4-FFF2-40B4-BE49-F238E27FC236}">
                <a16:creationId xmlns:a16="http://schemas.microsoft.com/office/drawing/2014/main" id="{29C44B60-1191-4341-9935-F6DB86677B1D}"/>
              </a:ext>
            </a:extLst>
          </p:cNvPr>
          <p:cNvSpPr>
            <a:spLocks noGrp="1"/>
          </p:cNvSpPr>
          <p:nvPr/>
        </p:nvSpPr>
        <p:spPr>
          <a:xfrm>
            <a:off x="647700" y="5486400"/>
            <a:ext cx="10477500" cy="5524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59716E"/>
                </a:solidFill>
                <a:latin typeface="Charter"/>
                <a:ea typeface="Charter"/>
                <a:cs typeface="Charter"/>
              </a:defRPr>
            </a:pPr>
            <a:r>
              <a:rPr kumimoji="0" sz="1425" b="0" i="0" u="none" strike="noStrike" kern="1200" cap="none" spc="0" normalizeH="0" baseline="0" noProof="0">
                <a:ln>
                  <a:noFill/>
                </a:ln>
                <a:solidFill>
                  <a:srgbClr val="59716E"/>
                </a:solidFill>
                <a:effectLst/>
                <a:uLnTx/>
                <a:uFillTx/>
                <a:latin typeface="Charter"/>
                <a:ea typeface="Charter"/>
                <a:cs typeface="Charter"/>
              </a:rPr>
              <a:t>Evidence: public research and a tested prototype [S1, E2–E3].</a:t>
            </a:r>
          </a:p>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59716E"/>
                </a:solidFill>
                <a:latin typeface="Charter"/>
                <a:ea typeface="Charter"/>
                <a:cs typeface="Charter"/>
              </a:defRPr>
            </a:pPr>
            <a:r>
              <a:rPr kumimoji="0" sz="1425" b="0" i="0" u="none" strike="noStrike" kern="1200" cap="none" spc="0" normalizeH="0" baseline="0" noProof="0">
                <a:ln>
                  <a:noFill/>
                </a:ln>
                <a:solidFill>
                  <a:srgbClr val="59716E"/>
                </a:solidFill>
                <a:effectLst/>
                <a:uLnTx/>
                <a:uFillTx/>
                <a:latin typeface="Charter"/>
                <a:ea typeface="Charter"/>
                <a:cs typeface="Charter"/>
              </a:rPr>
              <a:t>Open question: will people keep returning without cash rewards?</a:t>
            </a:r>
          </a:p>
        </p:txBody>
      </p:sp>
    </p:spTree>
    <p:extLst>
      <p:ext uri="{BB962C8B-B14F-4D97-AF65-F5344CB8AC3E}">
        <p14:creationId xmlns:p14="http://schemas.microsoft.com/office/powerpoint/2010/main" val="90940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32" name="RESEARCH REPORT">
            <a:extLst>
              <a:ext uri="{FF2B5EF4-FFF2-40B4-BE49-F238E27FC236}">
                <a16:creationId xmlns:a16="http://schemas.microsoft.com/office/drawing/2014/main" id="{97908B30-E5FE-496E-BF29-24DDA9655380}"/>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RESEARCH REPORT</a:t>
            </a:r>
          </a:p>
        </p:txBody>
      </p:sp>
      <p:sp>
        <p:nvSpPr>
          <p:cNvPr id="2" name="Team responsibilities and field choice">
            <a:extLst>
              <a:ext uri="{FF2B5EF4-FFF2-40B4-BE49-F238E27FC236}">
                <a16:creationId xmlns:a16="http://schemas.microsoft.com/office/drawing/2014/main" id="{51B5A606-C0D7-4B9A-9D67-3D4307A10300}"/>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Charter"/>
                <a:ea typeface="Charter"/>
                <a:cs typeface="Charter"/>
              </a:defRPr>
            </a:pPr>
            <a:r>
              <a:rPr kumimoji="0" sz="2925" b="1" i="0" u="none" strike="noStrike" kern="1200" cap="none" spc="0" normalizeH="0" baseline="0" noProof="0">
                <a:ln>
                  <a:noFill/>
                </a:ln>
                <a:solidFill>
                  <a:srgbClr val="123047"/>
                </a:solidFill>
                <a:effectLst/>
                <a:uLnTx/>
                <a:uFillTx/>
                <a:latin typeface="Charter"/>
                <a:ea typeface="Charter"/>
                <a:cs typeface="Charter"/>
              </a:rPr>
              <a:t>Team responsibilities and field choice</a:t>
            </a:r>
          </a:p>
        </p:txBody>
      </p:sp>
      <p:sp>
        <p:nvSpPr>
          <p:cNvPr id="3" name="Rectangle 2">
            <a:extLst>
              <a:ext uri="{FF2B5EF4-FFF2-40B4-BE49-F238E27FC236}">
                <a16:creationId xmlns:a16="http://schemas.microsoft.com/office/drawing/2014/main" id="{65A3A35F-BF28-48D4-B540-2B1F74BC0DEB}"/>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522849DD-A7B3-4BFD-B18F-8ED2B5D6B4ED}"/>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COMM7115  ·  BUSINESS PROPOSAL RESEARCH</a:t>
            </a:r>
          </a:p>
        </p:txBody>
      </p:sp>
      <p:sp>
        <p:nvSpPr>
          <p:cNvPr id="5" name="03   /   1:30">
            <a:extLst>
              <a:ext uri="{FF2B5EF4-FFF2-40B4-BE49-F238E27FC236}">
                <a16:creationId xmlns:a16="http://schemas.microsoft.com/office/drawing/2014/main" id="{89315771-CF51-46A4-827A-4EAA271B7371}"/>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03   /   1:30</a:t>
            </a:r>
          </a:p>
        </p:txBody>
      </p:sp>
      <p:sp>
        <p:nvSpPr>
          <p:cNvPr id="6" name="MEMBER">
            <a:extLst>
              <a:ext uri="{FF2B5EF4-FFF2-40B4-BE49-F238E27FC236}">
                <a16:creationId xmlns:a16="http://schemas.microsoft.com/office/drawing/2014/main" id="{A171F676-0A53-4EB1-BE7D-B387934A8711}"/>
              </a:ext>
            </a:extLst>
          </p:cNvPr>
          <p:cNvSpPr>
            <a:spLocks noGrp="1"/>
          </p:cNvSpPr>
          <p:nvPr/>
        </p:nvSpPr>
        <p:spPr>
          <a:xfrm>
            <a:off x="647700" y="1905000"/>
            <a:ext cx="2333625" cy="2095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MEMBER</a:t>
            </a:r>
          </a:p>
        </p:txBody>
      </p:sp>
      <p:sp>
        <p:nvSpPr>
          <p:cNvPr id="7" name="ASSIGNED RESPONSIBILITY">
            <a:extLst>
              <a:ext uri="{FF2B5EF4-FFF2-40B4-BE49-F238E27FC236}">
                <a16:creationId xmlns:a16="http://schemas.microsoft.com/office/drawing/2014/main" id="{D02A56C3-EC93-49BA-91C1-81D460150769}"/>
              </a:ext>
            </a:extLst>
          </p:cNvPr>
          <p:cNvSpPr>
            <a:spLocks noGrp="1"/>
          </p:cNvSpPr>
          <p:nvPr/>
        </p:nvSpPr>
        <p:spPr>
          <a:xfrm>
            <a:off x="3000375" y="1905000"/>
            <a:ext cx="3286125" cy="2095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ASSIGNED RESPONSIBILITY</a:t>
            </a:r>
          </a:p>
        </p:txBody>
      </p:sp>
      <p:sp>
        <p:nvSpPr>
          <p:cNvPr id="8" name="PROJECT CONTRIBUTION">
            <a:extLst>
              <a:ext uri="{FF2B5EF4-FFF2-40B4-BE49-F238E27FC236}">
                <a16:creationId xmlns:a16="http://schemas.microsoft.com/office/drawing/2014/main" id="{3695C468-AB73-4D1B-BD6A-5FC5AB3B34A2}"/>
              </a:ext>
            </a:extLst>
          </p:cNvPr>
          <p:cNvSpPr>
            <a:spLocks noGrp="1"/>
          </p:cNvSpPr>
          <p:nvPr/>
        </p:nvSpPr>
        <p:spPr>
          <a:xfrm>
            <a:off x="6715125" y="1905000"/>
            <a:ext cx="4667250" cy="2095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PROJECT CONTRIBUTION</a:t>
            </a:r>
          </a:p>
        </p:txBody>
      </p:sp>
      <p:sp>
        <p:nvSpPr>
          <p:cNvPr id="9" name="Rectangle 8">
            <a:extLst>
              <a:ext uri="{FF2B5EF4-FFF2-40B4-BE49-F238E27FC236}">
                <a16:creationId xmlns:a16="http://schemas.microsoft.com/office/drawing/2014/main" id="{C92091A1-0840-4FBA-A19E-101A0926E387}"/>
              </a:ext>
            </a:extLst>
          </p:cNvPr>
          <p:cNvSpPr>
            <a:spLocks noGrp="1"/>
          </p:cNvSpPr>
          <p:nvPr/>
        </p:nvSpPr>
        <p:spPr>
          <a:xfrm>
            <a:off x="647700" y="216217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0" name="A · Product / business">
            <a:extLst>
              <a:ext uri="{FF2B5EF4-FFF2-40B4-BE49-F238E27FC236}">
                <a16:creationId xmlns:a16="http://schemas.microsoft.com/office/drawing/2014/main" id="{6345197B-29E2-4AB3-857A-0FC50EBB4152}"/>
              </a:ext>
            </a:extLst>
          </p:cNvPr>
          <p:cNvSpPr>
            <a:spLocks noGrp="1"/>
          </p:cNvSpPr>
          <p:nvPr/>
        </p:nvSpPr>
        <p:spPr>
          <a:xfrm>
            <a:off x="647700" y="2286000"/>
            <a:ext cx="2190750" cy="557784"/>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A · Product / business</a:t>
            </a:r>
          </a:p>
        </p:txBody>
      </p:sp>
      <p:sp>
        <p:nvSpPr>
          <p:cNvPr id="11" name="Commercial and scope coordination">
            <a:extLst>
              <a:ext uri="{FF2B5EF4-FFF2-40B4-BE49-F238E27FC236}">
                <a16:creationId xmlns:a16="http://schemas.microsoft.com/office/drawing/2014/main" id="{BDB20B3F-3B3B-4684-B78D-E56F2D2645F5}"/>
              </a:ext>
            </a:extLst>
          </p:cNvPr>
          <p:cNvSpPr>
            <a:spLocks noGrp="1"/>
          </p:cNvSpPr>
          <p:nvPr/>
        </p:nvSpPr>
        <p:spPr>
          <a:xfrm>
            <a:off x="3000375" y="2286000"/>
            <a:ext cx="3238500" cy="557784"/>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Commercial and scope coordination</a:t>
            </a:r>
          </a:p>
        </p:txBody>
      </p:sp>
      <p:sp>
        <p:nvSpPr>
          <p:cNvPr id="12" name="Buyer research, partner evidence and legal coordination">
            <a:extLst>
              <a:ext uri="{FF2B5EF4-FFF2-40B4-BE49-F238E27FC236}">
                <a16:creationId xmlns:a16="http://schemas.microsoft.com/office/drawing/2014/main" id="{93DE3932-841E-421F-B39F-3B4A00A652C1}"/>
              </a:ext>
            </a:extLst>
          </p:cNvPr>
          <p:cNvSpPr>
            <a:spLocks noGrp="1"/>
          </p:cNvSpPr>
          <p:nvPr/>
        </p:nvSpPr>
        <p:spPr>
          <a:xfrm>
            <a:off x="6715125" y="2286000"/>
            <a:ext cx="4648200" cy="557784"/>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Buyer research, partner evidence and legal coordination</a:t>
            </a:r>
          </a:p>
        </p:txBody>
      </p:sp>
      <p:sp>
        <p:nvSpPr>
          <p:cNvPr id="13" name="Rectangle 12">
            <a:extLst>
              <a:ext uri="{FF2B5EF4-FFF2-40B4-BE49-F238E27FC236}">
                <a16:creationId xmlns:a16="http://schemas.microsoft.com/office/drawing/2014/main" id="{9D772237-0754-476B-B787-15441F8E3A8D}"/>
              </a:ext>
            </a:extLst>
          </p:cNvPr>
          <p:cNvSpPr>
            <a:spLocks noGrp="1"/>
          </p:cNvSpPr>
          <p:nvPr/>
        </p:nvSpPr>
        <p:spPr>
          <a:xfrm>
            <a:off x="647700" y="2871216"/>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4" name="B · Mobile">
            <a:extLst>
              <a:ext uri="{FF2B5EF4-FFF2-40B4-BE49-F238E27FC236}">
                <a16:creationId xmlns:a16="http://schemas.microsoft.com/office/drawing/2014/main" id="{979D65AD-4196-41A3-B005-1A5CDAB1763F}"/>
              </a:ext>
            </a:extLst>
          </p:cNvPr>
          <p:cNvSpPr>
            <a:spLocks noGrp="1"/>
          </p:cNvSpPr>
          <p:nvPr/>
        </p:nvSpPr>
        <p:spPr>
          <a:xfrm>
            <a:off x="647700" y="2971800"/>
            <a:ext cx="2190750" cy="557784"/>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B · Mobile</a:t>
            </a:r>
          </a:p>
        </p:txBody>
      </p:sp>
      <p:sp>
        <p:nvSpPr>
          <p:cNvPr id="15" name="iOS experience and native delivery">
            <a:extLst>
              <a:ext uri="{FF2B5EF4-FFF2-40B4-BE49-F238E27FC236}">
                <a16:creationId xmlns:a16="http://schemas.microsoft.com/office/drawing/2014/main" id="{9B2D6F1C-961D-4047-A8B4-56CB0A475EE3}"/>
              </a:ext>
            </a:extLst>
          </p:cNvPr>
          <p:cNvSpPr>
            <a:spLocks noGrp="1"/>
          </p:cNvSpPr>
          <p:nvPr/>
        </p:nvSpPr>
        <p:spPr>
          <a:xfrm>
            <a:off x="3000375" y="2971800"/>
            <a:ext cx="3238500" cy="557784"/>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iOS experience and native delivery</a:t>
            </a:r>
          </a:p>
        </p:txBody>
      </p:sp>
      <p:sp>
        <p:nvSpPr>
          <p:cNvPr id="16" name="HealthKit adapter and app flow; C reviews technical work">
            <a:extLst>
              <a:ext uri="{FF2B5EF4-FFF2-40B4-BE49-F238E27FC236}">
                <a16:creationId xmlns:a16="http://schemas.microsoft.com/office/drawing/2014/main" id="{2180E362-7B29-4687-8322-A294C200FA67}"/>
              </a:ext>
            </a:extLst>
          </p:cNvPr>
          <p:cNvSpPr>
            <a:spLocks noGrp="1"/>
          </p:cNvSpPr>
          <p:nvPr/>
        </p:nvSpPr>
        <p:spPr>
          <a:xfrm>
            <a:off x="6715125" y="2971800"/>
            <a:ext cx="4648200" cy="557784"/>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HealthKit adapter and app flow; C reviews technical work</a:t>
            </a:r>
          </a:p>
        </p:txBody>
      </p:sp>
      <p:sp>
        <p:nvSpPr>
          <p:cNvPr id="17" name="Rectangle 16">
            <a:extLst>
              <a:ext uri="{FF2B5EF4-FFF2-40B4-BE49-F238E27FC236}">
                <a16:creationId xmlns:a16="http://schemas.microsoft.com/office/drawing/2014/main" id="{3C70F483-CC26-448F-BA95-383E1E83E69C}"/>
              </a:ext>
            </a:extLst>
          </p:cNvPr>
          <p:cNvSpPr>
            <a:spLocks noGrp="1"/>
          </p:cNvSpPr>
          <p:nvPr/>
        </p:nvSpPr>
        <p:spPr>
          <a:xfrm>
            <a:off x="647700" y="3557016"/>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8" name="C · Backend">
            <a:extLst>
              <a:ext uri="{FF2B5EF4-FFF2-40B4-BE49-F238E27FC236}">
                <a16:creationId xmlns:a16="http://schemas.microsoft.com/office/drawing/2014/main" id="{3EC59D5D-FAB4-4F94-A44D-3147F8A350D7}"/>
              </a:ext>
            </a:extLst>
          </p:cNvPr>
          <p:cNvSpPr>
            <a:spLocks noGrp="1"/>
          </p:cNvSpPr>
          <p:nvPr/>
        </p:nvSpPr>
        <p:spPr>
          <a:xfrm>
            <a:off x="647700" y="3657600"/>
            <a:ext cx="2190750" cy="557784"/>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C · Backend</a:t>
            </a:r>
          </a:p>
        </p:txBody>
      </p:sp>
      <p:sp>
        <p:nvSpPr>
          <p:cNvPr id="19" name="Data, accounting and security">
            <a:extLst>
              <a:ext uri="{FF2B5EF4-FFF2-40B4-BE49-F238E27FC236}">
                <a16:creationId xmlns:a16="http://schemas.microsoft.com/office/drawing/2014/main" id="{96588379-C8AE-40D7-BF73-B6DB4622C5D3}"/>
              </a:ext>
            </a:extLst>
          </p:cNvPr>
          <p:cNvSpPr>
            <a:spLocks noGrp="1"/>
          </p:cNvSpPr>
          <p:nvPr/>
        </p:nvSpPr>
        <p:spPr>
          <a:xfrm>
            <a:off x="3000375" y="3657600"/>
            <a:ext cx="3238500" cy="557784"/>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Data, accounting and security</a:t>
            </a:r>
          </a:p>
        </p:txBody>
      </p:sp>
      <p:sp>
        <p:nvSpPr>
          <p:cNvPr id="20" name="Auth, points and admin controls; B reviews technical work">
            <a:extLst>
              <a:ext uri="{FF2B5EF4-FFF2-40B4-BE49-F238E27FC236}">
                <a16:creationId xmlns:a16="http://schemas.microsoft.com/office/drawing/2014/main" id="{B01FD6C4-EE0C-42D8-8F07-F2AB2306DF3F}"/>
              </a:ext>
            </a:extLst>
          </p:cNvPr>
          <p:cNvSpPr>
            <a:spLocks noGrp="1"/>
          </p:cNvSpPr>
          <p:nvPr/>
        </p:nvSpPr>
        <p:spPr>
          <a:xfrm>
            <a:off x="6715125" y="3657600"/>
            <a:ext cx="4648200" cy="557784"/>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Auth, points and admin controls; B reviews technical work</a:t>
            </a:r>
          </a:p>
        </p:txBody>
      </p:sp>
      <p:sp>
        <p:nvSpPr>
          <p:cNvPr id="21" name="Rectangle 20">
            <a:extLst>
              <a:ext uri="{FF2B5EF4-FFF2-40B4-BE49-F238E27FC236}">
                <a16:creationId xmlns:a16="http://schemas.microsoft.com/office/drawing/2014/main" id="{4CAF3B0A-6EFE-4A4B-AE2B-18C836CF880A}"/>
              </a:ext>
            </a:extLst>
          </p:cNvPr>
          <p:cNvSpPr>
            <a:spLocks noGrp="1"/>
          </p:cNvSpPr>
          <p:nvPr/>
        </p:nvSpPr>
        <p:spPr>
          <a:xfrm>
            <a:off x="647700" y="4242816"/>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2" name="D · Research / QA">
            <a:extLst>
              <a:ext uri="{FF2B5EF4-FFF2-40B4-BE49-F238E27FC236}">
                <a16:creationId xmlns:a16="http://schemas.microsoft.com/office/drawing/2014/main" id="{60588D23-DA0F-45DF-A9D5-2F5E14FE1E3C}"/>
              </a:ext>
            </a:extLst>
          </p:cNvPr>
          <p:cNvSpPr>
            <a:spLocks noGrp="1"/>
          </p:cNvSpPr>
          <p:nvPr/>
        </p:nvSpPr>
        <p:spPr>
          <a:xfrm>
            <a:off x="647700" y="4343400"/>
            <a:ext cx="2190750" cy="557784"/>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D · Research / QA</a:t>
            </a:r>
          </a:p>
        </p:txBody>
      </p:sp>
      <p:sp>
        <p:nvSpPr>
          <p:cNvPr id="23" name="Design, research and QA support">
            <a:extLst>
              <a:ext uri="{FF2B5EF4-FFF2-40B4-BE49-F238E27FC236}">
                <a16:creationId xmlns:a16="http://schemas.microsoft.com/office/drawing/2014/main" id="{E64C9D74-D0B1-4A64-96CA-9520283EC5A5}"/>
              </a:ext>
            </a:extLst>
          </p:cNvPr>
          <p:cNvSpPr>
            <a:spLocks noGrp="1"/>
          </p:cNvSpPr>
          <p:nvPr/>
        </p:nvSpPr>
        <p:spPr>
          <a:xfrm>
            <a:off x="3000375" y="4343400"/>
            <a:ext cx="3238500" cy="557784"/>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Design, research and QA support</a:t>
            </a:r>
          </a:p>
        </p:txBody>
      </p:sp>
      <p:sp>
        <p:nvSpPr>
          <p:cNvPr id="24" name="Recruitment, synthesis, usability and black-box QA support">
            <a:extLst>
              <a:ext uri="{FF2B5EF4-FFF2-40B4-BE49-F238E27FC236}">
                <a16:creationId xmlns:a16="http://schemas.microsoft.com/office/drawing/2014/main" id="{13208BE0-4256-49B8-BD23-41026FF69CF5}"/>
              </a:ext>
            </a:extLst>
          </p:cNvPr>
          <p:cNvSpPr>
            <a:spLocks noGrp="1"/>
          </p:cNvSpPr>
          <p:nvPr/>
        </p:nvSpPr>
        <p:spPr>
          <a:xfrm>
            <a:off x="6715125" y="4343400"/>
            <a:ext cx="4648200" cy="557784"/>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Recruitment, synthesis, usability and black-box QA support</a:t>
            </a:r>
          </a:p>
        </p:txBody>
      </p:sp>
      <p:sp>
        <p:nvSpPr>
          <p:cNvPr id="29" name="Rectangle 28">
            <a:extLst>
              <a:ext uri="{FF2B5EF4-FFF2-40B4-BE49-F238E27FC236}">
                <a16:creationId xmlns:a16="http://schemas.microsoft.com/office/drawing/2014/main" id="{68160C0A-058D-40C5-B3E1-C372C7A80DF7}"/>
              </a:ext>
            </a:extLst>
          </p:cNvPr>
          <p:cNvSpPr>
            <a:spLocks noGrp="1"/>
          </p:cNvSpPr>
          <p:nvPr/>
        </p:nvSpPr>
        <p:spPr>
          <a:xfrm>
            <a:off x="647700" y="502920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30" name="FIELD SELECTED">
            <a:extLst>
              <a:ext uri="{FF2B5EF4-FFF2-40B4-BE49-F238E27FC236}">
                <a16:creationId xmlns:a16="http://schemas.microsoft.com/office/drawing/2014/main" id="{00A07C19-CE5F-471B-ABEC-85E3F3ADBB2A}"/>
              </a:ext>
            </a:extLst>
          </p:cNvPr>
          <p:cNvSpPr>
            <a:spLocks noGrp="1"/>
          </p:cNvSpPr>
          <p:nvPr/>
        </p:nvSpPr>
        <p:spPr>
          <a:xfrm>
            <a:off x="647700" y="5314950"/>
            <a:ext cx="200025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FIELD SELECTED</a:t>
            </a:r>
          </a:p>
        </p:txBody>
      </p:sp>
      <p:sp>
        <p:nvSpPr>
          <p:cNvPr id="31" name="Daily habit support: build on a working prototype and test customer demand.">
            <a:extLst>
              <a:ext uri="{FF2B5EF4-FFF2-40B4-BE49-F238E27FC236}">
                <a16:creationId xmlns:a16="http://schemas.microsoft.com/office/drawing/2014/main" id="{94CA914D-2FB4-456B-9CF4-0E3A183393FB}"/>
              </a:ext>
            </a:extLst>
          </p:cNvPr>
          <p:cNvSpPr>
            <a:spLocks noGrp="1"/>
          </p:cNvSpPr>
          <p:nvPr/>
        </p:nvSpPr>
        <p:spPr>
          <a:xfrm>
            <a:off x="2667000" y="5257800"/>
            <a:ext cx="8715375" cy="609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1">
                <a:solidFill>
                  <a:srgbClr val="163449"/>
                </a:solidFill>
                <a:latin typeface="Charter"/>
                <a:ea typeface="Charter"/>
                <a:cs typeface="Charter"/>
              </a:defRPr>
            </a:pPr>
            <a:r>
              <a:rPr kumimoji="0" sz="1725" b="1" i="0" u="none" strike="noStrike" kern="1200" cap="none" spc="0" normalizeH="0" baseline="0" noProof="0">
                <a:ln>
                  <a:noFill/>
                </a:ln>
                <a:solidFill>
                  <a:srgbClr val="163449"/>
                </a:solidFill>
                <a:effectLst/>
                <a:uLnTx/>
                <a:uFillTx/>
                <a:latin typeface="Charter"/>
                <a:ea typeface="Charter"/>
                <a:cs typeface="Charter"/>
              </a:rPr>
              <a:t>Daily habit support: build on a working prototype and test customer demand.</a:t>
            </a:r>
          </a:p>
        </p:txBody>
      </p:sp>
      <p:sp>
        <p:nvSpPr>
          <p:cNvPr id="33" name="Roles are assignments, not CV claims. B/C human acceptance remains pending. [E1–E3]"/>
          <p:cNvSpPr txBox="1"/>
          <p:nvPr/>
        </p:nvSpPr>
        <p:spPr>
          <a:xfrm>
            <a:off x="649224" y="5989320"/>
            <a:ext cx="10881360" cy="228600"/>
          </a:xfrm>
          <a:prstGeom prst="rect">
            <a:avLst/>
          </a:prstGeom>
          <a:noFill/>
        </p:spPr>
        <p:txBody>
          <a:bodyPr wrap="square" lIns="0" rIns="0" tIns="0" bIns="0">
            <a:noAutofit/>
          </a:bodyPr>
          <a:lstStyle/>
          <a:p>
            <a:pPr>
              <a:lnSpc>
                <a:spcPct val="110000"/>
              </a:lnSpc>
              <a:spcBef>
                <a:spcPts val="0"/>
              </a:spcBef>
              <a:spcAft>
                <a:spcPts val="0"/>
              </a:spcAft>
            </a:pPr>
            <a:r>
              <a:rPr sz="1050" b="0">
                <a:solidFill>
                  <a:srgbClr val="5F7D82"/>
                </a:solidFill>
                <a:latin typeface="Charter"/>
              </a:rPr>
              <a:t>Roles are assignments, not CV claims. B/C human acceptance remains pending. [E1–E3]</a:t>
            </a:r>
          </a:p>
        </p:txBody>
      </p:sp>
    </p:spTree>
    <p:extLst>
      <p:ext uri="{BB962C8B-B14F-4D97-AF65-F5344CB8AC3E}">
        <p14:creationId xmlns:p14="http://schemas.microsoft.com/office/powerpoint/2010/main" val="1498325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5" name="RESEARCH REPORT">
            <a:extLst>
              <a:ext uri="{FF2B5EF4-FFF2-40B4-BE49-F238E27FC236}">
                <a16:creationId xmlns:a16="http://schemas.microsoft.com/office/drawing/2014/main" id="{898BE185-FA93-48BA-8D2C-952259CAB777}"/>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RESEARCH REPORT</a:t>
            </a:r>
          </a:p>
        </p:txBody>
      </p:sp>
      <p:sp>
        <p:nvSpPr>
          <p:cNvPr id="2" name="Problem space and target user">
            <a:extLst>
              <a:ext uri="{FF2B5EF4-FFF2-40B4-BE49-F238E27FC236}">
                <a16:creationId xmlns:a16="http://schemas.microsoft.com/office/drawing/2014/main" id="{D80C7136-3E8E-44E8-8FBC-9536994CE852}"/>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Charter"/>
                <a:ea typeface="Charter"/>
                <a:cs typeface="Charter"/>
              </a:defRPr>
            </a:pPr>
            <a:r>
              <a:rPr kumimoji="0" sz="2925" b="1" i="0" u="none" strike="noStrike" kern="1200" cap="none" spc="0" normalizeH="0" baseline="0" noProof="0">
                <a:ln>
                  <a:noFill/>
                </a:ln>
                <a:solidFill>
                  <a:srgbClr val="123047"/>
                </a:solidFill>
                <a:effectLst/>
                <a:uLnTx/>
                <a:uFillTx/>
                <a:latin typeface="Charter"/>
                <a:ea typeface="Charter"/>
                <a:cs typeface="Charter"/>
              </a:rPr>
              <a:t>Problem space and target user</a:t>
            </a:r>
          </a:p>
        </p:txBody>
      </p:sp>
      <p:sp>
        <p:nvSpPr>
          <p:cNvPr id="3" name="Rectangle 2">
            <a:extLst>
              <a:ext uri="{FF2B5EF4-FFF2-40B4-BE49-F238E27FC236}">
                <a16:creationId xmlns:a16="http://schemas.microsoft.com/office/drawing/2014/main" id="{474C168B-4375-4676-939B-37F73D04971D}"/>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B92B27D2-AAC7-42AE-966C-87E7CA6E4C33}"/>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COMM7115  ·  BUSINESS PROPOSAL RESEARCH</a:t>
            </a:r>
          </a:p>
        </p:txBody>
      </p:sp>
      <p:sp>
        <p:nvSpPr>
          <p:cNvPr id="5" name="04   /   1:30">
            <a:extLst>
              <a:ext uri="{FF2B5EF4-FFF2-40B4-BE49-F238E27FC236}">
                <a16:creationId xmlns:a16="http://schemas.microsoft.com/office/drawing/2014/main" id="{F209ACFB-BB7A-451F-A3AC-603D967F7070}"/>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04   /   1:30</a:t>
            </a:r>
          </a:p>
        </p:txBody>
      </p:sp>
      <p:sp>
        <p:nvSpPr>
          <p:cNvPr id="6" name="USER AND SETTING">
            <a:extLst>
              <a:ext uri="{FF2B5EF4-FFF2-40B4-BE49-F238E27FC236}">
                <a16:creationId xmlns:a16="http://schemas.microsoft.com/office/drawing/2014/main" id="{084BFAC9-6157-489D-8B62-23A95CD083D1}"/>
              </a:ext>
            </a:extLst>
          </p:cNvPr>
          <p:cNvSpPr>
            <a:spLocks noGrp="1"/>
          </p:cNvSpPr>
          <p:nvPr/>
        </p:nvSpPr>
        <p:spPr>
          <a:xfrm>
            <a:off x="647700" y="2000250"/>
            <a:ext cx="4953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USER AND SETTING</a:t>
            </a:r>
          </a:p>
        </p:txBody>
      </p:sp>
      <p:sp>
        <p:nvSpPr>
          <p:cNvPr id="7" name="Adults fitting activity around desk work and commuting. iPhone access and language fit are">
            <a:extLst>
              <a:ext uri="{FF2B5EF4-FFF2-40B4-BE49-F238E27FC236}">
                <a16:creationId xmlns:a16="http://schemas.microsoft.com/office/drawing/2014/main" id="{DD331786-BB2F-493A-BA0C-A911FFE993AB}"/>
              </a:ext>
            </a:extLst>
          </p:cNvPr>
          <p:cNvSpPr>
            <a:spLocks noGrp="1"/>
          </p:cNvSpPr>
          <p:nvPr/>
        </p:nvSpPr>
        <p:spPr>
          <a:xfrm>
            <a:off x="647700" y="2324100"/>
            <a:ext cx="4953000" cy="118872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875" b="0">
                <a:solidFill>
                  <a:srgbClr val="163449"/>
                </a:solidFill>
                <a:latin typeface="Charter"/>
                <a:ea typeface="Charter"/>
                <a:cs typeface="Charter"/>
              </a:defRPr>
            </a:pPr>
            <a:r>
              <a:rPr kumimoji="0" sz="1875" b="0" i="0" u="none" strike="noStrike" kern="1200" cap="none" spc="0" normalizeH="0" baseline="0" noProof="0">
                <a:ln>
                  <a:noFill/>
                </a:ln>
                <a:solidFill>
                  <a:srgbClr val="163449"/>
                </a:solidFill>
                <a:effectLst/>
                <a:uLnTx/>
                <a:uFillTx/>
                <a:latin typeface="Charter"/>
                <a:ea typeface="Charter"/>
                <a:cs typeface="Charter"/>
              </a:rPr>
              <a:t>Adults fitting activity around desk work and commuting. iPhone access and language fit are recruitment criteria, not proven demand.</a:t>
            </a:r>
          </a:p>
        </p:txBody>
      </p:sp>
      <p:sp>
        <p:nvSpPr>
          <p:cNvPr id="8" name="JOB TO BE DONE">
            <a:extLst>
              <a:ext uri="{FF2B5EF4-FFF2-40B4-BE49-F238E27FC236}">
                <a16:creationId xmlns:a16="http://schemas.microsoft.com/office/drawing/2014/main" id="{9717EC8F-58C1-4DBB-8734-E640B138970A}"/>
              </a:ext>
            </a:extLst>
          </p:cNvPr>
          <p:cNvSpPr>
            <a:spLocks noGrp="1"/>
          </p:cNvSpPr>
          <p:nvPr/>
        </p:nvSpPr>
        <p:spPr>
          <a:xfrm>
            <a:off x="6286500" y="2000250"/>
            <a:ext cx="504825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JOB TO BE DONE</a:t>
            </a:r>
          </a:p>
        </p:txBody>
      </p:sp>
      <p:sp>
        <p:nvSpPr>
          <p:cNvPr id="9" name="Build a manageable routine and understand progress without adding much manual tracking. Th">
            <a:extLst>
              <a:ext uri="{FF2B5EF4-FFF2-40B4-BE49-F238E27FC236}">
                <a16:creationId xmlns:a16="http://schemas.microsoft.com/office/drawing/2014/main" id="{9EDBF401-7C6F-4EFD-95B8-5B1CF378E3B4}"/>
              </a:ext>
            </a:extLst>
          </p:cNvPr>
          <p:cNvSpPr>
            <a:spLocks noGrp="1"/>
          </p:cNvSpPr>
          <p:nvPr/>
        </p:nvSpPr>
        <p:spPr>
          <a:xfrm>
            <a:off x="6286500" y="2324100"/>
            <a:ext cx="5048250" cy="118872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875" b="0">
                <a:solidFill>
                  <a:srgbClr val="163449"/>
                </a:solidFill>
                <a:latin typeface="Charter"/>
                <a:ea typeface="Charter"/>
                <a:cs typeface="Charter"/>
              </a:defRPr>
            </a:pPr>
            <a:r>
              <a:rPr kumimoji="0" sz="1875" b="0" i="0" u="none" strike="noStrike" kern="1200" cap="none" spc="0" normalizeH="0" baseline="0" noProof="0">
                <a:ln>
                  <a:noFill/>
                </a:ln>
                <a:solidFill>
                  <a:srgbClr val="163449"/>
                </a:solidFill>
                <a:effectLst/>
                <a:uLnTx/>
                <a:uFillTx/>
                <a:latin typeface="Charter"/>
                <a:ea typeface="Charter"/>
                <a:cs typeface="Charter"/>
              </a:rPr>
              <a:t>Build a manageable routine and understand progress without adding much manual tracking. This job is a hypothesis to test.</a:t>
            </a:r>
          </a:p>
        </p:txBody>
      </p:sp>
      <p:sp>
        <p:nvSpPr>
          <p:cNvPr id="10" name="Rectangle 9">
            <a:extLst>
              <a:ext uri="{FF2B5EF4-FFF2-40B4-BE49-F238E27FC236}">
                <a16:creationId xmlns:a16="http://schemas.microsoft.com/office/drawing/2014/main" id="{04523195-8516-42D1-8735-B0FD9A10B4A1}"/>
              </a:ext>
            </a:extLst>
          </p:cNvPr>
          <p:cNvSpPr>
            <a:spLocks noGrp="1"/>
          </p:cNvSpPr>
          <p:nvPr/>
        </p:nvSpPr>
        <p:spPr>
          <a:xfrm>
            <a:off x="647700" y="352425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1" name="CURRENT WORKAROUND">
            <a:extLst>
              <a:ext uri="{FF2B5EF4-FFF2-40B4-BE49-F238E27FC236}">
                <a16:creationId xmlns:a16="http://schemas.microsoft.com/office/drawing/2014/main" id="{5EE34D27-D410-43C0-93ED-6809315A0F16}"/>
              </a:ext>
            </a:extLst>
          </p:cNvPr>
          <p:cNvSpPr>
            <a:spLocks noGrp="1"/>
          </p:cNvSpPr>
          <p:nvPr/>
        </p:nvSpPr>
        <p:spPr>
          <a:xfrm>
            <a:off x="647700" y="3829050"/>
            <a:ext cx="4953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CURRENT WORKAROUND</a:t>
            </a:r>
          </a:p>
        </p:txBody>
      </p:sp>
      <p:sp>
        <p:nvSpPr>
          <p:cNvPr id="12" name="Apple Health already records steps [S2]. Interviews will test use of existing trackers, re">
            <a:extLst>
              <a:ext uri="{FF2B5EF4-FFF2-40B4-BE49-F238E27FC236}">
                <a16:creationId xmlns:a16="http://schemas.microsoft.com/office/drawing/2014/main" id="{A7331703-DD3B-4C07-B633-96C40E88D4A0}"/>
              </a:ext>
            </a:extLst>
          </p:cNvPr>
          <p:cNvSpPr>
            <a:spLocks noGrp="1"/>
          </p:cNvSpPr>
          <p:nvPr/>
        </p:nvSpPr>
        <p:spPr>
          <a:xfrm>
            <a:off x="647700" y="4152900"/>
            <a:ext cx="4953000" cy="118872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875" b="0">
                <a:solidFill>
                  <a:srgbClr val="163449"/>
                </a:solidFill>
                <a:latin typeface="Charter"/>
                <a:ea typeface="Charter"/>
                <a:cs typeface="Charter"/>
              </a:defRPr>
            </a:pPr>
            <a:r>
              <a:rPr kumimoji="0" sz="1875" b="0" i="0" u="none" strike="noStrike" kern="1200" cap="none" spc="0" normalizeH="0" baseline="0" noProof="0">
                <a:ln>
                  <a:noFill/>
                </a:ln>
                <a:solidFill>
                  <a:srgbClr val="163449"/>
                </a:solidFill>
                <a:effectLst/>
                <a:uLnTx/>
                <a:uFillTx/>
                <a:latin typeface="Charter"/>
                <a:ea typeface="Charter"/>
                <a:cs typeface="Charter"/>
              </a:rPr>
              <a:t>Apple Health already records steps [S2]. Interviews will test use of existing trackers, reminders, walking groups or no tool.</a:t>
            </a:r>
          </a:p>
        </p:txBody>
      </p:sp>
      <p:sp>
        <p:nvSpPr>
          <p:cNvPr id="13" name="WHY IT MATTERS">
            <a:extLst>
              <a:ext uri="{FF2B5EF4-FFF2-40B4-BE49-F238E27FC236}">
                <a16:creationId xmlns:a16="http://schemas.microsoft.com/office/drawing/2014/main" id="{B9D2E69E-65A0-4590-81B0-8F7DC79F4844}"/>
              </a:ext>
            </a:extLst>
          </p:cNvPr>
          <p:cNvSpPr>
            <a:spLocks noGrp="1"/>
          </p:cNvSpPr>
          <p:nvPr/>
        </p:nvSpPr>
        <p:spPr>
          <a:xfrm>
            <a:off x="6286500" y="3829050"/>
            <a:ext cx="504825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WHY IT MATTERS</a:t>
            </a:r>
          </a:p>
        </p:txBody>
      </p:sp>
      <p:sp>
        <p:nvSpPr>
          <p:cNvPr id="14" name="Public data supports investigating daily activity [S1]. The time, effort and frustration c">
            <a:extLst>
              <a:ext uri="{FF2B5EF4-FFF2-40B4-BE49-F238E27FC236}">
                <a16:creationId xmlns:a16="http://schemas.microsoft.com/office/drawing/2014/main" id="{85A52F12-6A1C-4335-8559-864102674F7B}"/>
              </a:ext>
            </a:extLst>
          </p:cNvPr>
          <p:cNvSpPr>
            <a:spLocks noGrp="1"/>
          </p:cNvSpPr>
          <p:nvPr/>
        </p:nvSpPr>
        <p:spPr>
          <a:xfrm>
            <a:off x="6286500" y="4152900"/>
            <a:ext cx="5048250" cy="118872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875" b="0">
                <a:solidFill>
                  <a:srgbClr val="163449"/>
                </a:solidFill>
                <a:latin typeface="Charter"/>
                <a:ea typeface="Charter"/>
                <a:cs typeface="Charter"/>
              </a:defRPr>
            </a:pPr>
            <a:r>
              <a:rPr kumimoji="0" sz="1875" b="0" i="0" u="none" strike="noStrike" kern="1200" cap="none" spc="0" normalizeH="0" baseline="0" noProof="0">
                <a:ln>
                  <a:noFill/>
                </a:ln>
                <a:solidFill>
                  <a:srgbClr val="163449"/>
                </a:solidFill>
                <a:effectLst/>
                <a:uLnTx/>
                <a:uFillTx/>
                <a:latin typeface="Charter"/>
                <a:ea typeface="Charter"/>
                <a:cs typeface="Charter"/>
              </a:rPr>
              <a:t>Public data supports investigating daily activity [S1]. The time, effort and frustration costs for our segment remain unmeasured.</a:t>
            </a:r>
          </a:p>
        </p:txBody>
      </p:sp>
    </p:spTree>
    <p:extLst>
      <p:ext uri="{BB962C8B-B14F-4D97-AF65-F5344CB8AC3E}">
        <p14:creationId xmlns:p14="http://schemas.microsoft.com/office/powerpoint/2010/main" val="983212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9" name="RESEARCH REPORT">
            <a:extLst>
              <a:ext uri="{FF2B5EF4-FFF2-40B4-BE49-F238E27FC236}">
                <a16:creationId xmlns:a16="http://schemas.microsoft.com/office/drawing/2014/main" id="{84D1B801-5C62-431A-9F75-DFB24414DAC2}"/>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RESEARCH REPORT</a:t>
            </a:r>
          </a:p>
        </p:txBody>
      </p:sp>
      <p:sp>
        <p:nvSpPr>
          <p:cNvPr id="2" name="Research questions and methods">
            <a:extLst>
              <a:ext uri="{FF2B5EF4-FFF2-40B4-BE49-F238E27FC236}">
                <a16:creationId xmlns:a16="http://schemas.microsoft.com/office/drawing/2014/main" id="{0585A44B-153D-4F59-A34F-5C8B6498B771}"/>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Charter"/>
                <a:ea typeface="Charter"/>
                <a:cs typeface="Charter"/>
              </a:defRPr>
            </a:pPr>
            <a:r>
              <a:rPr kumimoji="0" sz="2925" b="1" i="0" u="none" strike="noStrike" kern="1200" cap="none" spc="0" normalizeH="0" baseline="0" noProof="0">
                <a:ln>
                  <a:noFill/>
                </a:ln>
                <a:solidFill>
                  <a:srgbClr val="123047"/>
                </a:solidFill>
                <a:effectLst/>
                <a:uLnTx/>
                <a:uFillTx/>
                <a:latin typeface="Charter"/>
                <a:ea typeface="Charter"/>
                <a:cs typeface="Charter"/>
              </a:rPr>
              <a:t>Research questions and methods</a:t>
            </a:r>
          </a:p>
        </p:txBody>
      </p:sp>
      <p:sp>
        <p:nvSpPr>
          <p:cNvPr id="3" name="Rectangle 2">
            <a:extLst>
              <a:ext uri="{FF2B5EF4-FFF2-40B4-BE49-F238E27FC236}">
                <a16:creationId xmlns:a16="http://schemas.microsoft.com/office/drawing/2014/main" id="{49C586FC-392E-4702-939C-6C68B9B2C4C0}"/>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FFF44A8D-8999-45FD-A2F0-3391C8597939}"/>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COMM7115  ·  BUSINESS PROPOSAL RESEARCH</a:t>
            </a:r>
          </a:p>
        </p:txBody>
      </p:sp>
      <p:sp>
        <p:nvSpPr>
          <p:cNvPr id="5" name="05   /   1:30">
            <a:extLst>
              <a:ext uri="{FF2B5EF4-FFF2-40B4-BE49-F238E27FC236}">
                <a16:creationId xmlns:a16="http://schemas.microsoft.com/office/drawing/2014/main" id="{64A9C06F-93D1-4990-9DB9-717842858BD7}"/>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05   /   1:30</a:t>
            </a:r>
          </a:p>
        </p:txBody>
      </p:sp>
      <p:sp>
        <p:nvSpPr>
          <p:cNvPr id="6" name="QUESTION">
            <a:extLst>
              <a:ext uri="{FF2B5EF4-FFF2-40B4-BE49-F238E27FC236}">
                <a16:creationId xmlns:a16="http://schemas.microsoft.com/office/drawing/2014/main" id="{1BF41095-8220-4E87-AEAF-B7E2E7A54A9B}"/>
              </a:ext>
            </a:extLst>
          </p:cNvPr>
          <p:cNvSpPr>
            <a:spLocks noGrp="1"/>
          </p:cNvSpPr>
          <p:nvPr/>
        </p:nvSpPr>
        <p:spPr>
          <a:xfrm>
            <a:off x="647700" y="1952625"/>
            <a:ext cx="45720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QUESTION</a:t>
            </a:r>
          </a:p>
        </p:txBody>
      </p:sp>
      <p:sp>
        <p:nvSpPr>
          <p:cNvPr id="7" name="METHOD AND WHY IT FITS">
            <a:extLst>
              <a:ext uri="{FF2B5EF4-FFF2-40B4-BE49-F238E27FC236}">
                <a16:creationId xmlns:a16="http://schemas.microsoft.com/office/drawing/2014/main" id="{E1CA43D0-6805-4A86-8122-2324129D1C16}"/>
              </a:ext>
            </a:extLst>
          </p:cNvPr>
          <p:cNvSpPr>
            <a:spLocks noGrp="1"/>
          </p:cNvSpPr>
          <p:nvPr/>
        </p:nvSpPr>
        <p:spPr>
          <a:xfrm>
            <a:off x="5762625" y="1952625"/>
            <a:ext cx="5381625"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METHOD AND WHY IT FITS</a:t>
            </a:r>
          </a:p>
        </p:txBody>
      </p:sp>
      <p:sp>
        <p:nvSpPr>
          <p:cNvPr id="8" name="Rectangle 7">
            <a:extLst>
              <a:ext uri="{FF2B5EF4-FFF2-40B4-BE49-F238E27FC236}">
                <a16:creationId xmlns:a16="http://schemas.microsoft.com/office/drawing/2014/main" id="{9555C6F0-896B-4A33-9374-3DFF099D5F8F}"/>
              </a:ext>
            </a:extLst>
          </p:cNvPr>
          <p:cNvSpPr>
            <a:spLocks noGrp="1"/>
          </p:cNvSpPr>
          <p:nvPr/>
        </p:nvSpPr>
        <p:spPr>
          <a:xfrm>
            <a:off x="647700" y="22193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9" name="What value could a routine add beyond existing activity trackers?">
            <a:extLst>
              <a:ext uri="{FF2B5EF4-FFF2-40B4-BE49-F238E27FC236}">
                <a16:creationId xmlns:a16="http://schemas.microsoft.com/office/drawing/2014/main" id="{8505DC98-90D4-4344-A9FD-10FEAB03C2EB}"/>
              </a:ext>
            </a:extLst>
          </p:cNvPr>
          <p:cNvSpPr>
            <a:spLocks noGrp="1"/>
          </p:cNvSpPr>
          <p:nvPr/>
        </p:nvSpPr>
        <p:spPr>
          <a:xfrm>
            <a:off x="647700" y="2324100"/>
            <a:ext cx="4667250"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What value could a routine add beyond existing activity trackers?</a:t>
            </a:r>
          </a:p>
        </p:txBody>
      </p:sp>
      <p:sp>
        <p:nvSpPr>
          <p:cNvPr id="10" name="Done: official-source review [S1–S4]. Next: 12 contextual interviews to understand actual ">
            <a:extLst>
              <a:ext uri="{FF2B5EF4-FFF2-40B4-BE49-F238E27FC236}">
                <a16:creationId xmlns:a16="http://schemas.microsoft.com/office/drawing/2014/main" id="{EBBC6C96-907A-4473-807F-21F8364EB024}"/>
              </a:ext>
            </a:extLst>
          </p:cNvPr>
          <p:cNvSpPr>
            <a:spLocks noGrp="1"/>
          </p:cNvSpPr>
          <p:nvPr/>
        </p:nvSpPr>
        <p:spPr>
          <a:xfrm>
            <a:off x="5762625" y="2324100"/>
            <a:ext cx="547687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Done: official-source review [S1–S4]. Next: 12 contextual interviews to understand actual workarounds.</a:t>
            </a:r>
          </a:p>
        </p:txBody>
      </p:sp>
      <p:sp>
        <p:nvSpPr>
          <p:cNvPr id="11" name="Rectangle 10">
            <a:extLst>
              <a:ext uri="{FF2B5EF4-FFF2-40B4-BE49-F238E27FC236}">
                <a16:creationId xmlns:a16="http://schemas.microsoft.com/office/drawing/2014/main" id="{A9DD5F0C-AED4-401D-8618-C640E2E0DB27}"/>
              </a:ext>
            </a:extLst>
          </p:cNvPr>
          <p:cNvSpPr>
            <a:spLocks noGrp="1"/>
          </p:cNvSpPr>
          <p:nvPr/>
        </p:nvSpPr>
        <p:spPr>
          <a:xfrm>
            <a:off x="647700" y="321945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2" name="Can users explain the mission, points and privacy choices unaided?">
            <a:extLst>
              <a:ext uri="{FF2B5EF4-FFF2-40B4-BE49-F238E27FC236}">
                <a16:creationId xmlns:a16="http://schemas.microsoft.com/office/drawing/2014/main" id="{408814A8-7867-437E-8EC0-539376DA8197}"/>
              </a:ext>
            </a:extLst>
          </p:cNvPr>
          <p:cNvSpPr>
            <a:spLocks noGrp="1"/>
          </p:cNvSpPr>
          <p:nvPr/>
        </p:nvSpPr>
        <p:spPr>
          <a:xfrm>
            <a:off x="647700" y="3324225"/>
            <a:ext cx="4667250"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Can users explain the mission, points and privacy choices unaided?</a:t>
            </a:r>
          </a:p>
        </p:txBody>
      </p:sp>
      <p:sp>
        <p:nvSpPr>
          <p:cNvPr id="13" name="Next: 8 moderated task sessions, then a cohort with 100 matured activations to test repeat">
            <a:extLst>
              <a:ext uri="{FF2B5EF4-FFF2-40B4-BE49-F238E27FC236}">
                <a16:creationId xmlns:a16="http://schemas.microsoft.com/office/drawing/2014/main" id="{A908A9B6-B8B0-4331-BB77-D2E60C1496A6}"/>
              </a:ext>
            </a:extLst>
          </p:cNvPr>
          <p:cNvSpPr>
            <a:spLocks noGrp="1"/>
          </p:cNvSpPr>
          <p:nvPr/>
        </p:nvSpPr>
        <p:spPr>
          <a:xfrm>
            <a:off x="5762625" y="3324225"/>
            <a:ext cx="547687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Next: 8 moderated task sessions, then a cohort with 100 matured activations to test repeat use.</a:t>
            </a:r>
          </a:p>
        </p:txBody>
      </p:sp>
      <p:sp>
        <p:nvSpPr>
          <p:cNvPr id="14" name="Rectangle 13">
            <a:extLst>
              <a:ext uri="{FF2B5EF4-FFF2-40B4-BE49-F238E27FC236}">
                <a16:creationId xmlns:a16="http://schemas.microsoft.com/office/drawing/2014/main" id="{8C48CA28-09BF-4E43-9DF5-C3C714AF6B54}"/>
              </a:ext>
            </a:extLst>
          </p:cNvPr>
          <p:cNvSpPr>
            <a:spLocks noGrp="1"/>
          </p:cNvSpPr>
          <p:nvPr/>
        </p:nvSpPr>
        <p:spPr>
          <a:xfrm>
            <a:off x="647700" y="421957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5" name="Will organisations fund delivery without buying health profiles?">
            <a:extLst>
              <a:ext uri="{FF2B5EF4-FFF2-40B4-BE49-F238E27FC236}">
                <a16:creationId xmlns:a16="http://schemas.microsoft.com/office/drawing/2014/main" id="{2CAD3D97-C6F4-40A7-899D-B531B9B49341}"/>
              </a:ext>
            </a:extLst>
          </p:cNvPr>
          <p:cNvSpPr>
            <a:spLocks noGrp="1"/>
          </p:cNvSpPr>
          <p:nvPr/>
        </p:nvSpPr>
        <p:spPr>
          <a:xfrm>
            <a:off x="647700" y="4324350"/>
            <a:ext cx="4667250"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Will organisations fund delivery without buying health profiles?</a:t>
            </a:r>
          </a:p>
        </p:txBody>
      </p:sp>
      <p:sp>
        <p:nvSpPr>
          <p:cNvPr id="16" name="Next: 5 budget-holder interviews to test a defined service, price, procurement and deliver">
            <a:extLst>
              <a:ext uri="{FF2B5EF4-FFF2-40B4-BE49-F238E27FC236}">
                <a16:creationId xmlns:a16="http://schemas.microsoft.com/office/drawing/2014/main" id="{DFEB0DDD-8FCF-423C-81E0-3632935D47CE}"/>
              </a:ext>
            </a:extLst>
          </p:cNvPr>
          <p:cNvSpPr>
            <a:spLocks noGrp="1"/>
          </p:cNvSpPr>
          <p:nvPr/>
        </p:nvSpPr>
        <p:spPr>
          <a:xfrm>
            <a:off x="5762625" y="4324350"/>
            <a:ext cx="547687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Next: 5 budget-holder interviews to test a defined service, price, procurement and delivery capacity.</a:t>
            </a:r>
          </a:p>
        </p:txBody>
      </p:sp>
      <p:sp>
        <p:nvSpPr>
          <p:cNvPr id="17" name="Rectangle 16">
            <a:extLst>
              <a:ext uri="{FF2B5EF4-FFF2-40B4-BE49-F238E27FC236}">
                <a16:creationId xmlns:a16="http://schemas.microsoft.com/office/drawing/2014/main" id="{EA2BA837-1565-46BB-8AE9-B282CB0E0A12}"/>
              </a:ext>
            </a:extLst>
          </p:cNvPr>
          <p:cNvSpPr>
            <a:spLocks noGrp="1"/>
          </p:cNvSpPr>
          <p:nvPr/>
        </p:nvSpPr>
        <p:spPr>
          <a:xfrm>
            <a:off x="647700" y="525780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8" name="Desk review: 5 October 2026 · Fieldwork proposed, not conducted. Decision: refine the segm">
            <a:extLst>
              <a:ext uri="{FF2B5EF4-FFF2-40B4-BE49-F238E27FC236}">
                <a16:creationId xmlns:a16="http://schemas.microsoft.com/office/drawing/2014/main" id="{82DB2B85-1DEB-484C-8DDC-DE9B57774FFE}"/>
              </a:ext>
            </a:extLst>
          </p:cNvPr>
          <p:cNvSpPr>
            <a:spLocks noGrp="1"/>
          </p:cNvSpPr>
          <p:nvPr/>
        </p:nvSpPr>
        <p:spPr>
          <a:xfrm>
            <a:off x="647700" y="5524500"/>
            <a:ext cx="10715625" cy="5334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59716E"/>
                </a:solidFill>
                <a:latin typeface="Charter"/>
                <a:ea typeface="Charter"/>
                <a:cs typeface="Charter"/>
              </a:defRPr>
            </a:pPr>
            <a:r>
              <a:rPr kumimoji="0" sz="1425" b="0" i="0" u="none" strike="noStrike" kern="1200" cap="none" spc="0" normalizeH="0" baseline="0" noProof="0">
                <a:ln>
                  <a:noFill/>
                </a:ln>
                <a:solidFill>
                  <a:srgbClr val="59716E"/>
                </a:solidFill>
                <a:effectLst/>
                <a:uLnTx/>
                <a:uFillTx/>
                <a:latin typeface="Charter"/>
                <a:ea typeface="Charter"/>
                <a:cs typeface="Charter"/>
              </a:rPr>
              <a:t>Desk review: 5 October 2026 · Fieldwork proposed, not conducted.</a:t>
            </a:r>
          </a:p>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59716E"/>
                </a:solidFill>
                <a:latin typeface="Charter"/>
                <a:ea typeface="Charter"/>
                <a:cs typeface="Charter"/>
              </a:defRPr>
            </a:pPr>
            <a:r>
              <a:rPr kumimoji="0" sz="1425" b="0" i="0" u="none" strike="noStrike" kern="1200" cap="none" spc="0" normalizeH="0" baseline="0" noProof="0">
                <a:ln>
                  <a:noFill/>
                </a:ln>
                <a:solidFill>
                  <a:srgbClr val="59716E"/>
                </a:solidFill>
                <a:effectLst/>
                <a:uLnTx/>
                <a:uFillTx/>
                <a:latin typeface="Charter"/>
                <a:ea typeface="Charter"/>
                <a:cs typeface="Charter"/>
              </a:rPr>
              <a:t>Decision: refine the segment and approve a bounded pilot only when readiness gates pass.</a:t>
            </a:r>
          </a:p>
        </p:txBody>
      </p:sp>
    </p:spTree>
    <p:extLst>
      <p:ext uri="{BB962C8B-B14F-4D97-AF65-F5344CB8AC3E}">
        <p14:creationId xmlns:p14="http://schemas.microsoft.com/office/powerpoint/2010/main" val="297232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5" name="RESEARCH REPORT">
            <a:extLst>
              <a:ext uri="{FF2B5EF4-FFF2-40B4-BE49-F238E27FC236}">
                <a16:creationId xmlns:a16="http://schemas.microsoft.com/office/drawing/2014/main" id="{F28188CD-8458-492F-8FFF-CAB7F548D32C}"/>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RESEARCH REPORT</a:t>
            </a:r>
          </a:p>
        </p:txBody>
      </p:sp>
      <p:sp>
        <p:nvSpPr>
          <p:cNvPr id="2" name="Participants, recruitment and ">
            <a:extLst>
              <a:ext uri="{FF2B5EF4-FFF2-40B4-BE49-F238E27FC236}">
                <a16:creationId xmlns:a16="http://schemas.microsoft.com/office/drawing/2014/main" id="{59E8D2A6-1258-439D-8CCB-D95DA1154B3C}"/>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Charter"/>
                <a:ea typeface="Charter"/>
                <a:cs typeface="Charter"/>
              </a:defRPr>
            </a:pPr>
            <a:r>
              <a:rPr kumimoji="0" sz="2925" b="1" i="0" u="none" strike="noStrike" kern="1200" cap="none" spc="0" normalizeH="0" baseline="0" noProof="0">
                <a:ln>
                  <a:noFill/>
                </a:ln>
                <a:solidFill>
                  <a:srgbClr val="123047"/>
                </a:solidFill>
                <a:effectLst/>
                <a:uLnTx/>
                <a:uFillTx/>
                <a:latin typeface="Charter"/>
                <a:ea typeface="Charter"/>
                <a:cs typeface="Charter"/>
              </a:rPr>
              <a:t>Participants, recruitment and limits</a:t>
            </a:r>
          </a:p>
        </p:txBody>
      </p:sp>
      <p:sp>
        <p:nvSpPr>
          <p:cNvPr id="3" name="Rectangle 2">
            <a:extLst>
              <a:ext uri="{FF2B5EF4-FFF2-40B4-BE49-F238E27FC236}">
                <a16:creationId xmlns:a16="http://schemas.microsoft.com/office/drawing/2014/main" id="{283AF754-39FE-4B5C-AF1A-C80BD2B2FDDE}"/>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AB1734B9-24E1-4D54-8697-E0C0284EB36B}"/>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COMM7115  ·  BUSINESS PROPOSAL RESEARCH</a:t>
            </a:r>
          </a:p>
        </p:txBody>
      </p:sp>
      <p:sp>
        <p:nvSpPr>
          <p:cNvPr id="5" name="06   /   1:00">
            <a:extLst>
              <a:ext uri="{FF2B5EF4-FFF2-40B4-BE49-F238E27FC236}">
                <a16:creationId xmlns:a16="http://schemas.microsoft.com/office/drawing/2014/main" id="{4384D32C-B2AA-4D8A-BEF8-06FF018BA684}"/>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06   /   1:00</a:t>
            </a:r>
          </a:p>
        </p:txBody>
      </p:sp>
      <p:sp>
        <p:nvSpPr>
          <p:cNvPr id="6" name="SAMPLE STATUS">
            <a:extLst>
              <a:ext uri="{FF2B5EF4-FFF2-40B4-BE49-F238E27FC236}">
                <a16:creationId xmlns:a16="http://schemas.microsoft.com/office/drawing/2014/main" id="{B52168FF-F38F-40C4-B046-F261BAE4E619}"/>
              </a:ext>
            </a:extLst>
          </p:cNvPr>
          <p:cNvSpPr>
            <a:spLocks noGrp="1"/>
          </p:cNvSpPr>
          <p:nvPr/>
        </p:nvSpPr>
        <p:spPr>
          <a:xfrm>
            <a:off x="647700" y="2000250"/>
            <a:ext cx="4953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SAMPLE STATUS</a:t>
            </a:r>
          </a:p>
        </p:txBody>
      </p:sp>
      <p:sp>
        <p:nvSpPr>
          <p:cNvPr id="7" name="External research participants recorded: 0. Proposed: 12 adults and 5 budget holders; 8 ad">
            <a:extLst>
              <a:ext uri="{FF2B5EF4-FFF2-40B4-BE49-F238E27FC236}">
                <a16:creationId xmlns:a16="http://schemas.microsoft.com/office/drawing/2014/main" id="{A336ADD7-1DEF-48B5-B0F9-7AEC1C0A2468}"/>
              </a:ext>
            </a:extLst>
          </p:cNvPr>
          <p:cNvSpPr>
            <a:spLocks noGrp="1"/>
          </p:cNvSpPr>
          <p:nvPr/>
        </p:nvSpPr>
        <p:spPr>
          <a:xfrm>
            <a:off x="647700" y="2324100"/>
            <a:ext cx="4953000" cy="118872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External research participants recorded: 0.</a:t>
            </a:r>
          </a:p>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Proposed: 12 adults and 5 budget holders; 8 adults also complete usability tasks.</a:t>
            </a:r>
          </a:p>
        </p:txBody>
      </p:sp>
      <p:sp>
        <p:nvSpPr>
          <p:cNvPr id="8" name="PROPOSED RECRUITMENT AND SESSIONS">
            <a:extLst>
              <a:ext uri="{FF2B5EF4-FFF2-40B4-BE49-F238E27FC236}">
                <a16:creationId xmlns:a16="http://schemas.microsoft.com/office/drawing/2014/main" id="{B1CC499B-898E-4A63-A96A-4BE02C0DCAD6}"/>
              </a:ext>
            </a:extLst>
          </p:cNvPr>
          <p:cNvSpPr>
            <a:spLocks noGrp="1"/>
          </p:cNvSpPr>
          <p:nvPr/>
        </p:nvSpPr>
        <p:spPr>
          <a:xfrm>
            <a:off x="6286500" y="2000250"/>
            <a:ext cx="4953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PROPOSED RECRUITMENT AND SESSIONS</a:t>
            </a:r>
          </a:p>
        </p:txBody>
      </p:sp>
      <p:sp>
        <p:nvSpPr>
          <p:cNvPr id="9" name="Two community or workplace channels; 30–45 minute interviews and 20 minute task sessions. ">
            <a:extLst>
              <a:ext uri="{FF2B5EF4-FFF2-40B4-BE49-F238E27FC236}">
                <a16:creationId xmlns:a16="http://schemas.microsoft.com/office/drawing/2014/main" id="{5C46D135-0AA3-4B4E-B956-7E9A097C2A5B}"/>
              </a:ext>
            </a:extLst>
          </p:cNvPr>
          <p:cNvSpPr>
            <a:spLocks noGrp="1"/>
          </p:cNvSpPr>
          <p:nvPr/>
        </p:nvSpPr>
        <p:spPr>
          <a:xfrm>
            <a:off x="6286500" y="2324100"/>
            <a:ext cx="4953000" cy="118872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Two community or workplace channels; 30–45 minute interviews and 20 minute task sessions. Recruitment has not begun.</a:t>
            </a:r>
          </a:p>
        </p:txBody>
      </p:sp>
      <p:sp>
        <p:nvSpPr>
          <p:cNvPr id="10" name="Rectangle 9">
            <a:extLst>
              <a:ext uri="{FF2B5EF4-FFF2-40B4-BE49-F238E27FC236}">
                <a16:creationId xmlns:a16="http://schemas.microsoft.com/office/drawing/2014/main" id="{4B96879D-3A67-47CC-819D-1DE10ABE26BE}"/>
              </a:ext>
            </a:extLst>
          </p:cNvPr>
          <p:cNvSpPr>
            <a:spLocks noGrp="1"/>
          </p:cNvSpPr>
          <p:nvPr/>
        </p:nvSpPr>
        <p:spPr>
          <a:xfrm>
            <a:off x="647700" y="36671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1" name="COVERAGE AND BIAS">
            <a:extLst>
              <a:ext uri="{FF2B5EF4-FFF2-40B4-BE49-F238E27FC236}">
                <a16:creationId xmlns:a16="http://schemas.microsoft.com/office/drawing/2014/main" id="{AE714BFD-B095-469E-8314-9ECD5109AE39}"/>
              </a:ext>
            </a:extLst>
          </p:cNvPr>
          <p:cNvSpPr>
            <a:spLocks noGrp="1"/>
          </p:cNvSpPr>
          <p:nvPr/>
        </p:nvSpPr>
        <p:spPr>
          <a:xfrm>
            <a:off x="647700" y="3962400"/>
            <a:ext cx="4953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COVERAGE AND BIAS</a:t>
            </a:r>
          </a:p>
        </p:txBody>
      </p:sp>
      <p:sp>
        <p:nvSpPr>
          <p:cNvPr id="12" name="A small volunteer sample cannot represent Hong Kong. Include sceptics and consent refusers">
            <a:extLst>
              <a:ext uri="{FF2B5EF4-FFF2-40B4-BE49-F238E27FC236}">
                <a16:creationId xmlns:a16="http://schemas.microsoft.com/office/drawing/2014/main" id="{AFB7BC68-5AD2-4D84-B6D4-7E938205B08A}"/>
              </a:ext>
            </a:extLst>
          </p:cNvPr>
          <p:cNvSpPr>
            <a:spLocks noGrp="1"/>
          </p:cNvSpPr>
          <p:nvPr/>
        </p:nvSpPr>
        <p:spPr>
          <a:xfrm>
            <a:off x="647700" y="4286250"/>
            <a:ext cx="4953000" cy="128016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A small volunteer sample cannot represent Hong Kong. Include sceptics and consent refusers; test language fit and report exclusions.</a:t>
            </a:r>
          </a:p>
        </p:txBody>
      </p:sp>
      <p:sp>
        <p:nvSpPr>
          <p:cNvPr id="13" name="ETHICS">
            <a:extLst>
              <a:ext uri="{FF2B5EF4-FFF2-40B4-BE49-F238E27FC236}">
                <a16:creationId xmlns:a16="http://schemas.microsoft.com/office/drawing/2014/main" id="{1FE06424-2107-4C51-B211-13D4009362A2}"/>
              </a:ext>
            </a:extLst>
          </p:cNvPr>
          <p:cNvSpPr>
            <a:spLocks noGrp="1"/>
          </p:cNvSpPr>
          <p:nvPr/>
        </p:nvSpPr>
        <p:spPr>
          <a:xfrm>
            <a:off x="6286500" y="3962400"/>
            <a:ext cx="4953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ETHICS</a:t>
            </a:r>
          </a:p>
        </p:txBody>
      </p:sp>
      <p:sp>
        <p:nvSpPr>
          <p:cNvPr id="14" name="Plain-language consent, optional recording and participant codes. No raw health uploads. S">
            <a:extLst>
              <a:ext uri="{FF2B5EF4-FFF2-40B4-BE49-F238E27FC236}">
                <a16:creationId xmlns:a16="http://schemas.microsoft.com/office/drawing/2014/main" id="{DB1A4488-5072-46E8-94DA-07EE27822078}"/>
              </a:ext>
            </a:extLst>
          </p:cNvPr>
          <p:cNvSpPr>
            <a:spLocks noGrp="1"/>
          </p:cNvSpPr>
          <p:nvPr/>
        </p:nvSpPr>
        <p:spPr>
          <a:xfrm>
            <a:off x="6286500" y="4286250"/>
            <a:ext cx="4953000" cy="128016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Plain-language consent, optional recording and participant codes. No raw health uploads. Set withdrawal and deletion procedures before recruitment.</a:t>
            </a:r>
          </a:p>
        </p:txBody>
      </p:sp>
    </p:spTree>
    <p:extLst>
      <p:ext uri="{BB962C8B-B14F-4D97-AF65-F5344CB8AC3E}">
        <p14:creationId xmlns:p14="http://schemas.microsoft.com/office/powerpoint/2010/main" val="21128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2" name="RESEARCH REPORT">
            <a:extLst>
              <a:ext uri="{FF2B5EF4-FFF2-40B4-BE49-F238E27FC236}">
                <a16:creationId xmlns:a16="http://schemas.microsoft.com/office/drawing/2014/main" id="{A8C51200-26FD-402E-A075-733976784DED}"/>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RESEARCH REPORT</a:t>
            </a:r>
          </a:p>
        </p:txBody>
      </p:sp>
      <p:sp>
        <p:nvSpPr>
          <p:cNvPr id="2" name="Existing evidence and alternat">
            <a:extLst>
              <a:ext uri="{FF2B5EF4-FFF2-40B4-BE49-F238E27FC236}">
                <a16:creationId xmlns:a16="http://schemas.microsoft.com/office/drawing/2014/main" id="{BE2223F6-B640-4092-92E9-B1A95D4A7653}"/>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Charter"/>
                <a:ea typeface="Charter"/>
                <a:cs typeface="Charter"/>
              </a:defRPr>
            </a:pPr>
            <a:r>
              <a:rPr kumimoji="0" sz="2925" b="1" i="0" u="none" strike="noStrike" kern="1200" cap="none" spc="0" normalizeH="0" baseline="0" noProof="0">
                <a:ln>
                  <a:noFill/>
                </a:ln>
                <a:solidFill>
                  <a:srgbClr val="123047"/>
                </a:solidFill>
                <a:effectLst/>
                <a:uLnTx/>
                <a:uFillTx/>
                <a:latin typeface="Charter"/>
                <a:ea typeface="Charter"/>
                <a:cs typeface="Charter"/>
              </a:rPr>
              <a:t>Existing evidence and alternatives</a:t>
            </a:r>
          </a:p>
        </p:txBody>
      </p:sp>
      <p:sp>
        <p:nvSpPr>
          <p:cNvPr id="3" name="Rectangle 2">
            <a:extLst>
              <a:ext uri="{FF2B5EF4-FFF2-40B4-BE49-F238E27FC236}">
                <a16:creationId xmlns:a16="http://schemas.microsoft.com/office/drawing/2014/main" id="{74716023-8E2C-4D02-9F51-BC69AEDDFF86}"/>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3DA31D0C-31EB-43B5-B500-94A3E8D3C9DF}"/>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COMM7115  ·  BUSINESS PROPOSAL RESEARCH</a:t>
            </a:r>
          </a:p>
        </p:txBody>
      </p:sp>
      <p:sp>
        <p:nvSpPr>
          <p:cNvPr id="5" name="07   /   1:30">
            <a:extLst>
              <a:ext uri="{FF2B5EF4-FFF2-40B4-BE49-F238E27FC236}">
                <a16:creationId xmlns:a16="http://schemas.microsoft.com/office/drawing/2014/main" id="{9DEA293C-E873-44DC-8E40-602F7459928A}"/>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07   /   1:30</a:t>
            </a:r>
          </a:p>
        </p:txBody>
      </p:sp>
      <p:sp>
        <p:nvSpPr>
          <p:cNvPr id="6" name="SIGNAL">
            <a:extLst>
              <a:ext uri="{FF2B5EF4-FFF2-40B4-BE49-F238E27FC236}">
                <a16:creationId xmlns:a16="http://schemas.microsoft.com/office/drawing/2014/main" id="{C916A65C-3DE5-4D71-9177-374834FD8F63}"/>
              </a:ext>
            </a:extLst>
          </p:cNvPr>
          <p:cNvSpPr>
            <a:spLocks noGrp="1"/>
          </p:cNvSpPr>
          <p:nvPr/>
        </p:nvSpPr>
        <p:spPr>
          <a:xfrm>
            <a:off x="647700" y="1885950"/>
            <a:ext cx="2857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SIGNAL</a:t>
            </a:r>
          </a:p>
        </p:txBody>
      </p:sp>
      <p:sp>
        <p:nvSpPr>
          <p:cNvPr id="7" name="SOURCE / DATE">
            <a:extLst>
              <a:ext uri="{FF2B5EF4-FFF2-40B4-BE49-F238E27FC236}">
                <a16:creationId xmlns:a16="http://schemas.microsoft.com/office/drawing/2014/main" id="{897914A3-C148-46B5-973E-F6ADF93519A7}"/>
              </a:ext>
            </a:extLst>
          </p:cNvPr>
          <p:cNvSpPr>
            <a:spLocks noGrp="1"/>
          </p:cNvSpPr>
          <p:nvPr/>
        </p:nvSpPr>
        <p:spPr>
          <a:xfrm>
            <a:off x="3905250" y="1885950"/>
            <a:ext cx="3238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SOURCE / DATE</a:t>
            </a:r>
          </a:p>
        </p:txBody>
      </p:sp>
      <p:sp>
        <p:nvSpPr>
          <p:cNvPr id="8" name="WHAT IT MEANS FOR OUR QUESTION">
            <a:extLst>
              <a:ext uri="{FF2B5EF4-FFF2-40B4-BE49-F238E27FC236}">
                <a16:creationId xmlns:a16="http://schemas.microsoft.com/office/drawing/2014/main" id="{DD702E10-ECD0-4885-B444-EB8469BF7D4F}"/>
              </a:ext>
            </a:extLst>
          </p:cNvPr>
          <p:cNvSpPr>
            <a:spLocks noGrp="1"/>
          </p:cNvSpPr>
          <p:nvPr/>
        </p:nvSpPr>
        <p:spPr>
          <a:xfrm>
            <a:off x="7572375" y="1885950"/>
            <a:ext cx="3857625"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WHAT IT MEANS FOR OUR QUESTION</a:t>
            </a:r>
          </a:p>
        </p:txBody>
      </p:sp>
      <p:sp>
        <p:nvSpPr>
          <p:cNvPr id="9" name="Rectangle 8">
            <a:extLst>
              <a:ext uri="{FF2B5EF4-FFF2-40B4-BE49-F238E27FC236}">
                <a16:creationId xmlns:a16="http://schemas.microsoft.com/office/drawing/2014/main" id="{5AAF5266-40E2-4552-A6AC-CF3D60855187}"/>
              </a:ext>
            </a:extLst>
          </p:cNvPr>
          <p:cNvSpPr>
            <a:spLocks noGrp="1"/>
          </p:cNvSpPr>
          <p:nvPr/>
        </p:nvSpPr>
        <p:spPr>
          <a:xfrm>
            <a:off x="647700" y="222885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0" name="14.8% insufficient activity; 33.9% sit or recline ≥8 hours on a typical day.">
            <a:extLst>
              <a:ext uri="{FF2B5EF4-FFF2-40B4-BE49-F238E27FC236}">
                <a16:creationId xmlns:a16="http://schemas.microsoft.com/office/drawing/2014/main" id="{7C71A626-8B4A-40D8-A27F-D8E6FF7E249D}"/>
              </a:ext>
            </a:extLst>
          </p:cNvPr>
          <p:cNvSpPr>
            <a:spLocks noGrp="1"/>
          </p:cNvSpPr>
          <p:nvPr/>
        </p:nvSpPr>
        <p:spPr>
          <a:xfrm>
            <a:off x="647700" y="2324100"/>
            <a:ext cx="2952750" cy="987552"/>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Charter"/>
                <a:ea typeface="Charter"/>
                <a:cs typeface="Charter"/>
              </a:defRPr>
            </a:pPr>
            <a:r>
              <a:rPr kumimoji="0" sz="1650" b="0" i="0" u="none" strike="noStrike" kern="1200" cap="none" spc="0" normalizeH="0" baseline="0" noProof="0">
                <a:ln>
                  <a:noFill/>
                </a:ln>
                <a:solidFill>
                  <a:srgbClr val="163449"/>
                </a:solidFill>
                <a:effectLst/>
                <a:uLnTx/>
                <a:uFillTx/>
                <a:latin typeface="Charter"/>
                <a:ea typeface="Charter"/>
                <a:cs typeface="Charter"/>
              </a:rPr>
              <a:t>14.8% insufficient activity;</a:t>
            </a:r>
          </a:p>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Charter"/>
                <a:ea typeface="Charter"/>
                <a:cs typeface="Charter"/>
              </a:defRPr>
            </a:pPr>
            <a:r>
              <a:rPr kumimoji="0" sz="1650" b="0" i="0" u="none" strike="noStrike" kern="1200" cap="none" spc="0" normalizeH="0" baseline="0" noProof="0">
                <a:ln>
                  <a:noFill/>
                </a:ln>
                <a:solidFill>
                  <a:srgbClr val="163449"/>
                </a:solidFill>
                <a:effectLst/>
                <a:uLnTx/>
                <a:uFillTx/>
                <a:latin typeface="Charter"/>
                <a:ea typeface="Charter"/>
                <a:cs typeface="Charter"/>
              </a:rPr>
              <a:t>33.9% sit or recline ≥8 hours on a typical day.</a:t>
            </a:r>
          </a:p>
        </p:txBody>
      </p:sp>
      <p:sp>
        <p:nvSpPr>
          <p:cNvPr id="11" name="S1 · Hong Kong DH 2023 survey; 2025 report Adults aged 18+">
            <a:extLst>
              <a:ext uri="{FF2B5EF4-FFF2-40B4-BE49-F238E27FC236}">
                <a16:creationId xmlns:a16="http://schemas.microsoft.com/office/drawing/2014/main" id="{1A0675CE-9F45-4D83-9F19-9898568FE070}"/>
              </a:ext>
            </a:extLst>
          </p:cNvPr>
          <p:cNvSpPr>
            <a:spLocks noGrp="1"/>
          </p:cNvSpPr>
          <p:nvPr/>
        </p:nvSpPr>
        <p:spPr>
          <a:xfrm>
            <a:off x="3905250" y="2324100"/>
            <a:ext cx="3190875" cy="987552"/>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hlinkClick r:id="rId3"/>
              </a:rPr>
              <a:t>S1 · Hong Kong DH</a:t>
            </a:r>
          </a:p>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2023 survey; 2025 report</a:t>
            </a:r>
          </a:p>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Adults aged 18+</a:t>
            </a:r>
          </a:p>
        </p:txBody>
      </p:sp>
      <p:sp>
        <p:nvSpPr>
          <p:cNvPr id="12" name="A relevant activity context. Self-report data; neither a market-size estimate nor evidence">
            <a:extLst>
              <a:ext uri="{FF2B5EF4-FFF2-40B4-BE49-F238E27FC236}">
                <a16:creationId xmlns:a16="http://schemas.microsoft.com/office/drawing/2014/main" id="{A5BE8E5C-463A-40B4-AEDD-519D9EAEAE66}"/>
              </a:ext>
            </a:extLst>
          </p:cNvPr>
          <p:cNvSpPr>
            <a:spLocks noGrp="1"/>
          </p:cNvSpPr>
          <p:nvPr/>
        </p:nvSpPr>
        <p:spPr>
          <a:xfrm>
            <a:off x="7572375" y="2324100"/>
            <a:ext cx="3810000" cy="987552"/>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A relevant activity context. Self-report data; neither a market-size estimate nor evidence of app demand.</a:t>
            </a:r>
          </a:p>
        </p:txBody>
      </p:sp>
      <p:sp>
        <p:nvSpPr>
          <p:cNvPr id="13" name="Rectangle 12">
            <a:extLst>
              <a:ext uri="{FF2B5EF4-FFF2-40B4-BE49-F238E27FC236}">
                <a16:creationId xmlns:a16="http://schemas.microsoft.com/office/drawing/2014/main" id="{CA4FD72E-384E-479E-A6E1-596F5873A86E}"/>
              </a:ext>
            </a:extLst>
          </p:cNvPr>
          <p:cNvSpPr>
            <a:spLocks noGrp="1"/>
          </p:cNvSpPr>
          <p:nvPr/>
        </p:nvSpPr>
        <p:spPr>
          <a:xfrm>
            <a:off x="647700" y="334327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4" name="Apple Health already counts steps and brings health records together.">
            <a:extLst>
              <a:ext uri="{FF2B5EF4-FFF2-40B4-BE49-F238E27FC236}">
                <a16:creationId xmlns:a16="http://schemas.microsoft.com/office/drawing/2014/main" id="{CD7CA7DD-F102-4078-8820-F608DE8197E4}"/>
              </a:ext>
            </a:extLst>
          </p:cNvPr>
          <p:cNvSpPr>
            <a:spLocks noGrp="1"/>
          </p:cNvSpPr>
          <p:nvPr/>
        </p:nvSpPr>
        <p:spPr>
          <a:xfrm>
            <a:off x="647700" y="3438525"/>
            <a:ext cx="2952750" cy="987552"/>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Charter"/>
                <a:ea typeface="Charter"/>
                <a:cs typeface="Charter"/>
              </a:defRPr>
            </a:pPr>
            <a:r>
              <a:rPr kumimoji="0" sz="1650" b="0" i="0" u="none" strike="noStrike" kern="1200" cap="none" spc="0" normalizeH="0" baseline="0" noProof="0">
                <a:ln>
                  <a:noFill/>
                </a:ln>
                <a:solidFill>
                  <a:srgbClr val="163449"/>
                </a:solidFill>
                <a:effectLst/>
                <a:uLnTx/>
                <a:uFillTx/>
                <a:latin typeface="Charter"/>
                <a:ea typeface="Charter"/>
                <a:cs typeface="Charter"/>
              </a:rPr>
              <a:t>Apple Health already counts steps and brings health records together.</a:t>
            </a:r>
          </a:p>
        </p:txBody>
      </p:sp>
      <p:sp>
        <p:nvSpPr>
          <p:cNvPr id="15" name="S2 · Apple Support Official product guide Checked 5 October 2026">
            <a:extLst>
              <a:ext uri="{FF2B5EF4-FFF2-40B4-BE49-F238E27FC236}">
                <a16:creationId xmlns:a16="http://schemas.microsoft.com/office/drawing/2014/main" id="{DC3A35D2-AC5E-4B32-89EA-1ED1B7E8B107}"/>
              </a:ext>
            </a:extLst>
          </p:cNvPr>
          <p:cNvSpPr>
            <a:spLocks noGrp="1"/>
          </p:cNvSpPr>
          <p:nvPr/>
        </p:nvSpPr>
        <p:spPr>
          <a:xfrm>
            <a:off x="3905250" y="3438525"/>
            <a:ext cx="3190875" cy="987552"/>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hlinkClick r:id="rId4"/>
              </a:rPr>
              <a:t>S2 · Apple Support</a:t>
            </a:r>
          </a:p>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Official product guide</a:t>
            </a:r>
          </a:p>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Checked 5 October 2026</a:t>
            </a:r>
          </a:p>
        </p:txBody>
      </p:sp>
      <p:sp>
        <p:nvSpPr>
          <p:cNvPr id="16" name="A strong existing alternative. HealthLoop must add value beyond a second step-count screen">
            <a:extLst>
              <a:ext uri="{FF2B5EF4-FFF2-40B4-BE49-F238E27FC236}">
                <a16:creationId xmlns:a16="http://schemas.microsoft.com/office/drawing/2014/main" id="{EC9DDCFE-BA89-43C3-9417-C9652C423B2E}"/>
              </a:ext>
            </a:extLst>
          </p:cNvPr>
          <p:cNvSpPr>
            <a:spLocks noGrp="1"/>
          </p:cNvSpPr>
          <p:nvPr/>
        </p:nvSpPr>
        <p:spPr>
          <a:xfrm>
            <a:off x="7572375" y="3438525"/>
            <a:ext cx="3810000" cy="987552"/>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A strong existing alternative. HealthLoop must add value beyond a second step-count screen.</a:t>
            </a:r>
          </a:p>
        </p:txBody>
      </p:sp>
      <p:sp>
        <p:nvSpPr>
          <p:cNvPr id="17" name="Rectangle 16">
            <a:extLst>
              <a:ext uri="{FF2B5EF4-FFF2-40B4-BE49-F238E27FC236}">
                <a16:creationId xmlns:a16="http://schemas.microsoft.com/office/drawing/2014/main" id="{EA3EB34E-B875-4E9E-A85B-98C91795E2CF}"/>
              </a:ext>
            </a:extLst>
          </p:cNvPr>
          <p:cNvSpPr>
            <a:spLocks noGrp="1"/>
          </p:cNvSpPr>
          <p:nvPr/>
        </p:nvSpPr>
        <p:spPr>
          <a:xfrm>
            <a:off x="647700" y="445770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8" name="Sweatcoin links verified movement to in-app units and a benefits marketplace.">
            <a:extLst>
              <a:ext uri="{FF2B5EF4-FFF2-40B4-BE49-F238E27FC236}">
                <a16:creationId xmlns:a16="http://schemas.microsoft.com/office/drawing/2014/main" id="{9AC6C78B-BD21-4DCB-844C-C1E6570D1799}"/>
              </a:ext>
            </a:extLst>
          </p:cNvPr>
          <p:cNvSpPr>
            <a:spLocks noGrp="1"/>
          </p:cNvSpPr>
          <p:nvPr/>
        </p:nvSpPr>
        <p:spPr>
          <a:xfrm>
            <a:off x="647700" y="4552950"/>
            <a:ext cx="2952750" cy="987552"/>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Charter"/>
                <a:ea typeface="Charter"/>
                <a:cs typeface="Charter"/>
              </a:defRPr>
            </a:pPr>
            <a:r>
              <a:rPr kumimoji="0" sz="1650" b="0" i="0" u="none" strike="noStrike" kern="1200" cap="none" spc="0" normalizeH="0" baseline="0" noProof="0">
                <a:ln>
                  <a:noFill/>
                </a:ln>
                <a:solidFill>
                  <a:srgbClr val="163449"/>
                </a:solidFill>
                <a:effectLst/>
                <a:uLnTx/>
                <a:uFillTx/>
                <a:latin typeface="Charter"/>
                <a:ea typeface="Charter"/>
                <a:cs typeface="Charter"/>
              </a:rPr>
              <a:t>Sweatcoin links verified movement to in-app units and a benefits marketplace.</a:t>
            </a:r>
          </a:p>
        </p:txBody>
      </p:sp>
      <p:sp>
        <p:nvSpPr>
          <p:cNvPr id="19" name="S3 · Sweatcoin Terms, sections 7–8 Checked 5 October 2026">
            <a:extLst>
              <a:ext uri="{FF2B5EF4-FFF2-40B4-BE49-F238E27FC236}">
                <a16:creationId xmlns:a16="http://schemas.microsoft.com/office/drawing/2014/main" id="{910E4CC2-DDF4-4132-A9F0-BBC6F2F87BAD}"/>
              </a:ext>
            </a:extLst>
          </p:cNvPr>
          <p:cNvSpPr>
            <a:spLocks noGrp="1"/>
          </p:cNvSpPr>
          <p:nvPr/>
        </p:nvSpPr>
        <p:spPr>
          <a:xfrm>
            <a:off x="3905250" y="4552950"/>
            <a:ext cx="3190875" cy="987552"/>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hlinkClick r:id="rId5"/>
              </a:rPr>
              <a:t>S3 · Sweatcoin</a:t>
            </a:r>
          </a:p>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Terms, sections 7–8</a:t>
            </a:r>
          </a:p>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Checked 5 October 2026</a:t>
            </a:r>
          </a:p>
        </p:txBody>
      </p:sp>
      <p:sp>
        <p:nvSpPr>
          <p:cNvPr id="20" name="Activity incentives already compete for attention. HealthLoop has no signed merchant netwo">
            <a:extLst>
              <a:ext uri="{FF2B5EF4-FFF2-40B4-BE49-F238E27FC236}">
                <a16:creationId xmlns:a16="http://schemas.microsoft.com/office/drawing/2014/main" id="{DAFBC1D6-C787-45E7-92DF-C1229B530FD2}"/>
              </a:ext>
            </a:extLst>
          </p:cNvPr>
          <p:cNvSpPr>
            <a:spLocks noGrp="1"/>
          </p:cNvSpPr>
          <p:nvPr/>
        </p:nvSpPr>
        <p:spPr>
          <a:xfrm>
            <a:off x="7572375" y="4552950"/>
            <a:ext cx="3810000" cy="987552"/>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Activity incentives already compete for attention. HealthLoop has no signed merchant network to claim.</a:t>
            </a:r>
          </a:p>
        </p:txBody>
      </p:sp>
      <p:sp>
        <p:nvSpPr>
          <p:cNvPr id="21" name="Rectangle 20">
            <a:extLst>
              <a:ext uri="{FF2B5EF4-FFF2-40B4-BE49-F238E27FC236}">
                <a16:creationId xmlns:a16="http://schemas.microsoft.com/office/drawing/2014/main" id="{2E3389DD-AF56-4537-B726-F435754EA2F5}"/>
              </a:ext>
            </a:extLst>
          </p:cNvPr>
          <p:cNvSpPr>
            <a:spLocks noGrp="1"/>
          </p:cNvSpPr>
          <p:nvPr/>
        </p:nvSpPr>
        <p:spPr>
          <a:xfrm>
            <a:off x="647700" y="566737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1213547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1" name="RESEARCH REPORT">
            <a:extLst>
              <a:ext uri="{FF2B5EF4-FFF2-40B4-BE49-F238E27FC236}">
                <a16:creationId xmlns:a16="http://schemas.microsoft.com/office/drawing/2014/main" id="{E0552D4E-BE1E-4CA6-B2EC-E1E87B3B2886}"/>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RESEARCH REPORT</a:t>
            </a:r>
          </a:p>
        </p:txBody>
      </p:sp>
      <p:sp>
        <p:nvSpPr>
          <p:cNvPr id="2" name="Findings from current evidence">
            <a:extLst>
              <a:ext uri="{FF2B5EF4-FFF2-40B4-BE49-F238E27FC236}">
                <a16:creationId xmlns:a16="http://schemas.microsoft.com/office/drawing/2014/main" id="{33480E94-1A9E-4746-AE6B-CC1D96D7D2C1}"/>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Charter"/>
                <a:ea typeface="Charter"/>
                <a:cs typeface="Charter"/>
              </a:defRPr>
            </a:pPr>
            <a:r>
              <a:rPr kumimoji="0" sz="2925" b="1" i="0" u="none" strike="noStrike" kern="1200" cap="none" spc="0" normalizeH="0" baseline="0" noProof="0">
                <a:ln>
                  <a:noFill/>
                </a:ln>
                <a:solidFill>
                  <a:srgbClr val="123047"/>
                </a:solidFill>
                <a:effectLst/>
                <a:uLnTx/>
                <a:uFillTx/>
                <a:latin typeface="Charter"/>
                <a:ea typeface="Charter"/>
                <a:cs typeface="Charter"/>
              </a:rPr>
              <a:t>Findings from current evidence</a:t>
            </a:r>
          </a:p>
        </p:txBody>
      </p:sp>
      <p:sp>
        <p:nvSpPr>
          <p:cNvPr id="3" name="Rectangle 2">
            <a:extLst>
              <a:ext uri="{FF2B5EF4-FFF2-40B4-BE49-F238E27FC236}">
                <a16:creationId xmlns:a16="http://schemas.microsoft.com/office/drawing/2014/main" id="{F9CA0C0B-AF13-44C6-B345-3B6023D66444}"/>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55715D9A-97DA-4CEA-8089-9E9D4760201A}"/>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COMM7115  ·  BUSINESS PROPOSAL RESEARCH</a:t>
            </a:r>
          </a:p>
        </p:txBody>
      </p:sp>
      <p:sp>
        <p:nvSpPr>
          <p:cNvPr id="5" name="08   /   2:00">
            <a:extLst>
              <a:ext uri="{FF2B5EF4-FFF2-40B4-BE49-F238E27FC236}">
                <a16:creationId xmlns:a16="http://schemas.microsoft.com/office/drawing/2014/main" id="{C230F1CB-D3EF-4006-89B8-58A2365AA800}"/>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08   /   2:00</a:t>
            </a:r>
          </a:p>
        </p:txBody>
      </p:sp>
      <p:sp>
        <p:nvSpPr>
          <p:cNvPr id="6" name="01">
            <a:extLst>
              <a:ext uri="{FF2B5EF4-FFF2-40B4-BE49-F238E27FC236}">
                <a16:creationId xmlns:a16="http://schemas.microsoft.com/office/drawing/2014/main" id="{E8FDF71A-D376-446F-A1DB-7A1046940512}"/>
              </a:ext>
            </a:extLst>
          </p:cNvPr>
          <p:cNvSpPr>
            <a:spLocks noGrp="1"/>
          </p:cNvSpPr>
          <p:nvPr/>
        </p:nvSpPr>
        <p:spPr>
          <a:xfrm>
            <a:off x="647700" y="1924050"/>
            <a:ext cx="704850" cy="4953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175" b="1">
                <a:solidFill>
                  <a:srgbClr val="C96D4B"/>
                </a:solidFill>
                <a:latin typeface="Charter"/>
                <a:ea typeface="Charter"/>
                <a:cs typeface="Charter"/>
              </a:defRPr>
            </a:pPr>
            <a:r>
              <a:rPr kumimoji="0" sz="2175" b="1" i="0" u="none" strike="noStrike" kern="1200" cap="none" spc="0" normalizeH="0" baseline="0" noProof="0">
                <a:ln>
                  <a:noFill/>
                </a:ln>
                <a:solidFill>
                  <a:srgbClr val="C96D4B"/>
                </a:solidFill>
                <a:effectLst/>
                <a:uLnTx/>
                <a:uFillTx/>
                <a:latin typeface="Charter"/>
                <a:ea typeface="Charter"/>
                <a:cs typeface="Charter"/>
              </a:rPr>
              <a:t>01</a:t>
            </a:r>
          </a:p>
        </p:txBody>
      </p:sp>
      <p:sp>
        <p:nvSpPr>
          <p:cNvPr id="7" name="A local problem context exists; demand is unproven.">
            <a:extLst>
              <a:ext uri="{FF2B5EF4-FFF2-40B4-BE49-F238E27FC236}">
                <a16:creationId xmlns:a16="http://schemas.microsoft.com/office/drawing/2014/main" id="{BE61D262-0D2A-47CA-BFA2-7EA6AB6B12D9}"/>
              </a:ext>
            </a:extLst>
          </p:cNvPr>
          <p:cNvSpPr>
            <a:spLocks noGrp="1"/>
          </p:cNvSpPr>
          <p:nvPr/>
        </p:nvSpPr>
        <p:spPr>
          <a:xfrm>
            <a:off x="1476375" y="1924050"/>
            <a:ext cx="978408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875" b="1">
                <a:solidFill>
                  <a:srgbClr val="163449"/>
                </a:solidFill>
                <a:latin typeface="Charter"/>
                <a:ea typeface="Charter"/>
                <a:cs typeface="Charter"/>
              </a:defRPr>
            </a:pPr>
            <a:r>
              <a:rPr kumimoji="0" sz="1875" b="1" i="0" u="none" strike="noStrike" kern="1200" cap="none" spc="0" normalizeH="0" baseline="0" noProof="0">
                <a:ln>
                  <a:noFill/>
                </a:ln>
                <a:solidFill>
                  <a:srgbClr val="163449"/>
                </a:solidFill>
                <a:effectLst/>
                <a:uLnTx/>
                <a:uFillTx/>
                <a:latin typeface="Charter"/>
                <a:ea typeface="Charter"/>
                <a:cs typeface="Charter"/>
              </a:rPr>
              <a:t>A local problem context exists; demand is unproven.</a:t>
            </a:r>
          </a:p>
        </p:txBody>
      </p:sp>
      <p:sp>
        <p:nvSpPr>
          <p:cNvPr id="8" name="EVIDENCE">
            <a:extLst>
              <a:ext uri="{FF2B5EF4-FFF2-40B4-BE49-F238E27FC236}">
                <a16:creationId xmlns:a16="http://schemas.microsoft.com/office/drawing/2014/main" id="{21715C9F-41C3-4F08-ACA4-E25E6FA45040}"/>
              </a:ext>
            </a:extLst>
          </p:cNvPr>
          <p:cNvSpPr>
            <a:spLocks noGrp="1"/>
          </p:cNvSpPr>
          <p:nvPr/>
        </p:nvSpPr>
        <p:spPr>
          <a:xfrm>
            <a:off x="1476375" y="2447925"/>
            <a:ext cx="1095375"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75" b="1">
                <a:solidFill>
                  <a:srgbClr val="13756E"/>
                </a:solidFill>
                <a:latin typeface="Charter"/>
                <a:ea typeface="Charter"/>
                <a:cs typeface="Charter"/>
              </a:defRPr>
            </a:pPr>
            <a:r>
              <a:rPr kumimoji="0" sz="975" b="1" i="0" u="none" strike="noStrike" kern="1200" cap="none" spc="0" normalizeH="0" baseline="0" noProof="0">
                <a:ln>
                  <a:noFill/>
                </a:ln>
                <a:solidFill>
                  <a:srgbClr val="13756E"/>
                </a:solidFill>
                <a:effectLst/>
                <a:uLnTx/>
                <a:uFillTx/>
                <a:latin typeface="Charter"/>
                <a:ea typeface="Charter"/>
                <a:cs typeface="Charter"/>
              </a:rPr>
              <a:t>EVIDENCE</a:t>
            </a:r>
          </a:p>
        </p:txBody>
      </p:sp>
      <p:sp>
        <p:nvSpPr>
          <p:cNvPr id="9" name="The public survey supports investigating activity habits. It does not explain our segment’">
            <a:extLst>
              <a:ext uri="{FF2B5EF4-FFF2-40B4-BE49-F238E27FC236}">
                <a16:creationId xmlns:a16="http://schemas.microsoft.com/office/drawing/2014/main" id="{41F8B207-C37F-4397-9DB3-232F58B349C6}"/>
              </a:ext>
            </a:extLst>
          </p:cNvPr>
          <p:cNvSpPr>
            <a:spLocks noGrp="1"/>
          </p:cNvSpPr>
          <p:nvPr/>
        </p:nvSpPr>
        <p:spPr>
          <a:xfrm>
            <a:off x="2600325" y="2438400"/>
            <a:ext cx="857250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59716E"/>
                </a:solidFill>
                <a:latin typeface="Charter"/>
                <a:ea typeface="Charter"/>
                <a:cs typeface="Charter"/>
              </a:defRPr>
            </a:pPr>
            <a:r>
              <a:rPr kumimoji="0" sz="1425" b="0" i="0" u="none" strike="noStrike" kern="1200" cap="none" spc="0" normalizeH="0" baseline="0" noProof="0">
                <a:ln>
                  <a:noFill/>
                </a:ln>
                <a:solidFill>
                  <a:srgbClr val="59716E"/>
                </a:solidFill>
                <a:effectLst/>
                <a:uLnTx/>
                <a:uFillTx/>
                <a:latin typeface="Charter"/>
                <a:ea typeface="Charter"/>
                <a:cs typeface="Charter"/>
              </a:rPr>
              <a:t>The public survey supports investigating activity habits. It does not explain our segment’s unmet needs. [S1]</a:t>
            </a:r>
          </a:p>
        </p:txBody>
      </p:sp>
      <p:sp>
        <p:nvSpPr>
          <p:cNvPr id="10" name="Rectangle 9">
            <a:extLst>
              <a:ext uri="{FF2B5EF4-FFF2-40B4-BE49-F238E27FC236}">
                <a16:creationId xmlns:a16="http://schemas.microsoft.com/office/drawing/2014/main" id="{1F9138B7-282B-429C-849B-AABA4240F3AA}"/>
              </a:ext>
            </a:extLst>
          </p:cNvPr>
          <p:cNvSpPr>
            <a:spLocks noGrp="1"/>
          </p:cNvSpPr>
          <p:nvPr/>
        </p:nvSpPr>
        <p:spPr>
          <a:xfrm>
            <a:off x="647700" y="30575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1" name="02">
            <a:extLst>
              <a:ext uri="{FF2B5EF4-FFF2-40B4-BE49-F238E27FC236}">
                <a16:creationId xmlns:a16="http://schemas.microsoft.com/office/drawing/2014/main" id="{67A62D5F-5B21-4B1C-8261-A1E3FD93D3FE}"/>
              </a:ext>
            </a:extLst>
          </p:cNvPr>
          <p:cNvSpPr>
            <a:spLocks noGrp="1"/>
          </p:cNvSpPr>
          <p:nvPr/>
        </p:nvSpPr>
        <p:spPr>
          <a:xfrm>
            <a:off x="647700" y="3181350"/>
            <a:ext cx="704850" cy="4953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175" b="1">
                <a:solidFill>
                  <a:srgbClr val="C96D4B"/>
                </a:solidFill>
                <a:latin typeface="Charter"/>
                <a:ea typeface="Charter"/>
                <a:cs typeface="Charter"/>
              </a:defRPr>
            </a:pPr>
            <a:r>
              <a:rPr kumimoji="0" sz="2175" b="1" i="0" u="none" strike="noStrike" kern="1200" cap="none" spc="0" normalizeH="0" baseline="0" noProof="0">
                <a:ln>
                  <a:noFill/>
                </a:ln>
                <a:solidFill>
                  <a:srgbClr val="C96D4B"/>
                </a:solidFill>
                <a:effectLst/>
                <a:uLnTx/>
                <a:uFillTx/>
                <a:latin typeface="Charter"/>
                <a:ea typeface="Charter"/>
                <a:cs typeface="Charter"/>
              </a:rPr>
              <a:t>02</a:t>
            </a:r>
          </a:p>
        </p:txBody>
      </p:sp>
      <p:sp>
        <p:nvSpPr>
          <p:cNvPr id="12" name="Step counting and activity incentives are already served.">
            <a:extLst>
              <a:ext uri="{FF2B5EF4-FFF2-40B4-BE49-F238E27FC236}">
                <a16:creationId xmlns:a16="http://schemas.microsoft.com/office/drawing/2014/main" id="{7DDC7619-7D25-4A1B-B18A-56FCCA7F190D}"/>
              </a:ext>
            </a:extLst>
          </p:cNvPr>
          <p:cNvSpPr>
            <a:spLocks noGrp="1"/>
          </p:cNvSpPr>
          <p:nvPr/>
        </p:nvSpPr>
        <p:spPr>
          <a:xfrm>
            <a:off x="1476375" y="3181350"/>
            <a:ext cx="978408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875" b="1">
                <a:solidFill>
                  <a:srgbClr val="163449"/>
                </a:solidFill>
                <a:latin typeface="Charter"/>
                <a:ea typeface="Charter"/>
                <a:cs typeface="Charter"/>
              </a:defRPr>
            </a:pPr>
            <a:r>
              <a:rPr kumimoji="0" sz="1875" b="1" i="0" u="none" strike="noStrike" kern="1200" cap="none" spc="0" normalizeH="0" baseline="0" noProof="0">
                <a:ln>
                  <a:noFill/>
                </a:ln>
                <a:solidFill>
                  <a:srgbClr val="163449"/>
                </a:solidFill>
                <a:effectLst/>
                <a:uLnTx/>
                <a:uFillTx/>
                <a:latin typeface="Charter"/>
                <a:ea typeface="Charter"/>
                <a:cs typeface="Charter"/>
              </a:rPr>
              <a:t>Step counting and activity incentives are already served.</a:t>
            </a:r>
          </a:p>
        </p:txBody>
      </p:sp>
      <p:sp>
        <p:nvSpPr>
          <p:cNvPr id="13" name="EVIDENCE">
            <a:extLst>
              <a:ext uri="{FF2B5EF4-FFF2-40B4-BE49-F238E27FC236}">
                <a16:creationId xmlns:a16="http://schemas.microsoft.com/office/drawing/2014/main" id="{88D2FCA0-7D9F-42C8-ADB2-AD643B527DE8}"/>
              </a:ext>
            </a:extLst>
          </p:cNvPr>
          <p:cNvSpPr>
            <a:spLocks noGrp="1"/>
          </p:cNvSpPr>
          <p:nvPr/>
        </p:nvSpPr>
        <p:spPr>
          <a:xfrm>
            <a:off x="1476375" y="3705225"/>
            <a:ext cx="1095375"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75" b="1">
                <a:solidFill>
                  <a:srgbClr val="13756E"/>
                </a:solidFill>
                <a:latin typeface="Charter"/>
                <a:ea typeface="Charter"/>
                <a:cs typeface="Charter"/>
              </a:defRPr>
            </a:pPr>
            <a:r>
              <a:rPr kumimoji="0" sz="975" b="1" i="0" u="none" strike="noStrike" kern="1200" cap="none" spc="0" normalizeH="0" baseline="0" noProof="0">
                <a:ln>
                  <a:noFill/>
                </a:ln>
                <a:solidFill>
                  <a:srgbClr val="13756E"/>
                </a:solidFill>
                <a:effectLst/>
                <a:uLnTx/>
                <a:uFillTx/>
                <a:latin typeface="Charter"/>
                <a:ea typeface="Charter"/>
                <a:cs typeface="Charter"/>
              </a:rPr>
              <a:t>EVIDENCE</a:t>
            </a:r>
          </a:p>
        </p:txBody>
      </p:sp>
      <p:sp>
        <p:nvSpPr>
          <p:cNvPr id="14" name="Apple Health and Sweatcoin are existing alternatives; mission clarity and trust still need">
            <a:extLst>
              <a:ext uri="{FF2B5EF4-FFF2-40B4-BE49-F238E27FC236}">
                <a16:creationId xmlns:a16="http://schemas.microsoft.com/office/drawing/2014/main" id="{733C0764-0007-433D-B9E6-8D7E76CA244B}"/>
              </a:ext>
            </a:extLst>
          </p:cNvPr>
          <p:cNvSpPr>
            <a:spLocks noGrp="1"/>
          </p:cNvSpPr>
          <p:nvPr/>
        </p:nvSpPr>
        <p:spPr>
          <a:xfrm>
            <a:off x="2600325" y="3695700"/>
            <a:ext cx="857250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59716E"/>
                </a:solidFill>
                <a:latin typeface="Charter"/>
                <a:ea typeface="Charter"/>
                <a:cs typeface="Charter"/>
              </a:defRPr>
            </a:pPr>
            <a:r>
              <a:rPr kumimoji="0" sz="1425" b="0" i="0" u="none" strike="noStrike" kern="1200" cap="none" spc="0" normalizeH="0" baseline="0" noProof="0">
                <a:ln>
                  <a:noFill/>
                </a:ln>
                <a:solidFill>
                  <a:srgbClr val="59716E"/>
                </a:solidFill>
                <a:effectLst/>
                <a:uLnTx/>
                <a:uFillTx/>
                <a:latin typeface="Charter"/>
                <a:ea typeface="Charter"/>
                <a:cs typeface="Charter"/>
              </a:rPr>
              <a:t>Apple Health and Sweatcoin are existing alternatives; mission clarity and trust still need testing. [S2–S3]</a:t>
            </a:r>
          </a:p>
        </p:txBody>
      </p:sp>
      <p:sp>
        <p:nvSpPr>
          <p:cNvPr id="15" name="Rectangle 14">
            <a:extLst>
              <a:ext uri="{FF2B5EF4-FFF2-40B4-BE49-F238E27FC236}">
                <a16:creationId xmlns:a16="http://schemas.microsoft.com/office/drawing/2014/main" id="{F0861E9A-6B21-4B81-A1DA-0E08540906EB}"/>
              </a:ext>
            </a:extLst>
          </p:cNvPr>
          <p:cNvSpPr>
            <a:spLocks noGrp="1"/>
          </p:cNvSpPr>
          <p:nvPr/>
        </p:nvSpPr>
        <p:spPr>
          <a:xfrm>
            <a:off x="647700" y="43148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6" name="03">
            <a:extLst>
              <a:ext uri="{FF2B5EF4-FFF2-40B4-BE49-F238E27FC236}">
                <a16:creationId xmlns:a16="http://schemas.microsoft.com/office/drawing/2014/main" id="{5233201F-05C0-4D61-AF87-51BC9BC27D1B}"/>
              </a:ext>
            </a:extLst>
          </p:cNvPr>
          <p:cNvSpPr>
            <a:spLocks noGrp="1"/>
          </p:cNvSpPr>
          <p:nvPr/>
        </p:nvSpPr>
        <p:spPr>
          <a:xfrm>
            <a:off x="647700" y="4438650"/>
            <a:ext cx="704850" cy="4953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175" b="1">
                <a:solidFill>
                  <a:srgbClr val="C96D4B"/>
                </a:solidFill>
                <a:latin typeface="Charter"/>
                <a:ea typeface="Charter"/>
                <a:cs typeface="Charter"/>
              </a:defRPr>
            </a:pPr>
            <a:r>
              <a:rPr kumimoji="0" sz="2175" b="1" i="0" u="none" strike="noStrike" kern="1200" cap="none" spc="0" normalizeH="0" baseline="0" noProof="0">
                <a:ln>
                  <a:noFill/>
                </a:ln>
                <a:solidFill>
                  <a:srgbClr val="C96D4B"/>
                </a:solidFill>
                <a:effectLst/>
                <a:uLnTx/>
                <a:uFillTx/>
                <a:latin typeface="Charter"/>
                <a:ea typeface="Charter"/>
                <a:cs typeface="Charter"/>
              </a:rPr>
              <a:t>03</a:t>
            </a:r>
          </a:p>
        </p:txBody>
      </p:sp>
      <p:sp>
        <p:nvSpPr>
          <p:cNvPr id="17" name="Technical feasibility has progressed; adoption is unmeasured.">
            <a:extLst>
              <a:ext uri="{FF2B5EF4-FFF2-40B4-BE49-F238E27FC236}">
                <a16:creationId xmlns:a16="http://schemas.microsoft.com/office/drawing/2014/main" id="{FEEF0928-8718-46D0-B962-F3CD8B78236F}"/>
              </a:ext>
            </a:extLst>
          </p:cNvPr>
          <p:cNvSpPr>
            <a:spLocks noGrp="1"/>
          </p:cNvSpPr>
          <p:nvPr/>
        </p:nvSpPr>
        <p:spPr>
          <a:xfrm>
            <a:off x="1476375" y="4438650"/>
            <a:ext cx="978408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875" b="1">
                <a:solidFill>
                  <a:srgbClr val="163449"/>
                </a:solidFill>
                <a:latin typeface="Charter"/>
                <a:ea typeface="Charter"/>
                <a:cs typeface="Charter"/>
              </a:defRPr>
            </a:pPr>
            <a:r>
              <a:rPr kumimoji="0" sz="1875" b="1" i="0" u="none" strike="noStrike" kern="1200" cap="none" spc="0" normalizeH="0" baseline="0" noProof="0">
                <a:ln>
                  <a:noFill/>
                </a:ln>
                <a:solidFill>
                  <a:srgbClr val="163449"/>
                </a:solidFill>
                <a:effectLst/>
                <a:uLnTx/>
                <a:uFillTx/>
                <a:latin typeface="Charter"/>
                <a:ea typeface="Charter"/>
                <a:cs typeface="Charter"/>
              </a:rPr>
              <a:t>Technical feasibility has progressed; adoption is unmeasured.</a:t>
            </a:r>
          </a:p>
        </p:txBody>
      </p:sp>
      <p:sp>
        <p:nvSpPr>
          <p:cNvPr id="18" name="EVIDENCE">
            <a:extLst>
              <a:ext uri="{FF2B5EF4-FFF2-40B4-BE49-F238E27FC236}">
                <a16:creationId xmlns:a16="http://schemas.microsoft.com/office/drawing/2014/main" id="{199787C7-1B4B-48E8-8A0F-C213D46A5D2F}"/>
              </a:ext>
            </a:extLst>
          </p:cNvPr>
          <p:cNvSpPr>
            <a:spLocks noGrp="1"/>
          </p:cNvSpPr>
          <p:nvPr/>
        </p:nvSpPr>
        <p:spPr>
          <a:xfrm>
            <a:off x="1476375" y="4962525"/>
            <a:ext cx="1095375"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75" b="1">
                <a:solidFill>
                  <a:srgbClr val="13756E"/>
                </a:solidFill>
                <a:latin typeface="Charter"/>
                <a:ea typeface="Charter"/>
                <a:cs typeface="Charter"/>
              </a:defRPr>
            </a:pPr>
            <a:r>
              <a:rPr kumimoji="0" sz="975" b="1" i="0" u="none" strike="noStrike" kern="1200" cap="none" spc="0" normalizeH="0" baseline="0" noProof="0">
                <a:ln>
                  <a:noFill/>
                </a:ln>
                <a:solidFill>
                  <a:srgbClr val="13756E"/>
                </a:solidFill>
                <a:effectLst/>
                <a:uLnTx/>
                <a:uFillTx/>
                <a:latin typeface="Charter"/>
                <a:ea typeface="Charter"/>
                <a:cs typeface="Charter"/>
              </a:rPr>
              <a:t>EVIDENCE</a:t>
            </a:r>
          </a:p>
        </p:txBody>
      </p:sp>
      <p:sp>
        <p:nvSpPr>
          <p:cNvPr id="19" name="355 tests logged on 5 October; September’s simulator flow was recorded. Current UI and two">
            <a:extLst>
              <a:ext uri="{FF2B5EF4-FFF2-40B4-BE49-F238E27FC236}">
                <a16:creationId xmlns:a16="http://schemas.microsoft.com/office/drawing/2014/main" id="{B9895E8B-D92D-4CFD-9F7D-132D1654AF60}"/>
              </a:ext>
            </a:extLst>
          </p:cNvPr>
          <p:cNvSpPr>
            <a:spLocks noGrp="1"/>
          </p:cNvSpPr>
          <p:nvPr/>
        </p:nvSpPr>
        <p:spPr>
          <a:xfrm>
            <a:off x="2600325" y="4953000"/>
            <a:ext cx="857250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59716E"/>
                </a:solidFill>
                <a:latin typeface="Charter"/>
                <a:ea typeface="Charter"/>
                <a:cs typeface="Charter"/>
              </a:defRPr>
            </a:pPr>
            <a:r>
              <a:rPr kumimoji="0" sz="1425" b="0" i="0" u="none" strike="noStrike" kern="1200" cap="none" spc="0" normalizeH="0" baseline="0" noProof="0">
                <a:ln>
                  <a:noFill/>
                </a:ln>
                <a:solidFill>
                  <a:srgbClr val="59716E"/>
                </a:solidFill>
                <a:effectLst/>
                <a:uLnTx/>
                <a:uFillTx/>
                <a:latin typeface="Charter"/>
                <a:ea typeface="Charter"/>
                <a:cs typeface="Charter"/>
              </a:rPr>
              <a:t>355 tests logged on 5 October; September’s simulator flow was recorded. Current UI and two-iPhone checks remain open. [E2–E3]</a:t>
            </a:r>
          </a:p>
        </p:txBody>
      </p:sp>
      <p:sp>
        <p:nvSpPr>
          <p:cNvPr id="20" name="Rectangle 19">
            <a:extLst>
              <a:ext uri="{FF2B5EF4-FFF2-40B4-BE49-F238E27FC236}">
                <a16:creationId xmlns:a16="http://schemas.microsoft.com/office/drawing/2014/main" id="{B012E23F-F732-4A82-AD94-9D3877B55FEE}"/>
              </a:ext>
            </a:extLst>
          </p:cNvPr>
          <p:cNvSpPr>
            <a:spLocks noGrp="1"/>
          </p:cNvSpPr>
          <p:nvPr/>
        </p:nvSpPr>
        <p:spPr>
          <a:xfrm>
            <a:off x="647700" y="55721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2" name="Desk and technical findings · Primary user research remains pending."/>
          <p:cNvSpPr txBox="1"/>
          <p:nvPr/>
        </p:nvSpPr>
        <p:spPr>
          <a:xfrm>
            <a:off x="649224" y="5833872"/>
            <a:ext cx="10881360" cy="256032"/>
          </a:xfrm>
          <a:prstGeom prst="rect">
            <a:avLst/>
          </a:prstGeom>
          <a:noFill/>
        </p:spPr>
        <p:txBody>
          <a:bodyPr wrap="square" lIns="0" rIns="0" tIns="0" bIns="0">
            <a:noAutofit/>
          </a:bodyPr>
          <a:lstStyle/>
          <a:p>
            <a:pPr>
              <a:lnSpc>
                <a:spcPct val="110000"/>
              </a:lnSpc>
              <a:spcBef>
                <a:spcPts val="0"/>
              </a:spcBef>
              <a:spcAft>
                <a:spcPts val="0"/>
              </a:spcAft>
            </a:pPr>
            <a:r>
              <a:rPr sz="1200" b="0">
                <a:solidFill>
                  <a:srgbClr val="007F78"/>
                </a:solidFill>
                <a:latin typeface="Charter"/>
              </a:rPr>
              <a:t>Desk and technical findings · Primary user research remains pending.</a:t>
            </a:r>
          </a:p>
        </p:txBody>
      </p:sp>
    </p:spTree>
    <p:extLst>
      <p:ext uri="{BB962C8B-B14F-4D97-AF65-F5344CB8AC3E}">
        <p14:creationId xmlns:p14="http://schemas.microsoft.com/office/powerpoint/2010/main" val="1115280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7" name="RESEARCH REPORT">
            <a:extLst>
              <a:ext uri="{FF2B5EF4-FFF2-40B4-BE49-F238E27FC236}">
                <a16:creationId xmlns:a16="http://schemas.microsoft.com/office/drawing/2014/main" id="{9BC45F22-1779-4E20-BE6D-134468522B76}"/>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RESEARCH REPORT</a:t>
            </a:r>
          </a:p>
        </p:txBody>
      </p:sp>
      <p:sp>
        <p:nvSpPr>
          <p:cNvPr id="2" name="Provisional persona to test">
            <a:extLst>
              <a:ext uri="{FF2B5EF4-FFF2-40B4-BE49-F238E27FC236}">
                <a16:creationId xmlns:a16="http://schemas.microsoft.com/office/drawing/2014/main" id="{EC0AB2F3-F1DC-479C-AF05-43AD9B0D18B2}"/>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Charter"/>
                <a:ea typeface="Charter"/>
                <a:cs typeface="Charter"/>
              </a:defRPr>
            </a:pPr>
            <a:r>
              <a:rPr kumimoji="0" sz="2925" b="1" i="0" u="none" strike="noStrike" kern="1200" cap="none" spc="0" normalizeH="0" baseline="0" noProof="0">
                <a:ln>
                  <a:noFill/>
                </a:ln>
                <a:solidFill>
                  <a:srgbClr val="123047"/>
                </a:solidFill>
                <a:effectLst/>
                <a:uLnTx/>
                <a:uFillTx/>
                <a:latin typeface="Charter"/>
                <a:ea typeface="Charter"/>
                <a:cs typeface="Charter"/>
              </a:rPr>
              <a:t>Provisional persona to test</a:t>
            </a:r>
          </a:p>
        </p:txBody>
      </p:sp>
      <p:sp>
        <p:nvSpPr>
          <p:cNvPr id="3" name="Rectangle 2">
            <a:extLst>
              <a:ext uri="{FF2B5EF4-FFF2-40B4-BE49-F238E27FC236}">
                <a16:creationId xmlns:a16="http://schemas.microsoft.com/office/drawing/2014/main" id="{B29AAC72-E75D-4D01-88A2-E429379F9EB0}"/>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484DB106-5813-4E5B-9AB6-1E2DE6CE9AB8}"/>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COMM7115  ·  BUSINESS PROPOSAL RESEARCH</a:t>
            </a:r>
          </a:p>
        </p:txBody>
      </p:sp>
      <p:sp>
        <p:nvSpPr>
          <p:cNvPr id="5" name="09   /   1:30">
            <a:extLst>
              <a:ext uri="{FF2B5EF4-FFF2-40B4-BE49-F238E27FC236}">
                <a16:creationId xmlns:a16="http://schemas.microsoft.com/office/drawing/2014/main" id="{32A162E4-B584-4A00-A2F3-FDB16311654F}"/>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09   /   1:30</a:t>
            </a:r>
          </a:p>
        </p:txBody>
      </p:sp>
      <p:sp>
        <p:nvSpPr>
          <p:cNvPr id="6" name="Hong Kong desk-based iPhone user">
            <a:extLst>
              <a:ext uri="{FF2B5EF4-FFF2-40B4-BE49-F238E27FC236}">
                <a16:creationId xmlns:a16="http://schemas.microsoft.com/office/drawing/2014/main" id="{035B0335-2F90-4198-89F2-A7980B15023D}"/>
              </a:ext>
            </a:extLst>
          </p:cNvPr>
          <p:cNvSpPr>
            <a:spLocks noGrp="1"/>
          </p:cNvSpPr>
          <p:nvPr/>
        </p:nvSpPr>
        <p:spPr>
          <a:xfrm>
            <a:off x="647700" y="1990725"/>
            <a:ext cx="6667500" cy="4572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325" b="1">
                <a:solidFill>
                  <a:srgbClr val="123047"/>
                </a:solidFill>
                <a:latin typeface="Charter"/>
                <a:ea typeface="Charter"/>
                <a:cs typeface="Charter"/>
              </a:defRPr>
            </a:pPr>
            <a:r>
              <a:rPr kumimoji="0" sz="2325" b="1" i="0" u="none" strike="noStrike" kern="1200" cap="none" spc="0" normalizeH="0" baseline="0" noProof="0">
                <a:ln>
                  <a:noFill/>
                </a:ln>
                <a:solidFill>
                  <a:srgbClr val="123047"/>
                </a:solidFill>
                <a:effectLst/>
                <a:uLnTx/>
                <a:uFillTx/>
                <a:latin typeface="Charter"/>
                <a:ea typeface="Charter"/>
                <a:cs typeface="Charter"/>
              </a:rPr>
              <a:t>Hong Kong desk-based iPhone user</a:t>
            </a:r>
          </a:p>
        </p:txBody>
      </p:sp>
      <p:sp>
        <p:nvSpPr>
          <p:cNvPr id="7" name="Recruitment hypothesis from the product brief; no interview-derived persona yet. [E1, E4]">
            <a:extLst>
              <a:ext uri="{FF2B5EF4-FFF2-40B4-BE49-F238E27FC236}">
                <a16:creationId xmlns:a16="http://schemas.microsoft.com/office/drawing/2014/main" id="{1596093A-39C7-4AF3-BF79-8BC9C329687F}"/>
              </a:ext>
            </a:extLst>
          </p:cNvPr>
          <p:cNvSpPr>
            <a:spLocks noGrp="1"/>
          </p:cNvSpPr>
          <p:nvPr/>
        </p:nvSpPr>
        <p:spPr>
          <a:xfrm>
            <a:off x="647700" y="2457450"/>
            <a:ext cx="9239250" cy="3619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59716E"/>
                </a:solidFill>
                <a:latin typeface="Charter"/>
                <a:ea typeface="Charter"/>
                <a:cs typeface="Charter"/>
              </a:defRPr>
            </a:pPr>
            <a:r>
              <a:rPr kumimoji="0" sz="1425" b="0" i="0" u="none" strike="noStrike" kern="1200" cap="none" spc="0" normalizeH="0" baseline="0" noProof="0">
                <a:ln>
                  <a:noFill/>
                </a:ln>
                <a:solidFill>
                  <a:srgbClr val="59716E"/>
                </a:solidFill>
                <a:effectLst/>
                <a:uLnTx/>
                <a:uFillTx/>
                <a:latin typeface="Charter"/>
                <a:ea typeface="Charter"/>
                <a:cs typeface="Charter"/>
              </a:rPr>
              <a:t>Recruitment hypothesis from the product brief; no interview-derived persona yet. [E1, E4]</a:t>
            </a:r>
          </a:p>
        </p:txBody>
      </p:sp>
      <p:sp>
        <p:nvSpPr>
          <p:cNvPr id="8" name="Rectangle 7">
            <a:extLst>
              <a:ext uri="{FF2B5EF4-FFF2-40B4-BE49-F238E27FC236}">
                <a16:creationId xmlns:a16="http://schemas.microsoft.com/office/drawing/2014/main" id="{A78F6A1C-EA74-448D-8807-3386F1358B1C}"/>
              </a:ext>
            </a:extLst>
          </p:cNvPr>
          <p:cNvSpPr>
            <a:spLocks noGrp="1"/>
          </p:cNvSpPr>
          <p:nvPr/>
        </p:nvSpPr>
        <p:spPr>
          <a:xfrm>
            <a:off x="647700" y="302895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9" name="GOAL">
            <a:extLst>
              <a:ext uri="{FF2B5EF4-FFF2-40B4-BE49-F238E27FC236}">
                <a16:creationId xmlns:a16="http://schemas.microsoft.com/office/drawing/2014/main" id="{CCB3083E-CF98-4231-8733-8B0308AFBB0A}"/>
              </a:ext>
            </a:extLst>
          </p:cNvPr>
          <p:cNvSpPr>
            <a:spLocks noGrp="1"/>
          </p:cNvSpPr>
          <p:nvPr/>
        </p:nvSpPr>
        <p:spPr>
          <a:xfrm>
            <a:off x="647700" y="3343275"/>
            <a:ext cx="4619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GOAL</a:t>
            </a:r>
          </a:p>
        </p:txBody>
      </p:sp>
      <p:sp>
        <p:nvSpPr>
          <p:cNvPr id="10" name="Keep a manageable activity routine and see what happened today without treating rest as fa">
            <a:extLst>
              <a:ext uri="{FF2B5EF4-FFF2-40B4-BE49-F238E27FC236}">
                <a16:creationId xmlns:a16="http://schemas.microsoft.com/office/drawing/2014/main" id="{42EF950F-22FD-47E4-9598-2F908E3F965B}"/>
              </a:ext>
            </a:extLst>
          </p:cNvPr>
          <p:cNvSpPr>
            <a:spLocks noGrp="1"/>
          </p:cNvSpPr>
          <p:nvPr/>
        </p:nvSpPr>
        <p:spPr>
          <a:xfrm>
            <a:off x="647700" y="3667125"/>
            <a:ext cx="4619625" cy="9144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Keep a manageable activity routine and see what happened today without treating rest as failure.</a:t>
            </a:r>
          </a:p>
        </p:txBody>
      </p:sp>
      <p:sp>
        <p:nvSpPr>
          <p:cNvPr id="11" name="ASSUMED CONTEXT AND BEHAVIOUR">
            <a:extLst>
              <a:ext uri="{FF2B5EF4-FFF2-40B4-BE49-F238E27FC236}">
                <a16:creationId xmlns:a16="http://schemas.microsoft.com/office/drawing/2014/main" id="{CCAC55F0-B874-4316-AF62-E8156C60774B}"/>
              </a:ext>
            </a:extLst>
          </p:cNvPr>
          <p:cNvSpPr>
            <a:spLocks noGrp="1"/>
          </p:cNvSpPr>
          <p:nvPr/>
        </p:nvSpPr>
        <p:spPr>
          <a:xfrm>
            <a:off x="6334125" y="3343275"/>
            <a:ext cx="4953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ASSUMED CONTEXT AND BEHAVIOUR</a:t>
            </a:r>
          </a:p>
        </p:txBody>
      </p:sp>
      <p:sp>
        <p:nvSpPr>
          <p:cNvPr id="12" name="Fits activity around work and commuting; already has an iPhone. App language and routine f">
            <a:extLst>
              <a:ext uri="{FF2B5EF4-FFF2-40B4-BE49-F238E27FC236}">
                <a16:creationId xmlns:a16="http://schemas.microsoft.com/office/drawing/2014/main" id="{A58364D3-D811-44C7-9D2A-8AD22204A8C7}"/>
              </a:ext>
            </a:extLst>
          </p:cNvPr>
          <p:cNvSpPr>
            <a:spLocks noGrp="1"/>
          </p:cNvSpPr>
          <p:nvPr/>
        </p:nvSpPr>
        <p:spPr>
          <a:xfrm>
            <a:off x="6334125" y="3667125"/>
            <a:ext cx="4953000" cy="9144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Fits activity around work and commuting; already has an iPhone. App language and routine fit require validation.</a:t>
            </a:r>
          </a:p>
        </p:txBody>
      </p:sp>
      <p:sp>
        <p:nvSpPr>
          <p:cNvPr id="13" name="ASSUMED PAIN AND WORKAROUND">
            <a:extLst>
              <a:ext uri="{FF2B5EF4-FFF2-40B4-BE49-F238E27FC236}">
                <a16:creationId xmlns:a16="http://schemas.microsoft.com/office/drawing/2014/main" id="{B246C298-CC04-4A91-83C6-190CA11FE378}"/>
              </a:ext>
            </a:extLst>
          </p:cNvPr>
          <p:cNvSpPr>
            <a:spLocks noGrp="1"/>
          </p:cNvSpPr>
          <p:nvPr/>
        </p:nvSpPr>
        <p:spPr>
          <a:xfrm>
            <a:off x="647700" y="4829175"/>
            <a:ext cx="4619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ASSUMED PAIN AND WORKAROUND</a:t>
            </a:r>
          </a:p>
        </p:txBody>
      </p:sp>
      <p:sp>
        <p:nvSpPr>
          <p:cNvPr id="14" name="May check a tracker occasionally yet struggle to return consistently. Interviews must conf">
            <a:extLst>
              <a:ext uri="{FF2B5EF4-FFF2-40B4-BE49-F238E27FC236}">
                <a16:creationId xmlns:a16="http://schemas.microsoft.com/office/drawing/2014/main" id="{72F724E9-65D9-45AD-B1AA-0B87594E0409}"/>
              </a:ext>
            </a:extLst>
          </p:cNvPr>
          <p:cNvSpPr>
            <a:spLocks noGrp="1"/>
          </p:cNvSpPr>
          <p:nvPr/>
        </p:nvSpPr>
        <p:spPr>
          <a:xfrm>
            <a:off x="647700" y="5153025"/>
            <a:ext cx="4619625" cy="932688"/>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May check a tracker occasionally yet struggle to return consistently. Interviews must confirm or reject this pattern.</a:t>
            </a:r>
          </a:p>
        </p:txBody>
      </p:sp>
      <p:sp>
        <p:nvSpPr>
          <p:cNvPr id="15" name="DESIGN IMPLICATION">
            <a:extLst>
              <a:ext uri="{FF2B5EF4-FFF2-40B4-BE49-F238E27FC236}">
                <a16:creationId xmlns:a16="http://schemas.microsoft.com/office/drawing/2014/main" id="{2E3C6031-3811-4ADF-B0DA-E0AEE27C1BB1}"/>
              </a:ext>
            </a:extLst>
          </p:cNvPr>
          <p:cNvSpPr>
            <a:spLocks noGrp="1"/>
          </p:cNvSpPr>
          <p:nvPr/>
        </p:nvSpPr>
        <p:spPr>
          <a:xfrm>
            <a:off x="6334125" y="4829175"/>
            <a:ext cx="4953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DESIGN IMPLICATION</a:t>
            </a:r>
          </a:p>
        </p:txBody>
      </p:sp>
      <p:sp>
        <p:nvSpPr>
          <p:cNvPr id="16" name="Test one clear next action, an honest data state and optional consent before adding more i">
            <a:extLst>
              <a:ext uri="{FF2B5EF4-FFF2-40B4-BE49-F238E27FC236}">
                <a16:creationId xmlns:a16="http://schemas.microsoft.com/office/drawing/2014/main" id="{26CACACE-5E9B-49A1-94E6-F3982C8EA5DC}"/>
              </a:ext>
            </a:extLst>
          </p:cNvPr>
          <p:cNvSpPr>
            <a:spLocks noGrp="1"/>
          </p:cNvSpPr>
          <p:nvPr/>
        </p:nvSpPr>
        <p:spPr>
          <a:xfrm>
            <a:off x="6334125" y="5153025"/>
            <a:ext cx="4953000" cy="932688"/>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Test one clear next action, an honest data state and optional consent before adding more incentives.</a:t>
            </a:r>
          </a:p>
        </p:txBody>
      </p:sp>
    </p:spTree>
    <p:extLst>
      <p:ext uri="{BB962C8B-B14F-4D97-AF65-F5344CB8AC3E}">
        <p14:creationId xmlns:p14="http://schemas.microsoft.com/office/powerpoint/2010/main" val="1188574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6" name="RESEARCH REPORT">
            <a:extLst>
              <a:ext uri="{FF2B5EF4-FFF2-40B4-BE49-F238E27FC236}">
                <a16:creationId xmlns:a16="http://schemas.microsoft.com/office/drawing/2014/main" id="{18BF59F5-4F58-4783-AFB5-6266D2B330AB}"/>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RESEARCH REPORT</a:t>
            </a:r>
          </a:p>
        </p:txBody>
      </p:sp>
      <p:sp>
        <p:nvSpPr>
          <p:cNvPr id="2" name="Proposed scenario and customer journey">
            <a:extLst>
              <a:ext uri="{FF2B5EF4-FFF2-40B4-BE49-F238E27FC236}">
                <a16:creationId xmlns:a16="http://schemas.microsoft.com/office/drawing/2014/main" id="{DB572956-D861-4AF5-AB98-459863BD17E4}"/>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Charter"/>
                <a:ea typeface="Charter"/>
                <a:cs typeface="Charter"/>
              </a:defRPr>
            </a:pPr>
            <a:r>
              <a:rPr kumimoji="0" sz="2925" b="1" i="0" u="none" strike="noStrike" kern="1200" cap="none" spc="0" normalizeH="0" baseline="0" noProof="0">
                <a:ln>
                  <a:noFill/>
                </a:ln>
                <a:solidFill>
                  <a:srgbClr val="123047"/>
                </a:solidFill>
                <a:effectLst/>
                <a:uLnTx/>
                <a:uFillTx/>
                <a:latin typeface="Charter"/>
                <a:ea typeface="Charter"/>
                <a:cs typeface="Charter"/>
              </a:rPr>
              <a:t>Proposed scenario and customer journey</a:t>
            </a:r>
          </a:p>
        </p:txBody>
      </p:sp>
      <p:sp>
        <p:nvSpPr>
          <p:cNvPr id="3" name="Rectangle 2">
            <a:extLst>
              <a:ext uri="{FF2B5EF4-FFF2-40B4-BE49-F238E27FC236}">
                <a16:creationId xmlns:a16="http://schemas.microsoft.com/office/drawing/2014/main" id="{43241C5C-0FF9-420B-A768-3B7DA85C1F7E}"/>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8B641B89-D389-40BE-8D7B-F654D9A54AE8}"/>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COMM7115  ·  BUSINESS PROPOSAL RESEARCH</a:t>
            </a:r>
          </a:p>
        </p:txBody>
      </p:sp>
      <p:sp>
        <p:nvSpPr>
          <p:cNvPr id="5" name="10   /   2:00">
            <a:extLst>
              <a:ext uri="{FF2B5EF4-FFF2-40B4-BE49-F238E27FC236}">
                <a16:creationId xmlns:a16="http://schemas.microsoft.com/office/drawing/2014/main" id="{90022D84-3BF4-472D-871E-9E386FDE5412}"/>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10   /   2:00</a:t>
            </a:r>
          </a:p>
        </p:txBody>
      </p:sp>
      <p:sp>
        <p:nvSpPr>
          <p:cNvPr id="6" name="HYPOTHESIS · A desk-based adult wants to restart a walking routine during a workday break.">
            <a:extLst>
              <a:ext uri="{FF2B5EF4-FFF2-40B4-BE49-F238E27FC236}">
                <a16:creationId xmlns:a16="http://schemas.microsoft.com/office/drawing/2014/main" id="{B590C72C-A614-4E48-98A4-D73B097DFBBF}"/>
              </a:ext>
            </a:extLst>
          </p:cNvPr>
          <p:cNvSpPr>
            <a:spLocks noGrp="1"/>
          </p:cNvSpPr>
          <p:nvPr/>
        </p:nvSpPr>
        <p:spPr>
          <a:xfrm>
            <a:off x="647700" y="1857375"/>
            <a:ext cx="10668000" cy="5238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1">
                <a:solidFill>
                  <a:srgbClr val="123047"/>
                </a:solidFill>
                <a:latin typeface="Charter"/>
                <a:ea typeface="Charter"/>
                <a:cs typeface="Charter"/>
              </a:defRPr>
            </a:pPr>
            <a:r>
              <a:rPr kumimoji="0" sz="1725" b="1" i="0" u="none" strike="noStrike" kern="1200" cap="none" spc="0" normalizeH="0" baseline="0" noProof="0">
                <a:ln>
                  <a:noFill/>
                </a:ln>
                <a:solidFill>
                  <a:srgbClr val="123047"/>
                </a:solidFill>
                <a:effectLst/>
                <a:uLnTx/>
                <a:uFillTx/>
                <a:latin typeface="Charter"/>
                <a:ea typeface="Charter"/>
                <a:cs typeface="Charter"/>
              </a:rPr>
              <a:t>HYPOTHESIS · A desk-based adult wants to restart a walking routine during a workday break.</a:t>
            </a:r>
          </a:p>
        </p:txBody>
      </p:sp>
      <p:sp>
        <p:nvSpPr>
          <p:cNvPr id="7" name="TRIGGER">
            <a:extLst>
              <a:ext uri="{FF2B5EF4-FFF2-40B4-BE49-F238E27FC236}">
                <a16:creationId xmlns:a16="http://schemas.microsoft.com/office/drawing/2014/main" id="{B288C5D3-020E-4E82-A0A4-33E7B9270017}"/>
              </a:ext>
            </a:extLst>
          </p:cNvPr>
          <p:cNvSpPr>
            <a:spLocks noGrp="1"/>
          </p:cNvSpPr>
          <p:nvPr/>
        </p:nvSpPr>
        <p:spPr>
          <a:xfrm>
            <a:off x="647700" y="2552700"/>
            <a:ext cx="2505075" cy="2476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TRIGGER</a:t>
            </a:r>
          </a:p>
        </p:txBody>
      </p:sp>
      <p:sp>
        <p:nvSpPr>
          <p:cNvPr id="8" name="Rectangle 7">
            <a:extLst>
              <a:ext uri="{FF2B5EF4-FFF2-40B4-BE49-F238E27FC236}">
                <a16:creationId xmlns:a16="http://schemas.microsoft.com/office/drawing/2014/main" id="{A7A6BD91-A172-42D8-8FCA-DFDB694543E7}"/>
              </a:ext>
            </a:extLst>
          </p:cNvPr>
          <p:cNvSpPr>
            <a:spLocks noGrp="1"/>
          </p:cNvSpPr>
          <p:nvPr/>
        </p:nvSpPr>
        <p:spPr>
          <a:xfrm>
            <a:off x="647700" y="2895600"/>
            <a:ext cx="2428875" cy="19050"/>
          </a:xfrm>
          <a:prstGeom prst="rect">
            <a:avLst/>
          </a:prstGeom>
          <a:solidFill>
            <a:srgbClr val="13756E"/>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9" name="Action Notices a break after a long desk session.">
            <a:extLst>
              <a:ext uri="{FF2B5EF4-FFF2-40B4-BE49-F238E27FC236}">
                <a16:creationId xmlns:a16="http://schemas.microsoft.com/office/drawing/2014/main" id="{6736FB05-C7F0-4C39-9044-E9BC65B60028}"/>
              </a:ext>
            </a:extLst>
          </p:cNvPr>
          <p:cNvSpPr>
            <a:spLocks noGrp="1"/>
          </p:cNvSpPr>
          <p:nvPr/>
        </p:nvSpPr>
        <p:spPr>
          <a:xfrm>
            <a:off x="647700" y="3114675"/>
            <a:ext cx="2428875" cy="109728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Action</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Notices a break after a long desk session.</a:t>
            </a:r>
          </a:p>
        </p:txBody>
      </p:sp>
      <p:sp>
        <p:nvSpPr>
          <p:cNvPr id="10" name="Test assumption Does time pressure disrupt the routine?">
            <a:extLst>
              <a:ext uri="{FF2B5EF4-FFF2-40B4-BE49-F238E27FC236}">
                <a16:creationId xmlns:a16="http://schemas.microsoft.com/office/drawing/2014/main" id="{EB8D0497-6546-43FB-B6D2-86D1B087CDD1}"/>
              </a:ext>
            </a:extLst>
          </p:cNvPr>
          <p:cNvSpPr>
            <a:spLocks noGrp="1"/>
          </p:cNvSpPr>
          <p:nvPr/>
        </p:nvSpPr>
        <p:spPr>
          <a:xfrm>
            <a:off x="647700" y="4248150"/>
            <a:ext cx="2428875" cy="9429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163449"/>
                </a:solidFill>
                <a:latin typeface="Charter"/>
                <a:ea typeface="Charter"/>
                <a:cs typeface="Charter"/>
              </a:defRPr>
            </a:pPr>
            <a:r>
              <a:rPr kumimoji="0" sz="1425" b="0" i="0" u="none" strike="noStrike" kern="1200" cap="none" spc="0" normalizeH="0" baseline="0" noProof="0">
                <a:ln>
                  <a:noFill/>
                </a:ln>
                <a:solidFill>
                  <a:srgbClr val="163449"/>
                </a:solidFill>
                <a:effectLst/>
                <a:uLnTx/>
                <a:uFillTx/>
                <a:latin typeface="Charter"/>
                <a:ea typeface="Charter"/>
                <a:cs typeface="Charter"/>
              </a:rPr>
              <a:t>Test assumption</a:t>
            </a:r>
          </a:p>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163449"/>
                </a:solidFill>
                <a:latin typeface="Charter"/>
                <a:ea typeface="Charter"/>
                <a:cs typeface="Charter"/>
              </a:defRPr>
            </a:pPr>
            <a:r>
              <a:rPr kumimoji="0" sz="1425" b="0" i="0" u="none" strike="noStrike" kern="1200" cap="none" spc="0" normalizeH="0" baseline="0" noProof="0">
                <a:ln>
                  <a:noFill/>
                </a:ln>
                <a:solidFill>
                  <a:srgbClr val="163449"/>
                </a:solidFill>
                <a:effectLst/>
                <a:uLnTx/>
                <a:uFillTx/>
                <a:latin typeface="Charter"/>
                <a:ea typeface="Charter"/>
                <a:cs typeface="Charter"/>
              </a:rPr>
              <a:t>Does time pressure disrupt the routine?</a:t>
            </a:r>
          </a:p>
        </p:txBody>
      </p:sp>
      <p:sp>
        <p:nvSpPr>
          <p:cNvPr id="11" name="SEARCH">
            <a:extLst>
              <a:ext uri="{FF2B5EF4-FFF2-40B4-BE49-F238E27FC236}">
                <a16:creationId xmlns:a16="http://schemas.microsoft.com/office/drawing/2014/main" id="{69BEDB25-3BC7-48E7-B62F-C0F273005B15}"/>
              </a:ext>
            </a:extLst>
          </p:cNvPr>
          <p:cNvSpPr>
            <a:spLocks noGrp="1"/>
          </p:cNvSpPr>
          <p:nvPr/>
        </p:nvSpPr>
        <p:spPr>
          <a:xfrm>
            <a:off x="3381375" y="2552700"/>
            <a:ext cx="2505075" cy="2476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SEARCH</a:t>
            </a:r>
          </a:p>
        </p:txBody>
      </p:sp>
      <p:sp>
        <p:nvSpPr>
          <p:cNvPr id="12" name="Rectangle 11">
            <a:extLst>
              <a:ext uri="{FF2B5EF4-FFF2-40B4-BE49-F238E27FC236}">
                <a16:creationId xmlns:a16="http://schemas.microsoft.com/office/drawing/2014/main" id="{32247520-315E-488E-AC84-79D15153C37E}"/>
              </a:ext>
            </a:extLst>
          </p:cNvPr>
          <p:cNvSpPr>
            <a:spLocks noGrp="1"/>
          </p:cNvSpPr>
          <p:nvPr/>
        </p:nvSpPr>
        <p:spPr>
          <a:xfrm>
            <a:off x="3381375" y="2895600"/>
            <a:ext cx="2428875" cy="19050"/>
          </a:xfrm>
          <a:prstGeom prst="rect">
            <a:avLst/>
          </a:prstGeom>
          <a:solidFill>
            <a:srgbClr val="13756E"/>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3" name="Action Checks an existing activity record and today’s goal.">
            <a:extLst>
              <a:ext uri="{FF2B5EF4-FFF2-40B4-BE49-F238E27FC236}">
                <a16:creationId xmlns:a16="http://schemas.microsoft.com/office/drawing/2014/main" id="{A15C77AF-72D8-492F-B6CF-487436A81F77}"/>
              </a:ext>
            </a:extLst>
          </p:cNvPr>
          <p:cNvSpPr>
            <a:spLocks noGrp="1"/>
          </p:cNvSpPr>
          <p:nvPr/>
        </p:nvSpPr>
        <p:spPr>
          <a:xfrm>
            <a:off x="3381375" y="3114675"/>
            <a:ext cx="2428875" cy="109728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Action</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Checks an existing activity record and today’s goal.</a:t>
            </a:r>
          </a:p>
        </p:txBody>
      </p:sp>
      <p:sp>
        <p:nvSpPr>
          <p:cNvPr id="14" name="Test assumption Is another app worth opening?">
            <a:extLst>
              <a:ext uri="{FF2B5EF4-FFF2-40B4-BE49-F238E27FC236}">
                <a16:creationId xmlns:a16="http://schemas.microsoft.com/office/drawing/2014/main" id="{37117713-7E69-4F80-8A1D-8F9D4DA8FE90}"/>
              </a:ext>
            </a:extLst>
          </p:cNvPr>
          <p:cNvSpPr>
            <a:spLocks noGrp="1"/>
          </p:cNvSpPr>
          <p:nvPr/>
        </p:nvSpPr>
        <p:spPr>
          <a:xfrm>
            <a:off x="3381375" y="4248150"/>
            <a:ext cx="2428875" cy="9429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163449"/>
                </a:solidFill>
                <a:latin typeface="Charter"/>
                <a:ea typeface="Charter"/>
                <a:cs typeface="Charter"/>
              </a:defRPr>
            </a:pPr>
            <a:r>
              <a:rPr kumimoji="0" sz="1425" b="0" i="0" u="none" strike="noStrike" kern="1200" cap="none" spc="0" normalizeH="0" baseline="0" noProof="0">
                <a:ln>
                  <a:noFill/>
                </a:ln>
                <a:solidFill>
                  <a:srgbClr val="163449"/>
                </a:solidFill>
                <a:effectLst/>
                <a:uLnTx/>
                <a:uFillTx/>
                <a:latin typeface="Charter"/>
                <a:ea typeface="Charter"/>
                <a:cs typeface="Charter"/>
              </a:rPr>
              <a:t>Test assumption</a:t>
            </a:r>
          </a:p>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163449"/>
                </a:solidFill>
                <a:latin typeface="Charter"/>
                <a:ea typeface="Charter"/>
                <a:cs typeface="Charter"/>
              </a:defRPr>
            </a:pPr>
            <a:r>
              <a:rPr kumimoji="0" sz="1425" b="0" i="0" u="none" strike="noStrike" kern="1200" cap="none" spc="0" normalizeH="0" baseline="0" noProof="0">
                <a:ln>
                  <a:noFill/>
                </a:ln>
                <a:solidFill>
                  <a:srgbClr val="163449"/>
                </a:solidFill>
                <a:effectLst/>
                <a:uLnTx/>
                <a:uFillTx/>
                <a:latin typeface="Charter"/>
                <a:ea typeface="Charter"/>
                <a:cs typeface="Charter"/>
              </a:rPr>
              <a:t>Is another app worth opening?</a:t>
            </a:r>
          </a:p>
        </p:txBody>
      </p:sp>
      <p:sp>
        <p:nvSpPr>
          <p:cNvPr id="15" name="ATTEMPT">
            <a:extLst>
              <a:ext uri="{FF2B5EF4-FFF2-40B4-BE49-F238E27FC236}">
                <a16:creationId xmlns:a16="http://schemas.microsoft.com/office/drawing/2014/main" id="{23EEF503-FE2C-44CC-8B13-3D4B9FDC6597}"/>
              </a:ext>
            </a:extLst>
          </p:cNvPr>
          <p:cNvSpPr>
            <a:spLocks noGrp="1"/>
          </p:cNvSpPr>
          <p:nvPr/>
        </p:nvSpPr>
        <p:spPr>
          <a:xfrm>
            <a:off x="6115050" y="2552700"/>
            <a:ext cx="2505075" cy="2476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ATTEMPT</a:t>
            </a:r>
          </a:p>
        </p:txBody>
      </p:sp>
      <p:sp>
        <p:nvSpPr>
          <p:cNvPr id="16" name="Rectangle 15">
            <a:extLst>
              <a:ext uri="{FF2B5EF4-FFF2-40B4-BE49-F238E27FC236}">
                <a16:creationId xmlns:a16="http://schemas.microsoft.com/office/drawing/2014/main" id="{D369C5B5-6A4E-43ED-B363-52D1DC9A6ED9}"/>
              </a:ext>
            </a:extLst>
          </p:cNvPr>
          <p:cNvSpPr>
            <a:spLocks noGrp="1"/>
          </p:cNvSpPr>
          <p:nvPr/>
        </p:nvSpPr>
        <p:spPr>
          <a:xfrm>
            <a:off x="6115050" y="2895600"/>
            <a:ext cx="2428875" cy="19050"/>
          </a:xfrm>
          <a:prstGeom prst="rect">
            <a:avLst/>
          </a:prstGeom>
          <a:solidFill>
            <a:srgbClr val="13756E"/>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7" name="Action Reads a mission; chooses whether to read and sync data.">
            <a:extLst>
              <a:ext uri="{FF2B5EF4-FFF2-40B4-BE49-F238E27FC236}">
                <a16:creationId xmlns:a16="http://schemas.microsoft.com/office/drawing/2014/main" id="{6E5D8096-6F13-4B39-87E3-F9E17396286B}"/>
              </a:ext>
            </a:extLst>
          </p:cNvPr>
          <p:cNvSpPr>
            <a:spLocks noGrp="1"/>
          </p:cNvSpPr>
          <p:nvPr/>
        </p:nvSpPr>
        <p:spPr>
          <a:xfrm>
            <a:off x="6115050" y="3114675"/>
            <a:ext cx="2428875" cy="109728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Action</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Reads a mission; chooses whether to read and sync data.</a:t>
            </a:r>
          </a:p>
        </p:txBody>
      </p:sp>
      <p:sp>
        <p:nvSpPr>
          <p:cNvPr id="18" name="Test assumption Are data choices and point rules clear?">
            <a:extLst>
              <a:ext uri="{FF2B5EF4-FFF2-40B4-BE49-F238E27FC236}">
                <a16:creationId xmlns:a16="http://schemas.microsoft.com/office/drawing/2014/main" id="{1E7D8F90-474B-44CD-917D-5D2820AE7915}"/>
              </a:ext>
            </a:extLst>
          </p:cNvPr>
          <p:cNvSpPr>
            <a:spLocks noGrp="1"/>
          </p:cNvSpPr>
          <p:nvPr/>
        </p:nvSpPr>
        <p:spPr>
          <a:xfrm>
            <a:off x="6115050" y="4248150"/>
            <a:ext cx="2428875" cy="9429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163449"/>
                </a:solidFill>
                <a:latin typeface="Charter"/>
                <a:ea typeface="Charter"/>
                <a:cs typeface="Charter"/>
              </a:defRPr>
            </a:pPr>
            <a:r>
              <a:rPr kumimoji="0" sz="1425" b="0" i="0" u="none" strike="noStrike" kern="1200" cap="none" spc="0" normalizeH="0" baseline="0" noProof="0">
                <a:ln>
                  <a:noFill/>
                </a:ln>
                <a:solidFill>
                  <a:srgbClr val="163449"/>
                </a:solidFill>
                <a:effectLst/>
                <a:uLnTx/>
                <a:uFillTx/>
                <a:latin typeface="Charter"/>
                <a:ea typeface="Charter"/>
                <a:cs typeface="Charter"/>
              </a:rPr>
              <a:t>Test assumption</a:t>
            </a:r>
          </a:p>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163449"/>
                </a:solidFill>
                <a:latin typeface="Charter"/>
                <a:ea typeface="Charter"/>
                <a:cs typeface="Charter"/>
              </a:defRPr>
            </a:pPr>
            <a:r>
              <a:rPr kumimoji="0" sz="1425" b="0" i="0" u="none" strike="noStrike" kern="1200" cap="none" spc="0" normalizeH="0" baseline="0" noProof="0">
                <a:ln>
                  <a:noFill/>
                </a:ln>
                <a:solidFill>
                  <a:srgbClr val="163449"/>
                </a:solidFill>
                <a:effectLst/>
                <a:uLnTx/>
                <a:uFillTx/>
                <a:latin typeface="Charter"/>
                <a:ea typeface="Charter"/>
                <a:cs typeface="Charter"/>
              </a:rPr>
              <a:t>Are data choices and point rules clear?</a:t>
            </a:r>
          </a:p>
        </p:txBody>
      </p:sp>
      <p:sp>
        <p:nvSpPr>
          <p:cNvPr id="19" name="OUTCOME">
            <a:extLst>
              <a:ext uri="{FF2B5EF4-FFF2-40B4-BE49-F238E27FC236}">
                <a16:creationId xmlns:a16="http://schemas.microsoft.com/office/drawing/2014/main" id="{CECA0EE2-FAFC-42B7-AB56-39693BB79A50}"/>
              </a:ext>
            </a:extLst>
          </p:cNvPr>
          <p:cNvSpPr>
            <a:spLocks noGrp="1"/>
          </p:cNvSpPr>
          <p:nvPr/>
        </p:nvSpPr>
        <p:spPr>
          <a:xfrm>
            <a:off x="8848725" y="2552700"/>
            <a:ext cx="2505075" cy="2476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OUTCOME</a:t>
            </a:r>
          </a:p>
        </p:txBody>
      </p:sp>
      <p:sp>
        <p:nvSpPr>
          <p:cNvPr id="20" name="Rectangle 19">
            <a:extLst>
              <a:ext uri="{FF2B5EF4-FFF2-40B4-BE49-F238E27FC236}">
                <a16:creationId xmlns:a16="http://schemas.microsoft.com/office/drawing/2014/main" id="{56E03082-18B9-4462-931A-8EED3530FABC}"/>
              </a:ext>
            </a:extLst>
          </p:cNvPr>
          <p:cNvSpPr>
            <a:spLocks noGrp="1"/>
          </p:cNvSpPr>
          <p:nvPr/>
        </p:nvSpPr>
        <p:spPr>
          <a:xfrm>
            <a:off x="8848725" y="2895600"/>
            <a:ext cx="2428875" cy="19050"/>
          </a:xfrm>
          <a:prstGeom prst="rect">
            <a:avLst/>
          </a:prstGeom>
          <a:solidFill>
            <a:srgbClr val="13756E"/>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1" name="Action Sees posted or pending points; decides whether to return.">
            <a:extLst>
              <a:ext uri="{FF2B5EF4-FFF2-40B4-BE49-F238E27FC236}">
                <a16:creationId xmlns:a16="http://schemas.microsoft.com/office/drawing/2014/main" id="{D2700AD5-B4D1-49FB-A13E-846A1570A9DE}"/>
              </a:ext>
            </a:extLst>
          </p:cNvPr>
          <p:cNvSpPr>
            <a:spLocks noGrp="1"/>
          </p:cNvSpPr>
          <p:nvPr/>
        </p:nvSpPr>
        <p:spPr>
          <a:xfrm>
            <a:off x="8848725" y="3114675"/>
            <a:ext cx="2428875" cy="109728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Action</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Sees posted or pending points; decides whether to return.</a:t>
            </a:r>
          </a:p>
        </p:txBody>
      </p:sp>
      <p:sp>
        <p:nvSpPr>
          <p:cNvPr id="22" name="Test assumption Does feedback matter without cash value?">
            <a:extLst>
              <a:ext uri="{FF2B5EF4-FFF2-40B4-BE49-F238E27FC236}">
                <a16:creationId xmlns:a16="http://schemas.microsoft.com/office/drawing/2014/main" id="{33398897-9D73-4C54-BBED-11EA9CD2D290}"/>
              </a:ext>
            </a:extLst>
          </p:cNvPr>
          <p:cNvSpPr>
            <a:spLocks noGrp="1"/>
          </p:cNvSpPr>
          <p:nvPr/>
        </p:nvSpPr>
        <p:spPr>
          <a:xfrm>
            <a:off x="8848725" y="4248150"/>
            <a:ext cx="2428875" cy="9429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163449"/>
                </a:solidFill>
                <a:latin typeface="Charter"/>
                <a:ea typeface="Charter"/>
                <a:cs typeface="Charter"/>
              </a:defRPr>
            </a:pPr>
            <a:r>
              <a:rPr kumimoji="0" sz="1425" b="0" i="0" u="none" strike="noStrike" kern="1200" cap="none" spc="0" normalizeH="0" baseline="0" noProof="0">
                <a:ln>
                  <a:noFill/>
                </a:ln>
                <a:solidFill>
                  <a:srgbClr val="163449"/>
                </a:solidFill>
                <a:effectLst/>
                <a:uLnTx/>
                <a:uFillTx/>
                <a:latin typeface="Charter"/>
                <a:ea typeface="Charter"/>
                <a:cs typeface="Charter"/>
              </a:rPr>
              <a:t>Test assumption</a:t>
            </a:r>
          </a:p>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163449"/>
                </a:solidFill>
                <a:latin typeface="Charter"/>
                <a:ea typeface="Charter"/>
                <a:cs typeface="Charter"/>
              </a:defRPr>
            </a:pPr>
            <a:r>
              <a:rPr kumimoji="0" sz="1425" b="0" i="0" u="none" strike="noStrike" kern="1200" cap="none" spc="0" normalizeH="0" baseline="0" noProof="0">
                <a:ln>
                  <a:noFill/>
                </a:ln>
                <a:solidFill>
                  <a:srgbClr val="163449"/>
                </a:solidFill>
                <a:effectLst/>
                <a:uLnTx/>
                <a:uFillTx/>
                <a:latin typeface="Charter"/>
                <a:ea typeface="Charter"/>
                <a:cs typeface="Charter"/>
              </a:rPr>
              <a:t>Does feedback matter without cash value?</a:t>
            </a:r>
          </a:p>
        </p:txBody>
      </p:sp>
      <p:sp>
        <p:nvSpPr>
          <p:cNvPr id="23" name="Rectangle 22">
            <a:extLst>
              <a:ext uri="{FF2B5EF4-FFF2-40B4-BE49-F238E27FC236}">
                <a16:creationId xmlns:a16="http://schemas.microsoft.com/office/drawing/2014/main" id="{FC62E571-0EDB-4A42-9769-E2F314D4A9F5}"/>
              </a:ext>
            </a:extLst>
          </p:cNvPr>
          <p:cNvSpPr>
            <a:spLocks noGrp="1"/>
          </p:cNvSpPr>
          <p:nvPr/>
        </p:nvSpPr>
        <p:spPr>
          <a:xfrm>
            <a:off x="647700" y="543877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4" name="PRIORITY TOUCHPOINT">
            <a:extLst>
              <a:ext uri="{FF2B5EF4-FFF2-40B4-BE49-F238E27FC236}">
                <a16:creationId xmlns:a16="http://schemas.microsoft.com/office/drawing/2014/main" id="{B00CCBE5-4C6F-438C-8755-B1E060DA226C}"/>
              </a:ext>
            </a:extLst>
          </p:cNvPr>
          <p:cNvSpPr>
            <a:spLocks noGrp="1"/>
          </p:cNvSpPr>
          <p:nvPr/>
        </p:nvSpPr>
        <p:spPr>
          <a:xfrm>
            <a:off x="647700" y="5629275"/>
            <a:ext cx="371475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PRIORITY TOUCHPOINT</a:t>
            </a:r>
          </a:p>
        </p:txBody>
      </p:sp>
      <p:sp>
        <p:nvSpPr>
          <p:cNvPr id="25" name="Make the first mission and consent consequences understandable; test without coaching.">
            <a:extLst>
              <a:ext uri="{FF2B5EF4-FFF2-40B4-BE49-F238E27FC236}">
                <a16:creationId xmlns:a16="http://schemas.microsoft.com/office/drawing/2014/main" id="{F17264AD-9992-45B1-9B80-B18B80CC30C9}"/>
              </a:ext>
            </a:extLst>
          </p:cNvPr>
          <p:cNvSpPr>
            <a:spLocks noGrp="1"/>
          </p:cNvSpPr>
          <p:nvPr/>
        </p:nvSpPr>
        <p:spPr>
          <a:xfrm>
            <a:off x="4333875" y="5581650"/>
            <a:ext cx="7000875" cy="5429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1">
                <a:solidFill>
                  <a:srgbClr val="163449"/>
                </a:solidFill>
                <a:latin typeface="Charter"/>
                <a:ea typeface="Charter"/>
                <a:cs typeface="Charter"/>
              </a:defRPr>
            </a:pPr>
            <a:r>
              <a:rPr kumimoji="0" sz="1575" b="1" i="0" u="none" strike="noStrike" kern="1200" cap="none" spc="0" normalizeH="0" baseline="0" noProof="0">
                <a:ln>
                  <a:noFill/>
                </a:ln>
                <a:solidFill>
                  <a:srgbClr val="163449"/>
                </a:solidFill>
                <a:effectLst/>
                <a:uLnTx/>
                <a:uFillTx/>
                <a:latin typeface="Charter"/>
                <a:ea typeface="Charter"/>
                <a:cs typeface="Charter"/>
              </a:rPr>
              <a:t>Make the first mission and consent consequences understandable; test without coaching.</a:t>
            </a:r>
          </a:p>
        </p:txBody>
      </p:sp>
    </p:spTree>
    <p:extLst>
      <p:ext uri="{BB962C8B-B14F-4D97-AF65-F5344CB8AC3E}">
        <p14:creationId xmlns:p14="http://schemas.microsoft.com/office/powerpoint/2010/main" val="1835199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4" name="RESEARCH REPORT">
            <a:extLst>
              <a:ext uri="{FF2B5EF4-FFF2-40B4-BE49-F238E27FC236}">
                <a16:creationId xmlns:a16="http://schemas.microsoft.com/office/drawing/2014/main" id="{58CD8FD5-C91C-46A6-8867-DD7215F112B2}"/>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RESEARCH REPORT</a:t>
            </a:r>
          </a:p>
        </p:txBody>
      </p:sp>
      <p:sp>
        <p:nvSpPr>
          <p:cNvPr id="2" name="Pain hypotheses and opportunity choice">
            <a:extLst>
              <a:ext uri="{FF2B5EF4-FFF2-40B4-BE49-F238E27FC236}">
                <a16:creationId xmlns:a16="http://schemas.microsoft.com/office/drawing/2014/main" id="{81C52E79-F5F3-4ABE-9468-467CFA866A1B}"/>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Charter"/>
                <a:ea typeface="Charter"/>
                <a:cs typeface="Charter"/>
              </a:defRPr>
            </a:pPr>
            <a:r>
              <a:rPr kumimoji="0" sz="2925" b="1" i="0" u="none" strike="noStrike" kern="1200" cap="none" spc="0" normalizeH="0" baseline="0" noProof="0">
                <a:ln>
                  <a:noFill/>
                </a:ln>
                <a:solidFill>
                  <a:srgbClr val="123047"/>
                </a:solidFill>
                <a:effectLst/>
                <a:uLnTx/>
                <a:uFillTx/>
                <a:latin typeface="Charter"/>
                <a:ea typeface="Charter"/>
                <a:cs typeface="Charter"/>
              </a:rPr>
              <a:t>Pain hypotheses and opportunity choice</a:t>
            </a:r>
          </a:p>
        </p:txBody>
      </p:sp>
      <p:sp>
        <p:nvSpPr>
          <p:cNvPr id="3" name="Rectangle 2">
            <a:extLst>
              <a:ext uri="{FF2B5EF4-FFF2-40B4-BE49-F238E27FC236}">
                <a16:creationId xmlns:a16="http://schemas.microsoft.com/office/drawing/2014/main" id="{80F45AED-5150-455A-B924-A94008B11C36}"/>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461A6291-6B43-4634-B2C9-01451CAC382F}"/>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COMM7115  ·  BUSINESS PROPOSAL RESEARCH</a:t>
            </a:r>
          </a:p>
        </p:txBody>
      </p:sp>
      <p:sp>
        <p:nvSpPr>
          <p:cNvPr id="5" name="11   /   1:30">
            <a:extLst>
              <a:ext uri="{FF2B5EF4-FFF2-40B4-BE49-F238E27FC236}">
                <a16:creationId xmlns:a16="http://schemas.microsoft.com/office/drawing/2014/main" id="{7E6F97B3-9D3A-43EF-9D70-5205A66D175B}"/>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11   /   1:30</a:t>
            </a:r>
          </a:p>
        </p:txBody>
      </p:sp>
      <p:sp>
        <p:nvSpPr>
          <p:cNvPr id="6" name="PAIN HYPOTHESIS">
            <a:extLst>
              <a:ext uri="{FF2B5EF4-FFF2-40B4-BE49-F238E27FC236}">
                <a16:creationId xmlns:a16="http://schemas.microsoft.com/office/drawing/2014/main" id="{9D999157-277D-4A90-9BC3-4BC99DDD5DCF}"/>
              </a:ext>
            </a:extLst>
          </p:cNvPr>
          <p:cNvSpPr>
            <a:spLocks noGrp="1"/>
          </p:cNvSpPr>
          <p:nvPr/>
        </p:nvSpPr>
        <p:spPr>
          <a:xfrm>
            <a:off x="647700" y="1933575"/>
            <a:ext cx="3857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PAIN HYPOTHESIS</a:t>
            </a:r>
          </a:p>
        </p:txBody>
      </p:sp>
      <p:sp>
        <p:nvSpPr>
          <p:cNvPr id="7" name="RESEARCH BASIS">
            <a:extLst>
              <a:ext uri="{FF2B5EF4-FFF2-40B4-BE49-F238E27FC236}">
                <a16:creationId xmlns:a16="http://schemas.microsoft.com/office/drawing/2014/main" id="{30F1490D-612A-49F6-8D70-9512B4EE0425}"/>
              </a:ext>
            </a:extLst>
          </p:cNvPr>
          <p:cNvSpPr>
            <a:spLocks noGrp="1"/>
          </p:cNvSpPr>
          <p:nvPr/>
        </p:nvSpPr>
        <p:spPr>
          <a:xfrm>
            <a:off x="4667250" y="1933575"/>
            <a:ext cx="338137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RESEARCH BASIS</a:t>
            </a:r>
          </a:p>
        </p:txBody>
      </p:sp>
      <p:sp>
        <p:nvSpPr>
          <p:cNvPr id="8" name="OPPORTUNITY">
            <a:extLst>
              <a:ext uri="{FF2B5EF4-FFF2-40B4-BE49-F238E27FC236}">
                <a16:creationId xmlns:a16="http://schemas.microsoft.com/office/drawing/2014/main" id="{E72E0EF6-B6A5-454B-8CC6-EE64C5A2EE69}"/>
              </a:ext>
            </a:extLst>
          </p:cNvPr>
          <p:cNvSpPr>
            <a:spLocks noGrp="1"/>
          </p:cNvSpPr>
          <p:nvPr/>
        </p:nvSpPr>
        <p:spPr>
          <a:xfrm>
            <a:off x="8305800" y="1933575"/>
            <a:ext cx="3095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OPPORTUNITY</a:t>
            </a:r>
          </a:p>
        </p:txBody>
      </p:sp>
      <p:sp>
        <p:nvSpPr>
          <p:cNvPr id="9" name="Rectangle 8">
            <a:extLst>
              <a:ext uri="{FF2B5EF4-FFF2-40B4-BE49-F238E27FC236}">
                <a16:creationId xmlns:a16="http://schemas.microsoft.com/office/drawing/2014/main" id="{57D1D9B3-C166-4493-9C68-F309D67D1C61}"/>
              </a:ext>
            </a:extLst>
          </p:cNvPr>
          <p:cNvSpPr>
            <a:spLocks noGrp="1"/>
          </p:cNvSpPr>
          <p:nvPr/>
        </p:nvSpPr>
        <p:spPr>
          <a:xfrm>
            <a:off x="647700" y="224790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0" name="Activity records may not create a repeatable routine.">
            <a:extLst>
              <a:ext uri="{FF2B5EF4-FFF2-40B4-BE49-F238E27FC236}">
                <a16:creationId xmlns:a16="http://schemas.microsoft.com/office/drawing/2014/main" id="{B1213639-02DE-4D4C-B3D5-B15F2831D803}"/>
              </a:ext>
            </a:extLst>
          </p:cNvPr>
          <p:cNvSpPr>
            <a:spLocks noGrp="1"/>
          </p:cNvSpPr>
          <p:nvPr/>
        </p:nvSpPr>
        <p:spPr>
          <a:xfrm>
            <a:off x="647700" y="2352675"/>
            <a:ext cx="3762375" cy="9144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Charter"/>
                <a:ea typeface="Charter"/>
                <a:cs typeface="Charter"/>
              </a:defRPr>
            </a:pPr>
            <a:r>
              <a:rPr kumimoji="0" sz="1650" b="0" i="0" u="none" strike="noStrike" kern="1200" cap="none" spc="0" normalizeH="0" baseline="0" noProof="0">
                <a:ln>
                  <a:noFill/>
                </a:ln>
                <a:solidFill>
                  <a:srgbClr val="163449"/>
                </a:solidFill>
                <a:effectLst/>
                <a:uLnTx/>
                <a:uFillTx/>
                <a:latin typeface="Charter"/>
                <a:ea typeface="Charter"/>
                <a:cs typeface="Charter"/>
              </a:rPr>
              <a:t>Activity records may not create a repeatable routine.</a:t>
            </a:r>
          </a:p>
        </p:txBody>
      </p:sp>
      <p:sp>
        <p:nvSpPr>
          <p:cNvPr id="11" name="S1–S2 provide context; no interview confirmation yet.">
            <a:extLst>
              <a:ext uri="{FF2B5EF4-FFF2-40B4-BE49-F238E27FC236}">
                <a16:creationId xmlns:a16="http://schemas.microsoft.com/office/drawing/2014/main" id="{C191CB91-177F-4928-941C-4DA0809C3028}"/>
              </a:ext>
            </a:extLst>
          </p:cNvPr>
          <p:cNvSpPr>
            <a:spLocks noGrp="1"/>
          </p:cNvSpPr>
          <p:nvPr/>
        </p:nvSpPr>
        <p:spPr>
          <a:xfrm>
            <a:off x="4667250" y="2352675"/>
            <a:ext cx="3333750" cy="9144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S1–S2 provide context; no interview confirmation yet.</a:t>
            </a:r>
          </a:p>
        </p:txBody>
      </p:sp>
      <p:sp>
        <p:nvSpPr>
          <p:cNvPr id="12" name="Small daily choices and a weekly progress view.">
            <a:extLst>
              <a:ext uri="{FF2B5EF4-FFF2-40B4-BE49-F238E27FC236}">
                <a16:creationId xmlns:a16="http://schemas.microsoft.com/office/drawing/2014/main" id="{5190E694-7860-4AEE-95D7-7221248FA12D}"/>
              </a:ext>
            </a:extLst>
          </p:cNvPr>
          <p:cNvSpPr>
            <a:spLocks noGrp="1"/>
          </p:cNvSpPr>
          <p:nvPr/>
        </p:nvSpPr>
        <p:spPr>
          <a:xfrm>
            <a:off x="8305800" y="2352675"/>
            <a:ext cx="3095625" cy="9144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Small daily choices and a weekly progress view.</a:t>
            </a:r>
          </a:p>
        </p:txBody>
      </p:sp>
      <p:sp>
        <p:nvSpPr>
          <p:cNvPr id="13" name="Rectangle 12">
            <a:extLst>
              <a:ext uri="{FF2B5EF4-FFF2-40B4-BE49-F238E27FC236}">
                <a16:creationId xmlns:a16="http://schemas.microsoft.com/office/drawing/2014/main" id="{2AB1454A-843D-4B0B-BA7D-1EE11D11E60C}"/>
              </a:ext>
            </a:extLst>
          </p:cNvPr>
          <p:cNvSpPr>
            <a:spLocks noGrp="1"/>
          </p:cNvSpPr>
          <p:nvPr/>
        </p:nvSpPr>
        <p:spPr>
          <a:xfrm>
            <a:off x="647700" y="326707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4" name="Users may misunderstand points or data permissions.">
            <a:extLst>
              <a:ext uri="{FF2B5EF4-FFF2-40B4-BE49-F238E27FC236}">
                <a16:creationId xmlns:a16="http://schemas.microsoft.com/office/drawing/2014/main" id="{1645AAF4-4D50-4774-A113-13A1A1682310}"/>
              </a:ext>
            </a:extLst>
          </p:cNvPr>
          <p:cNvSpPr>
            <a:spLocks noGrp="1"/>
          </p:cNvSpPr>
          <p:nvPr/>
        </p:nvSpPr>
        <p:spPr>
          <a:xfrm>
            <a:off x="647700" y="3371850"/>
            <a:ext cx="3762375" cy="9144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Charter"/>
                <a:ea typeface="Charter"/>
                <a:cs typeface="Charter"/>
              </a:defRPr>
            </a:pPr>
            <a:r>
              <a:rPr kumimoji="0" sz="1650" b="0" i="0" u="none" strike="noStrike" kern="1200" cap="none" spc="0" normalizeH="0" baseline="0" noProof="0">
                <a:ln>
                  <a:noFill/>
                </a:ln>
                <a:solidFill>
                  <a:srgbClr val="163449"/>
                </a:solidFill>
                <a:effectLst/>
                <a:uLnTx/>
                <a:uFillTx/>
                <a:latin typeface="Charter"/>
                <a:ea typeface="Charter"/>
                <a:cs typeface="Charter"/>
              </a:rPr>
              <a:t>Users may misunderstand points or data permissions.</a:t>
            </a:r>
          </a:p>
        </p:txBody>
      </p:sp>
      <p:sp>
        <p:nvSpPr>
          <p:cNvPr id="15" name="E1 rules and E3 walkthrough; comprehension untested.">
            <a:extLst>
              <a:ext uri="{FF2B5EF4-FFF2-40B4-BE49-F238E27FC236}">
                <a16:creationId xmlns:a16="http://schemas.microsoft.com/office/drawing/2014/main" id="{E3612FA1-CBDC-4E86-99C3-A07149F68402}"/>
              </a:ext>
            </a:extLst>
          </p:cNvPr>
          <p:cNvSpPr>
            <a:spLocks noGrp="1"/>
          </p:cNvSpPr>
          <p:nvPr/>
        </p:nvSpPr>
        <p:spPr>
          <a:xfrm>
            <a:off x="4667250" y="3371850"/>
            <a:ext cx="3333750" cy="9144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E1 rules and E3 walkthrough; comprehension untested.</a:t>
            </a:r>
          </a:p>
        </p:txBody>
      </p:sp>
      <p:sp>
        <p:nvSpPr>
          <p:cNvPr id="16" name="Explain sources, pending states and separate consent.">
            <a:extLst>
              <a:ext uri="{FF2B5EF4-FFF2-40B4-BE49-F238E27FC236}">
                <a16:creationId xmlns:a16="http://schemas.microsoft.com/office/drawing/2014/main" id="{046EA285-F0E6-447E-9C1F-3070AE44C454}"/>
              </a:ext>
            </a:extLst>
          </p:cNvPr>
          <p:cNvSpPr>
            <a:spLocks noGrp="1"/>
          </p:cNvSpPr>
          <p:nvPr/>
        </p:nvSpPr>
        <p:spPr>
          <a:xfrm>
            <a:off x="8305800" y="3371850"/>
            <a:ext cx="3095625" cy="9144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Explain sources, pending states and separate consent.</a:t>
            </a:r>
          </a:p>
        </p:txBody>
      </p:sp>
      <p:sp>
        <p:nvSpPr>
          <p:cNvPr id="17" name="Rectangle 16">
            <a:extLst>
              <a:ext uri="{FF2B5EF4-FFF2-40B4-BE49-F238E27FC236}">
                <a16:creationId xmlns:a16="http://schemas.microsoft.com/office/drawing/2014/main" id="{DB39658E-82C4-4CF8-BAE9-A16153A2E8C3}"/>
              </a:ext>
            </a:extLst>
          </p:cNvPr>
          <p:cNvSpPr>
            <a:spLocks noGrp="1"/>
          </p:cNvSpPr>
          <p:nvPr/>
        </p:nvSpPr>
        <p:spPr>
          <a:xfrm>
            <a:off x="647700" y="428625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8" name="Organisers may lack capacity to run habit programmes.">
            <a:extLst>
              <a:ext uri="{FF2B5EF4-FFF2-40B4-BE49-F238E27FC236}">
                <a16:creationId xmlns:a16="http://schemas.microsoft.com/office/drawing/2014/main" id="{5AA49765-8B20-427F-84AB-0A9AFEF069C7}"/>
              </a:ext>
            </a:extLst>
          </p:cNvPr>
          <p:cNvSpPr>
            <a:spLocks noGrp="1"/>
          </p:cNvSpPr>
          <p:nvPr/>
        </p:nvSpPr>
        <p:spPr>
          <a:xfrm>
            <a:off x="647700" y="4391025"/>
            <a:ext cx="3762375" cy="9144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Charter"/>
                <a:ea typeface="Charter"/>
                <a:cs typeface="Charter"/>
              </a:defRPr>
            </a:pPr>
            <a:r>
              <a:rPr kumimoji="0" sz="1650" b="0" i="0" u="none" strike="noStrike" kern="1200" cap="none" spc="0" normalizeH="0" baseline="0" noProof="0">
                <a:ln>
                  <a:noFill/>
                </a:ln>
                <a:solidFill>
                  <a:srgbClr val="163449"/>
                </a:solidFill>
                <a:effectLst/>
                <a:uLnTx/>
                <a:uFillTx/>
                <a:latin typeface="Charter"/>
                <a:ea typeface="Charter"/>
                <a:cs typeface="Charter"/>
              </a:rPr>
              <a:t>Organisers may lack capacity to run habit programmes.</a:t>
            </a:r>
          </a:p>
        </p:txBody>
      </p:sp>
      <p:sp>
        <p:nvSpPr>
          <p:cNvPr id="19" name="E4 business hypothesis; no buyer interviews recorded.">
            <a:extLst>
              <a:ext uri="{FF2B5EF4-FFF2-40B4-BE49-F238E27FC236}">
                <a16:creationId xmlns:a16="http://schemas.microsoft.com/office/drawing/2014/main" id="{F0592759-A633-4622-B841-5FB261682014}"/>
              </a:ext>
            </a:extLst>
          </p:cNvPr>
          <p:cNvSpPr>
            <a:spLocks noGrp="1"/>
          </p:cNvSpPr>
          <p:nvPr/>
        </p:nvSpPr>
        <p:spPr>
          <a:xfrm>
            <a:off x="4667250" y="4391025"/>
            <a:ext cx="3333750" cy="9144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E4 business hypothesis; no buyer interviews recorded.</a:t>
            </a:r>
          </a:p>
        </p:txBody>
      </p:sp>
      <p:sp>
        <p:nvSpPr>
          <p:cNvPr id="20" name="Test a fixed content, onboarding and support package.">
            <a:extLst>
              <a:ext uri="{FF2B5EF4-FFF2-40B4-BE49-F238E27FC236}">
                <a16:creationId xmlns:a16="http://schemas.microsoft.com/office/drawing/2014/main" id="{2106B45F-3BAC-49B2-9B42-3907E4C7FD2F}"/>
              </a:ext>
            </a:extLst>
          </p:cNvPr>
          <p:cNvSpPr>
            <a:spLocks noGrp="1"/>
          </p:cNvSpPr>
          <p:nvPr/>
        </p:nvSpPr>
        <p:spPr>
          <a:xfrm>
            <a:off x="8305800" y="4391025"/>
            <a:ext cx="3095625" cy="9144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Test a fixed content, onboarding and support package.</a:t>
            </a:r>
          </a:p>
        </p:txBody>
      </p:sp>
      <p:sp>
        <p:nvSpPr>
          <p:cNvPr id="21" name="Rectangle 20">
            <a:extLst>
              <a:ext uri="{FF2B5EF4-FFF2-40B4-BE49-F238E27FC236}">
                <a16:creationId xmlns:a16="http://schemas.microsoft.com/office/drawing/2014/main" id="{73264191-52C8-4A46-AF37-24EDE911F017}"/>
              </a:ext>
            </a:extLst>
          </p:cNvPr>
          <p:cNvSpPr>
            <a:spLocks noGrp="1"/>
          </p:cNvSpPr>
          <p:nvPr/>
        </p:nvSpPr>
        <p:spPr>
          <a:xfrm>
            <a:off x="647700" y="543877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2" name="PRIORITY RULE">
            <a:extLst>
              <a:ext uri="{FF2B5EF4-FFF2-40B4-BE49-F238E27FC236}">
                <a16:creationId xmlns:a16="http://schemas.microsoft.com/office/drawing/2014/main" id="{FC46CE70-C49D-4915-83D1-90853B579383}"/>
              </a:ext>
            </a:extLst>
          </p:cNvPr>
          <p:cNvSpPr>
            <a:spLocks noGrp="1"/>
          </p:cNvSpPr>
          <p:nvPr/>
        </p:nvSpPr>
        <p:spPr>
          <a:xfrm>
            <a:off x="647700" y="5686425"/>
            <a:ext cx="1619250" cy="2095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PRIORITY RULE</a:t>
            </a:r>
          </a:p>
        </p:txBody>
      </p:sp>
      <p:sp>
        <p:nvSpPr>
          <p:cNvPr id="23" name="Prioritise comprehension and repeat use; proceed only if buyer value fits the data boundar">
            <a:extLst>
              <a:ext uri="{FF2B5EF4-FFF2-40B4-BE49-F238E27FC236}">
                <a16:creationId xmlns:a16="http://schemas.microsoft.com/office/drawing/2014/main" id="{D7874CE5-DCD4-49D0-B50B-6D2123314DD6}"/>
              </a:ext>
            </a:extLst>
          </p:cNvPr>
          <p:cNvSpPr>
            <a:spLocks noGrp="1"/>
          </p:cNvSpPr>
          <p:nvPr/>
        </p:nvSpPr>
        <p:spPr>
          <a:xfrm>
            <a:off x="2390775" y="5619750"/>
            <a:ext cx="8953500" cy="5048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Prioritise comprehension and repeat use; proceed only if buyer value fits the data boundary.</a:t>
            </a:r>
          </a:p>
        </p:txBody>
      </p:sp>
    </p:spTree>
    <p:extLst>
      <p:ext uri="{BB962C8B-B14F-4D97-AF65-F5344CB8AC3E}">
        <p14:creationId xmlns:p14="http://schemas.microsoft.com/office/powerpoint/2010/main" val="1152827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5" name="RESEARCH REPORT">
            <a:extLst>
              <a:ext uri="{FF2B5EF4-FFF2-40B4-BE49-F238E27FC236}">
                <a16:creationId xmlns:a16="http://schemas.microsoft.com/office/drawing/2014/main" id="{605EAA7A-5596-48B3-AAF8-B918A60ACD63}"/>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RESEARCH REPORT</a:t>
            </a:r>
          </a:p>
        </p:txBody>
      </p:sp>
      <p:sp>
        <p:nvSpPr>
          <p:cNvPr id="2" name="Proposed service direction">
            <a:extLst>
              <a:ext uri="{FF2B5EF4-FFF2-40B4-BE49-F238E27FC236}">
                <a16:creationId xmlns:a16="http://schemas.microsoft.com/office/drawing/2014/main" id="{3CD0527D-217A-4E36-A1F3-F9E5306ECBAE}"/>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Charter"/>
                <a:ea typeface="Charter"/>
                <a:cs typeface="Charter"/>
              </a:defRPr>
            </a:pPr>
            <a:r>
              <a:rPr kumimoji="0" sz="2925" b="1" i="0" u="none" strike="noStrike" kern="1200" cap="none" spc="0" normalizeH="0" baseline="0" noProof="0">
                <a:ln>
                  <a:noFill/>
                </a:ln>
                <a:solidFill>
                  <a:srgbClr val="123047"/>
                </a:solidFill>
                <a:effectLst/>
                <a:uLnTx/>
                <a:uFillTx/>
                <a:latin typeface="Charter"/>
                <a:ea typeface="Charter"/>
                <a:cs typeface="Charter"/>
              </a:rPr>
              <a:t>Proposed service direction</a:t>
            </a:r>
          </a:p>
        </p:txBody>
      </p:sp>
      <p:sp>
        <p:nvSpPr>
          <p:cNvPr id="3" name="Rectangle 2">
            <a:extLst>
              <a:ext uri="{FF2B5EF4-FFF2-40B4-BE49-F238E27FC236}">
                <a16:creationId xmlns:a16="http://schemas.microsoft.com/office/drawing/2014/main" id="{3BE301D5-2249-4196-8FC0-512524129A7B}"/>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07F75F46-DA62-4E29-A518-BB9D4D95516F}"/>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COMM7115  ·  BUSINESS PROPOSAL RESEARCH</a:t>
            </a:r>
          </a:p>
        </p:txBody>
      </p:sp>
      <p:sp>
        <p:nvSpPr>
          <p:cNvPr id="5" name="12   /   1:30">
            <a:extLst>
              <a:ext uri="{FF2B5EF4-FFF2-40B4-BE49-F238E27FC236}">
                <a16:creationId xmlns:a16="http://schemas.microsoft.com/office/drawing/2014/main" id="{1DF6A942-048F-4E11-B797-51B100EDDE0B}"/>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12   /   1:30</a:t>
            </a:r>
          </a:p>
        </p:txBody>
      </p:sp>
      <p:sp>
        <p:nvSpPr>
          <p:cNvPr id="6" name="WE PROPOSE">
            <a:extLst>
              <a:ext uri="{FF2B5EF4-FFF2-40B4-BE49-F238E27FC236}">
                <a16:creationId xmlns:a16="http://schemas.microsoft.com/office/drawing/2014/main" id="{3F9FB1C4-CF0B-4EA9-935E-E86E1721A3F4}"/>
              </a:ext>
            </a:extLst>
          </p:cNvPr>
          <p:cNvSpPr>
            <a:spLocks noGrp="1"/>
          </p:cNvSpPr>
          <p:nvPr/>
        </p:nvSpPr>
        <p:spPr>
          <a:xfrm>
            <a:off x="647700" y="1962150"/>
            <a:ext cx="2286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WE PROPOSE</a:t>
            </a:r>
          </a:p>
        </p:txBody>
      </p:sp>
      <p:sp>
        <p:nvSpPr>
          <p:cNvPr id="7" name="An iPhone habit app that turns permitted activity summaries into understandable missions a">
            <a:extLst>
              <a:ext uri="{FF2B5EF4-FFF2-40B4-BE49-F238E27FC236}">
                <a16:creationId xmlns:a16="http://schemas.microsoft.com/office/drawing/2014/main" id="{7BABEE82-8807-4F3C-B203-018D2717C246}"/>
              </a:ext>
            </a:extLst>
          </p:cNvPr>
          <p:cNvSpPr>
            <a:spLocks noGrp="1"/>
          </p:cNvSpPr>
          <p:nvPr/>
        </p:nvSpPr>
        <p:spPr>
          <a:xfrm>
            <a:off x="647700" y="2352675"/>
            <a:ext cx="10191750" cy="8191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325" b="1">
                <a:solidFill>
                  <a:srgbClr val="123047"/>
                </a:solidFill>
                <a:latin typeface="Charter"/>
                <a:ea typeface="Charter"/>
                <a:cs typeface="Charter"/>
              </a:defRPr>
            </a:pPr>
            <a:r>
              <a:rPr kumimoji="0" sz="2325" b="1" i="0" u="none" strike="noStrike" kern="1200" cap="none" spc="0" normalizeH="0" baseline="0" noProof="0">
                <a:ln>
                  <a:noFill/>
                </a:ln>
                <a:solidFill>
                  <a:srgbClr val="123047"/>
                </a:solidFill>
                <a:effectLst/>
                <a:uLnTx/>
                <a:uFillTx/>
                <a:latin typeface="Charter"/>
                <a:ea typeface="Charter"/>
                <a:cs typeface="Charter"/>
              </a:rPr>
              <a:t>An iPhone habit app that turns permitted activity summaries into understandable missions and noncash points.</a:t>
            </a:r>
          </a:p>
        </p:txBody>
      </p:sp>
      <p:sp>
        <p:nvSpPr>
          <p:cNvPr id="8" name="Rectangle 7">
            <a:extLst>
              <a:ext uri="{FF2B5EF4-FFF2-40B4-BE49-F238E27FC236}">
                <a16:creationId xmlns:a16="http://schemas.microsoft.com/office/drawing/2014/main" id="{D8D49551-0760-48BE-A384-EB5371FF439B}"/>
              </a:ext>
            </a:extLst>
          </p:cNvPr>
          <p:cNvSpPr>
            <a:spLocks noGrp="1"/>
          </p:cNvSpPr>
          <p:nvPr/>
        </p:nvSpPr>
        <p:spPr>
          <a:xfrm>
            <a:off x="647700" y="34766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9" name="FIRST USE CASE">
            <a:extLst>
              <a:ext uri="{FF2B5EF4-FFF2-40B4-BE49-F238E27FC236}">
                <a16:creationId xmlns:a16="http://schemas.microsoft.com/office/drawing/2014/main" id="{E53E735D-16A7-4EE9-9D63-92A6A0D5E37A}"/>
              </a:ext>
            </a:extLst>
          </p:cNvPr>
          <p:cNvSpPr>
            <a:spLocks noGrp="1"/>
          </p:cNvSpPr>
          <p:nvPr/>
        </p:nvSpPr>
        <p:spPr>
          <a:xfrm>
            <a:off x="647700" y="3848100"/>
            <a:ext cx="51435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FIRST USE CASE</a:t>
            </a:r>
          </a:p>
        </p:txBody>
      </p:sp>
      <p:sp>
        <p:nvSpPr>
          <p:cNvPr id="10" name="3,000 / 5,000 / 7,000 eligible steps earn 10 / 20 / 30 points. Highest tier only; upgrades">
            <a:extLst>
              <a:ext uri="{FF2B5EF4-FFF2-40B4-BE49-F238E27FC236}">
                <a16:creationId xmlns:a16="http://schemas.microsoft.com/office/drawing/2014/main" id="{2316D494-A684-4458-9AAC-844165DDCE94}"/>
              </a:ext>
            </a:extLst>
          </p:cNvPr>
          <p:cNvSpPr>
            <a:spLocks noGrp="1"/>
          </p:cNvSpPr>
          <p:nvPr/>
        </p:nvSpPr>
        <p:spPr>
          <a:xfrm>
            <a:off x="647700" y="4171950"/>
            <a:ext cx="5143500" cy="1161288"/>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3,000 / 5,000 / 7,000 eligible steps earn 10 / 20 / 30 points. Highest tier only; upgrades add the difference. Rest has no penalty.</a:t>
            </a:r>
          </a:p>
        </p:txBody>
      </p:sp>
      <p:sp>
        <p:nvSpPr>
          <p:cNvPr id="11" name="MAIN TOUCHPOINTS">
            <a:extLst>
              <a:ext uri="{FF2B5EF4-FFF2-40B4-BE49-F238E27FC236}">
                <a16:creationId xmlns:a16="http://schemas.microsoft.com/office/drawing/2014/main" id="{3DEBCAF8-0390-413E-8F5E-B5146CD6F19F}"/>
              </a:ext>
            </a:extLst>
          </p:cNvPr>
          <p:cNvSpPr>
            <a:spLocks noGrp="1"/>
          </p:cNvSpPr>
          <p:nvPr/>
        </p:nvSpPr>
        <p:spPr>
          <a:xfrm>
            <a:off x="6334125" y="3848100"/>
            <a:ext cx="5000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MAIN TOUCHPOINTS</a:t>
            </a:r>
          </a:p>
        </p:txBody>
      </p:sp>
      <p:sp>
        <p:nvSpPr>
          <p:cNvPr id="12" name="Email login → separate consent → read-only HealthKit → missions → ledger → privacy control">
            <a:extLst>
              <a:ext uri="{FF2B5EF4-FFF2-40B4-BE49-F238E27FC236}">
                <a16:creationId xmlns:a16="http://schemas.microsoft.com/office/drawing/2014/main" id="{392F7211-1BFE-420F-97B1-F20DC2378EAC}"/>
              </a:ext>
            </a:extLst>
          </p:cNvPr>
          <p:cNvSpPr>
            <a:spLocks noGrp="1"/>
          </p:cNvSpPr>
          <p:nvPr/>
        </p:nvSpPr>
        <p:spPr>
          <a:xfrm>
            <a:off x="6334125" y="4171950"/>
            <a:ext cx="5000625" cy="1161288"/>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Email login → separate consent → read-only HealthKit → missions → ledger → privacy controls.</a:t>
            </a:r>
          </a:p>
        </p:txBody>
      </p:sp>
      <p:sp>
        <p:nvSpPr>
          <p:cNvPr id="13" name="SCOPE NOW">
            <a:extLst>
              <a:ext uri="{FF2B5EF4-FFF2-40B4-BE49-F238E27FC236}">
                <a16:creationId xmlns:a16="http://schemas.microsoft.com/office/drawing/2014/main" id="{46DBA62F-932F-4965-AF9D-EFAF4A43423B}"/>
              </a:ext>
            </a:extLst>
          </p:cNvPr>
          <p:cNvSpPr>
            <a:spLocks noGrp="1"/>
          </p:cNvSpPr>
          <p:nvPr/>
        </p:nvSpPr>
        <p:spPr>
          <a:xfrm>
            <a:off x="647700" y="5553075"/>
            <a:ext cx="1428750" cy="2190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SCOPE NOW</a:t>
            </a:r>
          </a:p>
        </p:txBody>
      </p:sp>
      <p:sp>
        <p:nvSpPr>
          <p:cNvPr id="14" name="Native prototype; two-iPhone tests, admin, sponsor isolation and cohort reports remain ope">
            <a:extLst>
              <a:ext uri="{FF2B5EF4-FFF2-40B4-BE49-F238E27FC236}">
                <a16:creationId xmlns:a16="http://schemas.microsoft.com/office/drawing/2014/main" id="{24F53747-D2B6-4E62-A4D8-67F59EA76E9D}"/>
              </a:ext>
            </a:extLst>
          </p:cNvPr>
          <p:cNvSpPr>
            <a:spLocks noGrp="1"/>
          </p:cNvSpPr>
          <p:nvPr/>
        </p:nvSpPr>
        <p:spPr>
          <a:xfrm>
            <a:off x="2209800" y="5505450"/>
            <a:ext cx="9124950" cy="5905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Native prototype; two-iPhone tests, admin, sponsor isolation and cohort reports remain open. [E1–E3]</a:t>
            </a:r>
          </a:p>
        </p:txBody>
      </p:sp>
      <p:sp>
        <p:nvSpPr>
          <p:cNvPr id="16" name="Points are nontransferable and noncash · No future-token rights, wallet requirement or ad "/>
          <p:cNvSpPr txBox="1"/>
          <p:nvPr/>
        </p:nvSpPr>
        <p:spPr>
          <a:xfrm>
            <a:off x="649224" y="3191256"/>
            <a:ext cx="10881360" cy="228600"/>
          </a:xfrm>
          <a:prstGeom prst="rect">
            <a:avLst/>
          </a:prstGeom>
          <a:noFill/>
        </p:spPr>
        <p:txBody>
          <a:bodyPr wrap="square" lIns="0" rIns="0" tIns="0" bIns="0">
            <a:noAutofit/>
          </a:bodyPr>
          <a:lstStyle/>
          <a:p>
            <a:pPr>
              <a:lnSpc>
                <a:spcPct val="110000"/>
              </a:lnSpc>
              <a:spcBef>
                <a:spcPts val="0"/>
              </a:spcBef>
              <a:spcAft>
                <a:spcPts val="0"/>
              </a:spcAft>
            </a:pPr>
            <a:r>
              <a:rPr sz="1200" b="0">
                <a:solidFill>
                  <a:srgbClr val="007F78"/>
                </a:solidFill>
                <a:latin typeface="Charter"/>
              </a:rPr>
              <a:t>Points are nontransferable and noncash · No future-token rights, wallet requirement or ad rewards</a:t>
            </a:r>
          </a:p>
        </p:txBody>
      </p:sp>
    </p:spTree>
    <p:extLst>
      <p:ext uri="{BB962C8B-B14F-4D97-AF65-F5344CB8AC3E}">
        <p14:creationId xmlns:p14="http://schemas.microsoft.com/office/powerpoint/2010/main" val="637825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7" name="RESEARCH REPORT">
            <a:extLst>
              <a:ext uri="{FF2B5EF4-FFF2-40B4-BE49-F238E27FC236}">
                <a16:creationId xmlns:a16="http://schemas.microsoft.com/office/drawing/2014/main" id="{23F6D149-9B31-4ED4-A184-FE58C1F504A9}"/>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RESEARCH REPORT</a:t>
            </a:r>
          </a:p>
        </p:txBody>
      </p:sp>
      <p:sp>
        <p:nvSpPr>
          <p:cNvPr id="2" name="User value and a testable business model">
            <a:extLst>
              <a:ext uri="{FF2B5EF4-FFF2-40B4-BE49-F238E27FC236}">
                <a16:creationId xmlns:a16="http://schemas.microsoft.com/office/drawing/2014/main" id="{85A31074-6E34-4B9E-8B9A-86B6E79B3B7F}"/>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Charter"/>
                <a:ea typeface="Charter"/>
                <a:cs typeface="Charter"/>
              </a:defRPr>
            </a:pPr>
            <a:r>
              <a:rPr kumimoji="0" sz="2925" b="1" i="0" u="none" strike="noStrike" kern="1200" cap="none" spc="0" normalizeH="0" baseline="0" noProof="0">
                <a:ln>
                  <a:noFill/>
                </a:ln>
                <a:solidFill>
                  <a:srgbClr val="123047"/>
                </a:solidFill>
                <a:effectLst/>
                <a:uLnTx/>
                <a:uFillTx/>
                <a:latin typeface="Charter"/>
                <a:ea typeface="Charter"/>
                <a:cs typeface="Charter"/>
              </a:rPr>
              <a:t>User value and a testable business model</a:t>
            </a:r>
          </a:p>
        </p:txBody>
      </p:sp>
      <p:sp>
        <p:nvSpPr>
          <p:cNvPr id="3" name="Rectangle 2">
            <a:extLst>
              <a:ext uri="{FF2B5EF4-FFF2-40B4-BE49-F238E27FC236}">
                <a16:creationId xmlns:a16="http://schemas.microsoft.com/office/drawing/2014/main" id="{5DBEA0F9-4C2D-4D29-83BA-8DEB5AF060BD}"/>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1682FC29-C7F3-449D-91AA-A4FFA29436C0}"/>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COMM7115  ·  BUSINESS PROPOSAL RESEARCH</a:t>
            </a:r>
          </a:p>
        </p:txBody>
      </p:sp>
      <p:sp>
        <p:nvSpPr>
          <p:cNvPr id="5" name="13   /   1:30">
            <a:extLst>
              <a:ext uri="{FF2B5EF4-FFF2-40B4-BE49-F238E27FC236}">
                <a16:creationId xmlns:a16="http://schemas.microsoft.com/office/drawing/2014/main" id="{11179692-13AF-43FE-947E-F38B026FEC29}"/>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13   /   1:30</a:t>
            </a:r>
          </a:p>
        </p:txBody>
      </p:sp>
      <p:sp>
        <p:nvSpPr>
          <p:cNvPr id="6" name="VALUE FOR THE USER">
            <a:extLst>
              <a:ext uri="{FF2B5EF4-FFF2-40B4-BE49-F238E27FC236}">
                <a16:creationId xmlns:a16="http://schemas.microsoft.com/office/drawing/2014/main" id="{524593F1-A87A-431A-A346-A031AB0A180B}"/>
              </a:ext>
            </a:extLst>
          </p:cNvPr>
          <p:cNvSpPr>
            <a:spLocks noGrp="1"/>
          </p:cNvSpPr>
          <p:nvPr/>
        </p:nvSpPr>
        <p:spPr>
          <a:xfrm>
            <a:off x="647700" y="1981200"/>
            <a:ext cx="5000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VALUE FOR THE USER</a:t>
            </a:r>
          </a:p>
        </p:txBody>
      </p:sp>
      <p:sp>
        <p:nvSpPr>
          <p:cNvPr id="7" name="Understand progress with less manual effort. Measure task success and matured D7 / D28 ret">
            <a:extLst>
              <a:ext uri="{FF2B5EF4-FFF2-40B4-BE49-F238E27FC236}">
                <a16:creationId xmlns:a16="http://schemas.microsoft.com/office/drawing/2014/main" id="{683FE5F7-2609-4769-A2FB-E42CE7ECAB9C}"/>
              </a:ext>
            </a:extLst>
          </p:cNvPr>
          <p:cNvSpPr>
            <a:spLocks noGrp="1"/>
          </p:cNvSpPr>
          <p:nvPr/>
        </p:nvSpPr>
        <p:spPr>
          <a:xfrm>
            <a:off x="647700" y="2305050"/>
            <a:ext cx="5000625" cy="100584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Understand progress with less manual effort. Measure task success and matured D7 / D28 return rates.</a:t>
            </a:r>
          </a:p>
        </p:txBody>
      </p:sp>
      <p:sp>
        <p:nvSpPr>
          <p:cNvPr id="8" name="CUSTOMER AND PAYER">
            <a:extLst>
              <a:ext uri="{FF2B5EF4-FFF2-40B4-BE49-F238E27FC236}">
                <a16:creationId xmlns:a16="http://schemas.microsoft.com/office/drawing/2014/main" id="{6F39AB36-F835-4606-91FC-3FDA05608840}"/>
              </a:ext>
            </a:extLst>
          </p:cNvPr>
          <p:cNvSpPr>
            <a:spLocks noGrp="1"/>
          </p:cNvSpPr>
          <p:nvPr/>
        </p:nvSpPr>
        <p:spPr>
          <a:xfrm>
            <a:off x="6296025" y="1981200"/>
            <a:ext cx="5000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CUSTOMER AND PAYER</a:t>
            </a:r>
          </a:p>
        </p:txBody>
      </p:sp>
      <p:sp>
        <p:nvSpPr>
          <p:cNvPr id="9" name="Adults use it free. Organisations may fund voluntary programmes; sponsors may buy generic ">
            <a:extLst>
              <a:ext uri="{FF2B5EF4-FFF2-40B4-BE49-F238E27FC236}">
                <a16:creationId xmlns:a16="http://schemas.microsoft.com/office/drawing/2014/main" id="{99813F83-082A-4888-9F82-8663CA3FD57C}"/>
              </a:ext>
            </a:extLst>
          </p:cNvPr>
          <p:cNvSpPr>
            <a:spLocks noGrp="1"/>
          </p:cNvSpPr>
          <p:nvPr/>
        </p:nvSpPr>
        <p:spPr>
          <a:xfrm>
            <a:off x="6296025" y="2305050"/>
            <a:ext cx="5000625" cy="100584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Adults use it free. Organisations may fund voluntary programmes; sponsors may buy generic placements.</a:t>
            </a:r>
          </a:p>
        </p:txBody>
      </p:sp>
      <p:sp>
        <p:nvSpPr>
          <p:cNvPr id="10" name="Rectangle 9">
            <a:extLst>
              <a:ext uri="{FF2B5EF4-FFF2-40B4-BE49-F238E27FC236}">
                <a16:creationId xmlns:a16="http://schemas.microsoft.com/office/drawing/2014/main" id="{1D5F0154-3564-4121-9752-9A69C0DA8B20}"/>
              </a:ext>
            </a:extLst>
          </p:cNvPr>
          <p:cNvSpPr>
            <a:spLocks noGrp="1"/>
          </p:cNvSpPr>
          <p:nvPr/>
        </p:nvSpPr>
        <p:spPr>
          <a:xfrm>
            <a:off x="647700" y="34766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1" name="PROPOSED VALUE CAPTURE">
            <a:extLst>
              <a:ext uri="{FF2B5EF4-FFF2-40B4-BE49-F238E27FC236}">
                <a16:creationId xmlns:a16="http://schemas.microsoft.com/office/drawing/2014/main" id="{18AF0A55-776A-47C6-8FEA-06F581E152F4}"/>
              </a:ext>
            </a:extLst>
          </p:cNvPr>
          <p:cNvSpPr>
            <a:spLocks noGrp="1"/>
          </p:cNvSpPr>
          <p:nvPr/>
        </p:nvSpPr>
        <p:spPr>
          <a:xfrm>
            <a:off x="647700" y="3886200"/>
            <a:ext cx="5000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PROPOSED VALUE CAPTURE</a:t>
            </a:r>
          </a:p>
        </p:txBody>
      </p:sp>
      <p:sp>
        <p:nvSpPr>
          <p:cNvPr id="12" name="Unvalidated monthly prices: HK$15,000 per organisation; HK$10,000 per sponsor unit. [E4]">
            <a:extLst>
              <a:ext uri="{FF2B5EF4-FFF2-40B4-BE49-F238E27FC236}">
                <a16:creationId xmlns:a16="http://schemas.microsoft.com/office/drawing/2014/main" id="{43880DC7-242A-4170-ADE0-7F036381EFD2}"/>
              </a:ext>
            </a:extLst>
          </p:cNvPr>
          <p:cNvSpPr>
            <a:spLocks noGrp="1"/>
          </p:cNvSpPr>
          <p:nvPr/>
        </p:nvSpPr>
        <p:spPr>
          <a:xfrm>
            <a:off x="647700" y="4210050"/>
            <a:ext cx="5000625" cy="109728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Unvalidated monthly prices: HK$15,000 per organisation; HK$10,000 per sponsor unit. [E4]</a:t>
            </a:r>
          </a:p>
        </p:txBody>
      </p:sp>
      <p:sp>
        <p:nvSpPr>
          <p:cNvPr id="13" name="DELIVERY ECONOMICS">
            <a:extLst>
              <a:ext uri="{FF2B5EF4-FFF2-40B4-BE49-F238E27FC236}">
                <a16:creationId xmlns:a16="http://schemas.microsoft.com/office/drawing/2014/main" id="{C8096DC6-B84D-4847-8F30-BD1E1DC33E3D}"/>
              </a:ext>
            </a:extLst>
          </p:cNvPr>
          <p:cNvSpPr>
            <a:spLocks noGrp="1"/>
          </p:cNvSpPr>
          <p:nvPr/>
        </p:nvSpPr>
        <p:spPr>
          <a:xfrm>
            <a:off x="6296025" y="3886200"/>
            <a:ext cx="5000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DELIVERY ECONOMICS</a:t>
            </a:r>
          </a:p>
        </p:txBody>
      </p:sp>
      <p:sp>
        <p:nvSpPr>
          <p:cNvPr id="14" name="Assumed fixed costs: HK$90,000 / month, plus user and delivery costs. At 8 clients + 1 spo">
            <a:extLst>
              <a:ext uri="{FF2B5EF4-FFF2-40B4-BE49-F238E27FC236}">
                <a16:creationId xmlns:a16="http://schemas.microsoft.com/office/drawing/2014/main" id="{7C638FA0-E166-45EE-866E-8FEAA7F379AF}"/>
              </a:ext>
            </a:extLst>
          </p:cNvPr>
          <p:cNvSpPr>
            <a:spLocks noGrp="1"/>
          </p:cNvSpPr>
          <p:nvPr/>
        </p:nvSpPr>
        <p:spPr>
          <a:xfrm>
            <a:off x="6296025" y="4210050"/>
            <a:ext cx="5000625" cy="109728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Charter"/>
                <a:ea typeface="Charter"/>
                <a:cs typeface="Charter"/>
              </a:defRPr>
            </a:pPr>
            <a:r>
              <a:rPr kumimoji="0" sz="1725" b="0" i="0" u="none" strike="noStrike" kern="1200" cap="none" spc="0" normalizeH="0" baseline="0" noProof="0">
                <a:ln>
                  <a:noFill/>
                </a:ln>
                <a:solidFill>
                  <a:srgbClr val="163449"/>
                </a:solidFill>
                <a:effectLst/>
                <a:uLnTx/>
                <a:uFillTx/>
                <a:latin typeface="Charter"/>
                <a:ea typeface="Charter"/>
                <a:cs typeface="Charter"/>
              </a:rPr>
              <a:t>Assumed fixed costs: HK$90,000 / month, plus user and delivery costs. At 8 clients + 1 sponsor: HK$5,000 surplus.*</a:t>
            </a:r>
          </a:p>
        </p:txBody>
      </p:sp>
      <p:sp>
        <p:nvSpPr>
          <p:cNvPr id="15" name="SUSTAINABILITY QUESTION">
            <a:extLst>
              <a:ext uri="{FF2B5EF4-FFF2-40B4-BE49-F238E27FC236}">
                <a16:creationId xmlns:a16="http://schemas.microsoft.com/office/drawing/2014/main" id="{87726C0B-76F9-4CAA-8652-E023574E0C38}"/>
              </a:ext>
            </a:extLst>
          </p:cNvPr>
          <p:cNvSpPr>
            <a:spLocks noGrp="1"/>
          </p:cNvSpPr>
          <p:nvPr/>
        </p:nvSpPr>
        <p:spPr>
          <a:xfrm>
            <a:off x="647700" y="5572125"/>
            <a:ext cx="2857500" cy="2190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SUSTAINABILITY QUESTION</a:t>
            </a:r>
          </a:p>
        </p:txBody>
      </p:sp>
      <p:sp>
        <p:nvSpPr>
          <p:cNvPr id="16" name="Will noncash value retain users, and will fees cover delivery capacity? The illustrative m">
            <a:extLst>
              <a:ext uri="{FF2B5EF4-FFF2-40B4-BE49-F238E27FC236}">
                <a16:creationId xmlns:a16="http://schemas.microsoft.com/office/drawing/2014/main" id="{5A1C6229-57C4-497A-8E26-ADBAA0FE8B3F}"/>
              </a:ext>
            </a:extLst>
          </p:cNvPr>
          <p:cNvSpPr>
            <a:spLocks noGrp="1"/>
          </p:cNvSpPr>
          <p:nvPr/>
        </p:nvSpPr>
        <p:spPr>
          <a:xfrm>
            <a:off x="3533775" y="5505450"/>
            <a:ext cx="7620000" cy="5810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Will noncash value retain users, and will fees cover delivery capacity? The illustrative model is in Appendix 18.</a:t>
            </a:r>
          </a:p>
        </p:txBody>
      </p:sp>
      <p:sp>
        <p:nvSpPr>
          <p:cNvPr id="18" name="*Illustrative scenario. Enterprise and sponsor features need approval and implementation; "/>
          <p:cNvSpPr txBox="1"/>
          <p:nvPr/>
        </p:nvSpPr>
        <p:spPr>
          <a:xfrm>
            <a:off x="649224" y="6163056"/>
            <a:ext cx="10881360" cy="201168"/>
          </a:xfrm>
          <a:prstGeom prst="rect">
            <a:avLst/>
          </a:prstGeom>
          <a:noFill/>
        </p:spPr>
        <p:txBody>
          <a:bodyPr wrap="square" lIns="0" rIns="0" tIns="0" bIns="0">
            <a:noAutofit/>
          </a:bodyPr>
          <a:lstStyle/>
          <a:p>
            <a:pPr>
              <a:lnSpc>
                <a:spcPct val="110000"/>
              </a:lnSpc>
              <a:spcBef>
                <a:spcPts val="0"/>
              </a:spcBef>
              <a:spcAft>
                <a:spcPts val="0"/>
              </a:spcAft>
            </a:pPr>
            <a:r>
              <a:rPr sz="1000" b="0">
                <a:solidFill>
                  <a:srgbClr val="5F7D82"/>
                </a:solidFill>
                <a:latin typeface="Charter"/>
              </a:rPr>
              <a:t>*Illustrative scenario. Enterprise and sponsor features need approval and implementation; no revenue is documented.</a:t>
            </a:r>
          </a:p>
        </p:txBody>
      </p:sp>
    </p:spTree>
    <p:extLst>
      <p:ext uri="{BB962C8B-B14F-4D97-AF65-F5344CB8AC3E}">
        <p14:creationId xmlns:p14="http://schemas.microsoft.com/office/powerpoint/2010/main" val="1318908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0" name="RESEARCH REPORT">
            <a:extLst>
              <a:ext uri="{FF2B5EF4-FFF2-40B4-BE49-F238E27FC236}">
                <a16:creationId xmlns:a16="http://schemas.microsoft.com/office/drawing/2014/main" id="{A54BEED8-D8F4-4185-8E8E-FCF17D66D406}"/>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RESEARCH REPORT</a:t>
            </a:r>
          </a:p>
        </p:txBody>
      </p:sp>
      <p:sp>
        <p:nvSpPr>
          <p:cNvPr id="2" name="Research decision and next tes">
            <a:extLst>
              <a:ext uri="{FF2B5EF4-FFF2-40B4-BE49-F238E27FC236}">
                <a16:creationId xmlns:a16="http://schemas.microsoft.com/office/drawing/2014/main" id="{F67B6A99-D430-4C34-965E-3A23FCF2F4E8}"/>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Charter"/>
                <a:ea typeface="Charter"/>
                <a:cs typeface="Charter"/>
              </a:defRPr>
            </a:pPr>
            <a:r>
              <a:rPr kumimoji="0" sz="2925" b="1" i="0" u="none" strike="noStrike" kern="1200" cap="none" spc="0" normalizeH="0" baseline="0" noProof="0">
                <a:ln>
                  <a:noFill/>
                </a:ln>
                <a:solidFill>
                  <a:srgbClr val="123047"/>
                </a:solidFill>
                <a:effectLst/>
                <a:uLnTx/>
                <a:uFillTx/>
                <a:latin typeface="Charter"/>
                <a:ea typeface="Charter"/>
                <a:cs typeface="Charter"/>
              </a:rPr>
              <a:t>Research decision and next tests</a:t>
            </a:r>
          </a:p>
        </p:txBody>
      </p:sp>
      <p:sp>
        <p:nvSpPr>
          <p:cNvPr id="3" name="Rectangle 2">
            <a:extLst>
              <a:ext uri="{FF2B5EF4-FFF2-40B4-BE49-F238E27FC236}">
                <a16:creationId xmlns:a16="http://schemas.microsoft.com/office/drawing/2014/main" id="{1A76FA36-6747-48DF-AF41-7C3A3749CE24}"/>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FB13432E-B48F-435A-9B62-087EDC312078}"/>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COMM7115  ·  BUSINESS PROPOSAL RESEARCH</a:t>
            </a:r>
          </a:p>
        </p:txBody>
      </p:sp>
      <p:sp>
        <p:nvSpPr>
          <p:cNvPr id="5" name="14   /   1:30">
            <a:extLst>
              <a:ext uri="{FF2B5EF4-FFF2-40B4-BE49-F238E27FC236}">
                <a16:creationId xmlns:a16="http://schemas.microsoft.com/office/drawing/2014/main" id="{C516BDC0-5765-429A-912B-593903F4964A}"/>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14   /   1:30</a:t>
            </a:r>
          </a:p>
        </p:txBody>
      </p:sp>
      <p:sp>
        <p:nvSpPr>
          <p:cNvPr id="6" name="WHAT THE CURRENT EVIDENCE SUPPORTS">
            <a:extLst>
              <a:ext uri="{FF2B5EF4-FFF2-40B4-BE49-F238E27FC236}">
                <a16:creationId xmlns:a16="http://schemas.microsoft.com/office/drawing/2014/main" id="{85464ADC-2924-46E4-8172-379962CACE0D}"/>
              </a:ext>
            </a:extLst>
          </p:cNvPr>
          <p:cNvSpPr>
            <a:spLocks noGrp="1"/>
          </p:cNvSpPr>
          <p:nvPr/>
        </p:nvSpPr>
        <p:spPr>
          <a:xfrm>
            <a:off x="647700" y="1962150"/>
            <a:ext cx="53340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WHAT THE CURRENT EVIDENCE SUPPORTS</a:t>
            </a:r>
          </a:p>
        </p:txBody>
      </p:sp>
      <p:sp>
        <p:nvSpPr>
          <p:cNvPr id="7" name="Continue with noncash habit support and buyer discovery. Gate expansion on device reliabil">
            <a:extLst>
              <a:ext uri="{FF2B5EF4-FFF2-40B4-BE49-F238E27FC236}">
                <a16:creationId xmlns:a16="http://schemas.microsoft.com/office/drawing/2014/main" id="{D5CC6FEE-FE52-4068-8EBD-2BAFDB0B0EFA}"/>
              </a:ext>
            </a:extLst>
          </p:cNvPr>
          <p:cNvSpPr>
            <a:spLocks noGrp="1"/>
          </p:cNvSpPr>
          <p:nvPr/>
        </p:nvSpPr>
        <p:spPr>
          <a:xfrm>
            <a:off x="647700" y="2324100"/>
            <a:ext cx="10287000" cy="8572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950" b="1">
                <a:solidFill>
                  <a:srgbClr val="123047"/>
                </a:solidFill>
                <a:latin typeface="Charter"/>
                <a:ea typeface="Charter"/>
                <a:cs typeface="Charter"/>
              </a:defRPr>
            </a:pPr>
            <a:r>
              <a:rPr kumimoji="0" sz="1950" b="1" i="0" u="none" strike="noStrike" kern="1200" cap="none" spc="0" normalizeH="0" baseline="0" noProof="0">
                <a:ln>
                  <a:noFill/>
                </a:ln>
                <a:solidFill>
                  <a:srgbClr val="123047"/>
                </a:solidFill>
                <a:effectLst/>
                <a:uLnTx/>
                <a:uFillTx/>
                <a:latin typeface="Charter"/>
                <a:ea typeface="Charter"/>
                <a:cs typeface="Charter"/>
              </a:rPr>
              <a:t>Continue with noncash habit support and buyer discovery.</a:t>
            </a:r>
          </a:p>
          <a:p>
            <a:pPr marL="0" marR="0" lvl="0" indent="0" algn="l" defTabSz="914400" rtl="0" eaLnBrk="1" fontAlgn="auto" latinLnBrk="0" hangingPunct="1">
              <a:lnSpc>
                <a:spcPct val="110000"/>
              </a:lnSpc>
              <a:spcBef>
                <a:spcPts val="0"/>
              </a:spcBef>
              <a:spcAft>
                <a:spcPts val="0"/>
              </a:spcAft>
              <a:buClrTx/>
              <a:buSzTx/>
              <a:buFontTx/>
              <a:buNone/>
              <a:tabLst/>
              <a:defRPr sz="1950" b="1">
                <a:solidFill>
                  <a:srgbClr val="123047"/>
                </a:solidFill>
                <a:latin typeface="Charter"/>
                <a:ea typeface="Charter"/>
                <a:cs typeface="Charter"/>
              </a:defRPr>
            </a:pPr>
            <a:r>
              <a:rPr kumimoji="0" sz="1950" b="1" i="0" u="none" strike="noStrike" kern="1200" cap="none" spc="0" normalizeH="0" baseline="0" noProof="0">
                <a:ln>
                  <a:noFill/>
                </a:ln>
                <a:solidFill>
                  <a:srgbClr val="123047"/>
                </a:solidFill>
                <a:effectLst/>
                <a:uLnTx/>
                <a:uFillTx/>
                <a:latin typeface="Charter"/>
                <a:ea typeface="Charter"/>
                <a:cs typeface="Charter"/>
              </a:rPr>
              <a:t>Gate expansion on device reliability, retention and willingness to pay.</a:t>
            </a:r>
          </a:p>
        </p:txBody>
      </p:sp>
      <p:sp>
        <p:nvSpPr>
          <p:cNvPr id="8" name="Rectangle 7">
            <a:extLst>
              <a:ext uri="{FF2B5EF4-FFF2-40B4-BE49-F238E27FC236}">
                <a16:creationId xmlns:a16="http://schemas.microsoft.com/office/drawing/2014/main" id="{405BFA4A-D9CB-40F7-B44D-870DCB8A7561}"/>
              </a:ext>
            </a:extLst>
          </p:cNvPr>
          <p:cNvSpPr>
            <a:spLocks noGrp="1"/>
          </p:cNvSpPr>
          <p:nvPr/>
        </p:nvSpPr>
        <p:spPr>
          <a:xfrm>
            <a:off x="647700" y="335280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9" name="CRITICAL ASSUMPTION">
            <a:extLst>
              <a:ext uri="{FF2B5EF4-FFF2-40B4-BE49-F238E27FC236}">
                <a16:creationId xmlns:a16="http://schemas.microsoft.com/office/drawing/2014/main" id="{2AF02A2A-A382-4476-8CD9-E89232825B2B}"/>
              </a:ext>
            </a:extLst>
          </p:cNvPr>
          <p:cNvSpPr>
            <a:spLocks noGrp="1"/>
          </p:cNvSpPr>
          <p:nvPr/>
        </p:nvSpPr>
        <p:spPr>
          <a:xfrm>
            <a:off x="647700" y="3724275"/>
            <a:ext cx="40005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CRITICAL ASSUMPTION</a:t>
            </a:r>
          </a:p>
        </p:txBody>
      </p:sp>
      <p:sp>
        <p:nvSpPr>
          <p:cNvPr id="10" name="NEXT TEST">
            <a:extLst>
              <a:ext uri="{FF2B5EF4-FFF2-40B4-BE49-F238E27FC236}">
                <a16:creationId xmlns:a16="http://schemas.microsoft.com/office/drawing/2014/main" id="{EEB361CA-8BC4-437A-9711-24AC3CA80C2E}"/>
              </a:ext>
            </a:extLst>
          </p:cNvPr>
          <p:cNvSpPr>
            <a:spLocks noGrp="1"/>
          </p:cNvSpPr>
          <p:nvPr/>
        </p:nvSpPr>
        <p:spPr>
          <a:xfrm>
            <a:off x="5267325" y="3724275"/>
            <a:ext cx="409575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NEXT TEST</a:t>
            </a:r>
          </a:p>
        </p:txBody>
      </p:sp>
      <p:sp>
        <p:nvSpPr>
          <p:cNvPr id="11" name="DECISION RULE">
            <a:extLst>
              <a:ext uri="{FF2B5EF4-FFF2-40B4-BE49-F238E27FC236}">
                <a16:creationId xmlns:a16="http://schemas.microsoft.com/office/drawing/2014/main" id="{122DAF87-E202-4CC6-AF5C-F880AB34A1A7}"/>
              </a:ext>
            </a:extLst>
          </p:cNvPr>
          <p:cNvSpPr>
            <a:spLocks noGrp="1"/>
          </p:cNvSpPr>
          <p:nvPr/>
        </p:nvSpPr>
        <p:spPr>
          <a:xfrm>
            <a:off x="9525000" y="3724275"/>
            <a:ext cx="1905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DECISION RULE</a:t>
            </a:r>
          </a:p>
        </p:txBody>
      </p:sp>
      <p:sp>
        <p:nvSpPr>
          <p:cNvPr id="12" name="Rectangle 11">
            <a:extLst>
              <a:ext uri="{FF2B5EF4-FFF2-40B4-BE49-F238E27FC236}">
                <a16:creationId xmlns:a16="http://schemas.microsoft.com/office/drawing/2014/main" id="{ABEB5298-DAC1-42B1-91AC-4E74F0E3C798}"/>
              </a:ext>
            </a:extLst>
          </p:cNvPr>
          <p:cNvSpPr>
            <a:spLocks noGrp="1"/>
          </p:cNvSpPr>
          <p:nvPr/>
        </p:nvSpPr>
        <p:spPr>
          <a:xfrm>
            <a:off x="647700" y="402907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3" name="Users return without cash rewards.">
            <a:extLst>
              <a:ext uri="{FF2B5EF4-FFF2-40B4-BE49-F238E27FC236}">
                <a16:creationId xmlns:a16="http://schemas.microsoft.com/office/drawing/2014/main" id="{2090F2CC-20E9-4B28-9C7C-544906627268}"/>
              </a:ext>
            </a:extLst>
          </p:cNvPr>
          <p:cNvSpPr>
            <a:spLocks noGrp="1"/>
          </p:cNvSpPr>
          <p:nvPr/>
        </p:nvSpPr>
        <p:spPr>
          <a:xfrm>
            <a:off x="647700" y="4124325"/>
            <a:ext cx="4143375" cy="6762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Users return without cash rewards.</a:t>
            </a:r>
          </a:p>
        </p:txBody>
      </p:sp>
      <p:sp>
        <p:nvSpPr>
          <p:cNvPr id="14" name="100 matured activations across two recruitment channels.">
            <a:extLst>
              <a:ext uri="{FF2B5EF4-FFF2-40B4-BE49-F238E27FC236}">
                <a16:creationId xmlns:a16="http://schemas.microsoft.com/office/drawing/2014/main" id="{C3F9249E-296C-4A6A-B2F7-818BE4C2A863}"/>
              </a:ext>
            </a:extLst>
          </p:cNvPr>
          <p:cNvSpPr>
            <a:spLocks noGrp="1"/>
          </p:cNvSpPr>
          <p:nvPr/>
        </p:nvSpPr>
        <p:spPr>
          <a:xfrm>
            <a:off x="5267325" y="4124325"/>
            <a:ext cx="4143375" cy="6762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100 matured activations across two recruitment channels.</a:t>
            </a:r>
          </a:p>
        </p:txBody>
      </p:sp>
      <p:sp>
        <p:nvSpPr>
          <p:cNvPr id="15" name="D7 ≥35% D28 ≥20%">
            <a:extLst>
              <a:ext uri="{FF2B5EF4-FFF2-40B4-BE49-F238E27FC236}">
                <a16:creationId xmlns:a16="http://schemas.microsoft.com/office/drawing/2014/main" id="{30572934-FCC5-48E3-82B8-52E23DC5C079}"/>
              </a:ext>
            </a:extLst>
          </p:cNvPr>
          <p:cNvSpPr>
            <a:spLocks noGrp="1"/>
          </p:cNvSpPr>
          <p:nvPr/>
        </p:nvSpPr>
        <p:spPr>
          <a:xfrm>
            <a:off x="9525000" y="4124325"/>
            <a:ext cx="1857375" cy="6762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D7 ≥35%</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D28 ≥20%</a:t>
            </a:r>
          </a:p>
        </p:txBody>
      </p:sp>
      <p:sp>
        <p:nvSpPr>
          <p:cNvPr id="16" name="Rectangle 15">
            <a:extLst>
              <a:ext uri="{FF2B5EF4-FFF2-40B4-BE49-F238E27FC236}">
                <a16:creationId xmlns:a16="http://schemas.microsoft.com/office/drawing/2014/main" id="{D28E9E41-2170-4CA1-9CBC-71821CFA22EB}"/>
              </a:ext>
            </a:extLst>
          </p:cNvPr>
          <p:cNvSpPr>
            <a:spLocks noGrp="1"/>
          </p:cNvSpPr>
          <p:nvPr/>
        </p:nvSpPr>
        <p:spPr>
          <a:xfrm>
            <a:off x="647700" y="489585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7" name="Buyers fund content and support.">
            <a:extLst>
              <a:ext uri="{FF2B5EF4-FFF2-40B4-BE49-F238E27FC236}">
                <a16:creationId xmlns:a16="http://schemas.microsoft.com/office/drawing/2014/main" id="{A194F868-7709-4BB1-80D2-1FDE289EC53D}"/>
              </a:ext>
            </a:extLst>
          </p:cNvPr>
          <p:cNvSpPr>
            <a:spLocks noGrp="1"/>
          </p:cNvSpPr>
          <p:nvPr/>
        </p:nvSpPr>
        <p:spPr>
          <a:xfrm>
            <a:off x="647700" y="4991100"/>
            <a:ext cx="4143375" cy="6762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Buyers fund content and support.</a:t>
            </a:r>
          </a:p>
        </p:txBody>
      </p:sp>
      <p:sp>
        <p:nvSpPr>
          <p:cNvPr id="18" name="5 budget interviews, then 2 authorised paid pilots after readiness gates.">
            <a:extLst>
              <a:ext uri="{FF2B5EF4-FFF2-40B4-BE49-F238E27FC236}">
                <a16:creationId xmlns:a16="http://schemas.microsoft.com/office/drawing/2014/main" id="{8DE39B5B-AAAC-42C1-85BD-B726A0C7C80E}"/>
              </a:ext>
            </a:extLst>
          </p:cNvPr>
          <p:cNvSpPr>
            <a:spLocks noGrp="1"/>
          </p:cNvSpPr>
          <p:nvPr/>
        </p:nvSpPr>
        <p:spPr>
          <a:xfrm>
            <a:off x="5267325" y="4991100"/>
            <a:ext cx="4143375" cy="6762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5 budget interviews, then 2 authorised paid pilots after readiness gates.</a:t>
            </a:r>
          </a:p>
        </p:txBody>
      </p:sp>
      <p:sp>
        <p:nvSpPr>
          <p:cNvPr id="19" name="2 paid pilots; positive contribution">
            <a:extLst>
              <a:ext uri="{FF2B5EF4-FFF2-40B4-BE49-F238E27FC236}">
                <a16:creationId xmlns:a16="http://schemas.microsoft.com/office/drawing/2014/main" id="{15963ACC-3845-4034-98BC-B94605FF3151}"/>
              </a:ext>
            </a:extLst>
          </p:cNvPr>
          <p:cNvSpPr>
            <a:spLocks noGrp="1"/>
          </p:cNvSpPr>
          <p:nvPr/>
        </p:nvSpPr>
        <p:spPr>
          <a:xfrm>
            <a:off x="9525000" y="4991100"/>
            <a:ext cx="1857375" cy="6762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2 paid pilots;</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positive contribution</a:t>
            </a:r>
          </a:p>
        </p:txBody>
      </p:sp>
      <p:sp>
        <p:nvSpPr>
          <p:cNvPr id="21" name="Proposed decision rules, not results. Native and privacy readiness precede pilots. [E1, E4"/>
          <p:cNvSpPr txBox="1"/>
          <p:nvPr/>
        </p:nvSpPr>
        <p:spPr>
          <a:xfrm>
            <a:off x="649224" y="6016752"/>
            <a:ext cx="10881360" cy="256032"/>
          </a:xfrm>
          <a:prstGeom prst="rect">
            <a:avLst/>
          </a:prstGeom>
          <a:noFill/>
        </p:spPr>
        <p:txBody>
          <a:bodyPr wrap="square" lIns="0" rIns="0" tIns="0" bIns="0">
            <a:noAutofit/>
          </a:bodyPr>
          <a:lstStyle/>
          <a:p>
            <a:pPr>
              <a:lnSpc>
                <a:spcPct val="110000"/>
              </a:lnSpc>
              <a:spcBef>
                <a:spcPts val="0"/>
              </a:spcBef>
              <a:spcAft>
                <a:spcPts val="0"/>
              </a:spcAft>
            </a:pPr>
            <a:r>
              <a:rPr sz="1150" b="0">
                <a:solidFill>
                  <a:srgbClr val="5F7D82"/>
                </a:solidFill>
                <a:latin typeface="Charter"/>
              </a:rPr>
              <a:t>Proposed decision rules, not results. Native and privacy readiness precede pilots. [E1, E4]</a:t>
            </a:r>
          </a:p>
        </p:txBody>
      </p:sp>
    </p:spTree>
    <p:extLst>
      <p:ext uri="{BB962C8B-B14F-4D97-AF65-F5344CB8AC3E}">
        <p14:creationId xmlns:p14="http://schemas.microsoft.com/office/powerpoint/2010/main" val="10905570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3047"/>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38197C-C449-4A42-AD3B-1BE15CDFF645}"/>
              </a:ext>
            </a:extLst>
          </p:cNvPr>
          <p:cNvSpPr>
            <a:spLocks noGrp="1"/>
          </p:cNvSpPr>
          <p:nvPr/>
        </p:nvSpPr>
        <p:spPr>
          <a:xfrm>
            <a:off x="647700" y="847725"/>
            <a:ext cx="800100" cy="57150"/>
          </a:xfrm>
          <a:prstGeom prst="rect">
            <a:avLst/>
          </a:prstGeom>
          <a:solidFill>
            <a:srgbClr val="C96D4B"/>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 name="Questions">
            <a:extLst>
              <a:ext uri="{FF2B5EF4-FFF2-40B4-BE49-F238E27FC236}">
                <a16:creationId xmlns:a16="http://schemas.microsoft.com/office/drawing/2014/main" id="{2FD03C51-9161-4515-BD3C-1273B9793B7F}"/>
              </a:ext>
            </a:extLst>
          </p:cNvPr>
          <p:cNvSpPr>
            <a:spLocks noGrp="1"/>
          </p:cNvSpPr>
          <p:nvPr/>
        </p:nvSpPr>
        <p:spPr>
          <a:xfrm>
            <a:off x="647700" y="2095500"/>
            <a:ext cx="9906000" cy="1143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4875" b="1">
                <a:solidFill>
                  <a:srgbClr val="FFFFFF"/>
                </a:solidFill>
                <a:latin typeface="Charter"/>
                <a:ea typeface="Charter"/>
                <a:cs typeface="Charter"/>
              </a:defRPr>
            </a:pPr>
            <a:r>
              <a:rPr kumimoji="0" sz="4875" b="1" i="0" u="none" strike="noStrike" kern="1200" cap="none" spc="0" normalizeH="0" baseline="0" noProof="0">
                <a:ln>
                  <a:noFill/>
                </a:ln>
                <a:solidFill>
                  <a:srgbClr val="FFFFFF"/>
                </a:solidFill>
                <a:effectLst/>
                <a:uLnTx/>
                <a:uFillTx/>
                <a:latin typeface="Charter"/>
                <a:ea typeface="Charter"/>
                <a:cs typeface="Charter"/>
              </a:rPr>
              <a:t>Questions</a:t>
            </a:r>
          </a:p>
        </p:txBody>
      </p:sp>
      <p:sp>
        <p:nvSpPr>
          <p:cNvPr id="3" name="5 minutes">
            <a:extLst>
              <a:ext uri="{FF2B5EF4-FFF2-40B4-BE49-F238E27FC236}">
                <a16:creationId xmlns:a16="http://schemas.microsoft.com/office/drawing/2014/main" id="{4D868B6F-3D4F-4EE2-8ED1-FB74A761CB40}"/>
              </a:ext>
            </a:extLst>
          </p:cNvPr>
          <p:cNvSpPr>
            <a:spLocks noGrp="1"/>
          </p:cNvSpPr>
          <p:nvPr/>
        </p:nvSpPr>
        <p:spPr>
          <a:xfrm>
            <a:off x="647700" y="3476625"/>
            <a:ext cx="4762500" cy="4572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100" b="0">
                <a:solidFill>
                  <a:srgbClr val="BFE0DA"/>
                </a:solidFill>
                <a:latin typeface="Charter"/>
                <a:ea typeface="Charter"/>
                <a:cs typeface="Charter"/>
              </a:defRPr>
            </a:pPr>
            <a:r>
              <a:rPr kumimoji="0" sz="2100" b="0" i="0" u="none" strike="noStrike" kern="1200" cap="none" spc="0" normalizeH="0" baseline="0" noProof="0">
                <a:ln>
                  <a:noFill/>
                </a:ln>
                <a:solidFill>
                  <a:srgbClr val="BFE0DA"/>
                </a:solidFill>
                <a:effectLst/>
                <a:uLnTx/>
                <a:uFillTx/>
                <a:latin typeface="Charter"/>
                <a:ea typeface="Charter"/>
                <a:cs typeface="Charter"/>
              </a:rPr>
              <a:t>5 minutes</a:t>
            </a:r>
          </a:p>
        </p:txBody>
      </p:sp>
      <p:sp>
        <p:nvSpPr>
          <p:cNvPr id="4" name="HealthLoop · Hong Kong habit service · Team A / B / C / D">
            <a:extLst>
              <a:ext uri="{FF2B5EF4-FFF2-40B4-BE49-F238E27FC236}">
                <a16:creationId xmlns:a16="http://schemas.microsoft.com/office/drawing/2014/main" id="{1D41F824-D6C2-4535-9281-F877037A80FE}"/>
              </a:ext>
            </a:extLst>
          </p:cNvPr>
          <p:cNvSpPr>
            <a:spLocks noGrp="1"/>
          </p:cNvSpPr>
          <p:nvPr/>
        </p:nvSpPr>
        <p:spPr>
          <a:xfrm>
            <a:off x="647700" y="5962650"/>
            <a:ext cx="9525000" cy="304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BFE0DA"/>
                </a:solidFill>
                <a:latin typeface="Charter"/>
                <a:ea typeface="Charter"/>
                <a:cs typeface="Charter"/>
              </a:defRPr>
            </a:pPr>
            <a:r>
              <a:rPr kumimoji="0" sz="1425" b="0" i="0" u="none" strike="noStrike" kern="1200" cap="none" spc="0" normalizeH="0" baseline="0" noProof="0">
                <a:ln>
                  <a:noFill/>
                </a:ln>
                <a:solidFill>
                  <a:srgbClr val="BFE0DA"/>
                </a:solidFill>
                <a:effectLst/>
                <a:uLnTx/>
                <a:uFillTx/>
                <a:latin typeface="Charter"/>
                <a:ea typeface="Charter"/>
                <a:cs typeface="Charter"/>
              </a:rPr>
              <a:t>HealthLoop · Hong Kong habit service · Team A / B / C / D</a:t>
            </a:r>
          </a:p>
        </p:txBody>
      </p:sp>
      <p:sp>
        <p:nvSpPr>
          <p:cNvPr id="6" name="Which evidence should decide whether HealthLoop proceeds to a pilot?"/>
          <p:cNvSpPr txBox="1"/>
          <p:nvPr/>
        </p:nvSpPr>
        <p:spPr>
          <a:xfrm>
            <a:off x="649224" y="4389120"/>
            <a:ext cx="10515600" cy="685800"/>
          </a:xfrm>
          <a:prstGeom prst="rect">
            <a:avLst/>
          </a:prstGeom>
          <a:noFill/>
        </p:spPr>
        <p:txBody>
          <a:bodyPr wrap="square" lIns="0" rIns="0" tIns="0" bIns="0">
            <a:noAutofit/>
          </a:bodyPr>
          <a:lstStyle/>
          <a:p>
            <a:pPr>
              <a:lnSpc>
                <a:spcPct val="110000"/>
              </a:lnSpc>
              <a:spcBef>
                <a:spcPts val="0"/>
              </a:spcBef>
              <a:spcAft>
                <a:spcPts val="0"/>
              </a:spcAft>
            </a:pPr>
            <a:r>
              <a:rPr sz="2100" b="0">
                <a:solidFill>
                  <a:srgbClr val="B7D8DA"/>
                </a:solidFill>
                <a:latin typeface="Charter"/>
              </a:rPr>
              <a:t>Which evidence should decide whether HealthLoop proceeds to a pilot?</a:t>
            </a:r>
          </a:p>
        </p:txBody>
      </p:sp>
    </p:spTree>
    <p:extLst>
      <p:ext uri="{BB962C8B-B14F-4D97-AF65-F5344CB8AC3E}">
        <p14:creationId xmlns:p14="http://schemas.microsoft.com/office/powerpoint/2010/main" val="1119226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6" name="APPENDIX">
            <a:extLst>
              <a:ext uri="{FF2B5EF4-FFF2-40B4-BE49-F238E27FC236}">
                <a16:creationId xmlns:a16="http://schemas.microsoft.com/office/drawing/2014/main" id="{C961BB2D-602D-406A-875E-93476B2763F4}"/>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APPENDIX</a:t>
            </a:r>
          </a:p>
        </p:txBody>
      </p:sp>
      <p:sp>
        <p:nvSpPr>
          <p:cNvPr id="2" name="Appendix: evidence and source ">
            <a:extLst>
              <a:ext uri="{FF2B5EF4-FFF2-40B4-BE49-F238E27FC236}">
                <a16:creationId xmlns:a16="http://schemas.microsoft.com/office/drawing/2014/main" id="{9B1111F5-9999-4A20-9B8E-BB7995C995F9}"/>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Charter"/>
                <a:ea typeface="Charter"/>
                <a:cs typeface="Charter"/>
              </a:defRPr>
            </a:pPr>
            <a:r>
              <a:rPr kumimoji="0" sz="2925" b="1" i="0" u="none" strike="noStrike" kern="1200" cap="none" spc="0" normalizeH="0" baseline="0" noProof="0">
                <a:ln>
                  <a:noFill/>
                </a:ln>
                <a:solidFill>
                  <a:srgbClr val="123047"/>
                </a:solidFill>
                <a:effectLst/>
                <a:uLnTx/>
                <a:uFillTx/>
                <a:latin typeface="Charter"/>
                <a:ea typeface="Charter"/>
                <a:cs typeface="Charter"/>
              </a:rPr>
              <a:t>Appendix: evidence and source register</a:t>
            </a:r>
          </a:p>
        </p:txBody>
      </p:sp>
      <p:sp>
        <p:nvSpPr>
          <p:cNvPr id="3" name="Rectangle 2">
            <a:extLst>
              <a:ext uri="{FF2B5EF4-FFF2-40B4-BE49-F238E27FC236}">
                <a16:creationId xmlns:a16="http://schemas.microsoft.com/office/drawing/2014/main" id="{D6E00148-7AF4-4D3D-8087-E44A584EF484}"/>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4B137C50-4817-46D4-979F-AE8CEBE535D1}"/>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COMM7115  ·  BUSINESS PROPOSAL RESEARCH</a:t>
            </a:r>
          </a:p>
        </p:txBody>
      </p:sp>
      <p:sp>
        <p:nvSpPr>
          <p:cNvPr id="5" name="16   /   BACKUP">
            <a:extLst>
              <a:ext uri="{FF2B5EF4-FFF2-40B4-BE49-F238E27FC236}">
                <a16:creationId xmlns:a16="http://schemas.microsoft.com/office/drawing/2014/main" id="{650E1936-5D17-451D-A42B-06DEAF87BC44}"/>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16   /   BACKUP</a:t>
            </a:r>
          </a:p>
        </p:txBody>
      </p:sp>
      <p:sp>
        <p:nvSpPr>
          <p:cNvPr id="6" name="CLAIM / SLIDES">
            <a:extLst>
              <a:ext uri="{FF2B5EF4-FFF2-40B4-BE49-F238E27FC236}">
                <a16:creationId xmlns:a16="http://schemas.microsoft.com/office/drawing/2014/main" id="{79B79906-29B2-4F25-AC1F-D7278F0B5F79}"/>
              </a:ext>
            </a:extLst>
          </p:cNvPr>
          <p:cNvSpPr>
            <a:spLocks noGrp="1"/>
          </p:cNvSpPr>
          <p:nvPr/>
        </p:nvSpPr>
        <p:spPr>
          <a:xfrm>
            <a:off x="647700" y="1924050"/>
            <a:ext cx="28575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CLAIM / SLIDES</a:t>
            </a:r>
          </a:p>
        </p:txBody>
      </p:sp>
      <p:sp>
        <p:nvSpPr>
          <p:cNvPr id="7" name="SOURCE ID / RECORD">
            <a:extLst>
              <a:ext uri="{FF2B5EF4-FFF2-40B4-BE49-F238E27FC236}">
                <a16:creationId xmlns:a16="http://schemas.microsoft.com/office/drawing/2014/main" id="{B85E73ED-4A4E-46C7-81D1-EC957A6C2716}"/>
              </a:ext>
            </a:extLst>
          </p:cNvPr>
          <p:cNvSpPr>
            <a:spLocks noGrp="1"/>
          </p:cNvSpPr>
          <p:nvPr/>
        </p:nvSpPr>
        <p:spPr>
          <a:xfrm>
            <a:off x="3867150" y="1924050"/>
            <a:ext cx="32861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SOURCE ID / RECORD</a:t>
            </a:r>
          </a:p>
        </p:txBody>
      </p:sp>
      <p:sp>
        <p:nvSpPr>
          <p:cNvPr id="8" name="DATE AND EVIDENCE LIMIT">
            <a:extLst>
              <a:ext uri="{FF2B5EF4-FFF2-40B4-BE49-F238E27FC236}">
                <a16:creationId xmlns:a16="http://schemas.microsoft.com/office/drawing/2014/main" id="{636DEDA4-26E0-409D-9CE4-284DCE58DC2D}"/>
              </a:ext>
            </a:extLst>
          </p:cNvPr>
          <p:cNvSpPr>
            <a:spLocks noGrp="1"/>
          </p:cNvSpPr>
          <p:nvPr/>
        </p:nvSpPr>
        <p:spPr>
          <a:xfrm>
            <a:off x="7543800" y="1924050"/>
            <a:ext cx="3857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DATE AND EVIDENCE LIMIT</a:t>
            </a:r>
          </a:p>
        </p:txBody>
      </p:sp>
      <p:sp>
        <p:nvSpPr>
          <p:cNvPr id="9" name="Rectangle 8">
            <a:extLst>
              <a:ext uri="{FF2B5EF4-FFF2-40B4-BE49-F238E27FC236}">
                <a16:creationId xmlns:a16="http://schemas.microsoft.com/office/drawing/2014/main" id="{9AA0E1D3-DDAB-49C9-A1BB-A44A54106BDE}"/>
              </a:ext>
            </a:extLst>
          </p:cNvPr>
          <p:cNvSpPr>
            <a:spLocks noGrp="1"/>
          </p:cNvSpPr>
          <p:nvPr/>
        </p:nvSpPr>
        <p:spPr>
          <a:xfrm>
            <a:off x="647700" y="22193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0" name="Market and alternatives Slides 4, 7–8">
            <a:extLst>
              <a:ext uri="{FF2B5EF4-FFF2-40B4-BE49-F238E27FC236}">
                <a16:creationId xmlns:a16="http://schemas.microsoft.com/office/drawing/2014/main" id="{525876D9-DE32-4FFD-ABB5-093AC8A1C364}"/>
              </a:ext>
            </a:extLst>
          </p:cNvPr>
          <p:cNvSpPr>
            <a:spLocks noGrp="1"/>
          </p:cNvSpPr>
          <p:nvPr/>
        </p:nvSpPr>
        <p:spPr>
          <a:xfrm>
            <a:off x="647700" y="2305050"/>
            <a:ext cx="3000375"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Market and alternatives</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Slides 4, 7–8</a:t>
            </a:r>
          </a:p>
        </p:txBody>
      </p:sp>
      <p:sp>
        <p:nvSpPr>
          <p:cNvPr id="11" name="S1 · Hong Kong DH report S2 · Apple; S3 · Sweatcoin">
            <a:extLst>
              <a:ext uri="{FF2B5EF4-FFF2-40B4-BE49-F238E27FC236}">
                <a16:creationId xmlns:a16="http://schemas.microsoft.com/office/drawing/2014/main" id="{58B8EFCB-644E-4DBA-9A5E-DE0753FE8EE0}"/>
              </a:ext>
            </a:extLst>
          </p:cNvPr>
          <p:cNvSpPr>
            <a:spLocks noGrp="1"/>
          </p:cNvSpPr>
          <p:nvPr/>
        </p:nvSpPr>
        <p:spPr>
          <a:xfrm>
            <a:off x="3867150" y="2305050"/>
            <a:ext cx="3429000"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hlinkClick r:id="rId3"/>
              </a:rPr>
              <a:t>S1 · Hong Kong DH report</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S2 · Apple; S3 · Sweatcoin</a:t>
            </a:r>
          </a:p>
        </p:txBody>
      </p:sp>
      <p:sp>
        <p:nvSpPr>
          <p:cNvPr id="12" name="2023 survey / official product pages. Checked 5 Oct 2026; no demand proof.">
            <a:extLst>
              <a:ext uri="{FF2B5EF4-FFF2-40B4-BE49-F238E27FC236}">
                <a16:creationId xmlns:a16="http://schemas.microsoft.com/office/drawing/2014/main" id="{8AB698BE-0B0D-4B63-9CC0-A07AFE592848}"/>
              </a:ext>
            </a:extLst>
          </p:cNvPr>
          <p:cNvSpPr>
            <a:spLocks noGrp="1"/>
          </p:cNvSpPr>
          <p:nvPr/>
        </p:nvSpPr>
        <p:spPr>
          <a:xfrm>
            <a:off x="7543800" y="2305050"/>
            <a:ext cx="3810000"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2023 survey / official product pages.</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Checked 5 Oct 2026; no demand proof.</a:t>
            </a:r>
          </a:p>
        </p:txBody>
      </p:sp>
      <p:sp>
        <p:nvSpPr>
          <p:cNvPr id="13" name="Rectangle 12">
            <a:extLst>
              <a:ext uri="{FF2B5EF4-FFF2-40B4-BE49-F238E27FC236}">
                <a16:creationId xmlns:a16="http://schemas.microsoft.com/office/drawing/2014/main" id="{602C232F-D50A-4347-A9A6-8066AD6D5BAF}"/>
              </a:ext>
            </a:extLst>
          </p:cNvPr>
          <p:cNvSpPr>
            <a:spLocks noGrp="1"/>
          </p:cNvSpPr>
          <p:nvPr/>
        </p:nvSpPr>
        <p:spPr>
          <a:xfrm>
            <a:off x="647700" y="30956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4" name="Data and sponsor boundary Slides 12–14, 19">
            <a:extLst>
              <a:ext uri="{FF2B5EF4-FFF2-40B4-BE49-F238E27FC236}">
                <a16:creationId xmlns:a16="http://schemas.microsoft.com/office/drawing/2014/main" id="{6298C9B2-A2B1-4622-BF24-F1273960E63C}"/>
              </a:ext>
            </a:extLst>
          </p:cNvPr>
          <p:cNvSpPr>
            <a:spLocks noGrp="1"/>
          </p:cNvSpPr>
          <p:nvPr/>
        </p:nvSpPr>
        <p:spPr>
          <a:xfrm>
            <a:off x="647700" y="3181350"/>
            <a:ext cx="3000375"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Data and sponsor boundary</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Slides 12–14, 19</a:t>
            </a:r>
          </a:p>
        </p:txBody>
      </p:sp>
      <p:sp>
        <p:nvSpPr>
          <p:cNvPr id="15" name="S4 · Apple review guidelines E1 · Brief and requirements">
            <a:extLst>
              <a:ext uri="{FF2B5EF4-FFF2-40B4-BE49-F238E27FC236}">
                <a16:creationId xmlns:a16="http://schemas.microsoft.com/office/drawing/2014/main" id="{EBFC80C7-3711-46F9-9575-7CA2A28ABF3E}"/>
              </a:ext>
            </a:extLst>
          </p:cNvPr>
          <p:cNvSpPr>
            <a:spLocks noGrp="1"/>
          </p:cNvSpPr>
          <p:nvPr/>
        </p:nvSpPr>
        <p:spPr>
          <a:xfrm>
            <a:off x="3867150" y="3181350"/>
            <a:ext cx="3429000"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hlinkClick r:id="rId4"/>
              </a:rPr>
              <a:t>S4 · Apple review guidelines</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E1 · Brief and requirements</a:t>
            </a:r>
          </a:p>
        </p:txBody>
      </p:sp>
      <p:sp>
        <p:nvSpPr>
          <p:cNvPr id="16" name="Checked 5 Oct 2026. No platform or legal approval claimed.">
            <a:extLst>
              <a:ext uri="{FF2B5EF4-FFF2-40B4-BE49-F238E27FC236}">
                <a16:creationId xmlns:a16="http://schemas.microsoft.com/office/drawing/2014/main" id="{A3AE6968-0F59-4170-9CE0-9F862102424F}"/>
              </a:ext>
            </a:extLst>
          </p:cNvPr>
          <p:cNvSpPr>
            <a:spLocks noGrp="1"/>
          </p:cNvSpPr>
          <p:nvPr/>
        </p:nvSpPr>
        <p:spPr>
          <a:xfrm>
            <a:off x="7543800" y="3181350"/>
            <a:ext cx="3810000"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Checked 5 Oct 2026.</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No platform or legal approval claimed.</a:t>
            </a:r>
          </a:p>
        </p:txBody>
      </p:sp>
      <p:sp>
        <p:nvSpPr>
          <p:cNvPr id="17" name="Rectangle 16">
            <a:extLst>
              <a:ext uri="{FF2B5EF4-FFF2-40B4-BE49-F238E27FC236}">
                <a16:creationId xmlns:a16="http://schemas.microsoft.com/office/drawing/2014/main" id="{5AFD7ACF-50C7-4B5C-91EF-21ED273575EE}"/>
              </a:ext>
            </a:extLst>
          </p:cNvPr>
          <p:cNvSpPr>
            <a:spLocks noGrp="1"/>
          </p:cNvSpPr>
          <p:nvPr/>
        </p:nvSpPr>
        <p:spPr>
          <a:xfrm>
            <a:off x="647700" y="39719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8" name="Prototype and acceptance Slides 3, 8, 12, 19">
            <a:extLst>
              <a:ext uri="{FF2B5EF4-FFF2-40B4-BE49-F238E27FC236}">
                <a16:creationId xmlns:a16="http://schemas.microsoft.com/office/drawing/2014/main" id="{523DBCB0-BAB0-47B9-9FBB-BEB1A687EB13}"/>
              </a:ext>
            </a:extLst>
          </p:cNvPr>
          <p:cNvSpPr>
            <a:spLocks noGrp="1"/>
          </p:cNvSpPr>
          <p:nvPr/>
        </p:nvSpPr>
        <p:spPr>
          <a:xfrm>
            <a:off x="647700" y="4057650"/>
            <a:ext cx="3000375"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Prototype and acceptance</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Slides 3, 8, 12, 19</a:t>
            </a:r>
          </a:p>
        </p:txBody>
      </p:sp>
      <p:sp>
        <p:nvSpPr>
          <p:cNvPr id="19" name="E2 · Status and test evidence E3 · Simulator walkthrough">
            <a:extLst>
              <a:ext uri="{FF2B5EF4-FFF2-40B4-BE49-F238E27FC236}">
                <a16:creationId xmlns:a16="http://schemas.microsoft.com/office/drawing/2014/main" id="{65C1CCC7-FF5F-490F-BCAC-162784CD03EE}"/>
              </a:ext>
            </a:extLst>
          </p:cNvPr>
          <p:cNvSpPr>
            <a:spLocks noGrp="1"/>
          </p:cNvSpPr>
          <p:nvPr/>
        </p:nvSpPr>
        <p:spPr>
          <a:xfrm>
            <a:off x="3867150" y="4057650"/>
            <a:ext cx="3429000"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E2 · Status and test evidence</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E3 · Simulator walkthrough</a:t>
            </a:r>
          </a:p>
        </p:txBody>
      </p:sp>
      <p:sp>
        <p:nvSpPr>
          <p:cNvPr id="20" name="Sep/Oct 2026 engineering records. Real-device acceptance remains open.">
            <a:extLst>
              <a:ext uri="{FF2B5EF4-FFF2-40B4-BE49-F238E27FC236}">
                <a16:creationId xmlns:a16="http://schemas.microsoft.com/office/drawing/2014/main" id="{68BF6614-F616-4946-BDEC-F0ED27062FC7}"/>
              </a:ext>
            </a:extLst>
          </p:cNvPr>
          <p:cNvSpPr>
            <a:spLocks noGrp="1"/>
          </p:cNvSpPr>
          <p:nvPr/>
        </p:nvSpPr>
        <p:spPr>
          <a:xfrm>
            <a:off x="7543800" y="4057650"/>
            <a:ext cx="3810000"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Sep/Oct 2026 engineering records.</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Real-device acceptance remains open.</a:t>
            </a:r>
          </a:p>
        </p:txBody>
      </p:sp>
      <p:sp>
        <p:nvSpPr>
          <p:cNvPr id="21" name="Rectangle 20">
            <a:extLst>
              <a:ext uri="{FF2B5EF4-FFF2-40B4-BE49-F238E27FC236}">
                <a16:creationId xmlns:a16="http://schemas.microsoft.com/office/drawing/2014/main" id="{68E41DB5-8E87-4227-982C-96D267D7B5FE}"/>
              </a:ext>
            </a:extLst>
          </p:cNvPr>
          <p:cNvSpPr>
            <a:spLocks noGrp="1"/>
          </p:cNvSpPr>
          <p:nvPr/>
        </p:nvSpPr>
        <p:spPr>
          <a:xfrm>
            <a:off x="647700" y="48482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2" name="Business and research plan Slides 5–6, 9–11, 13–14, 17–18">
            <a:extLst>
              <a:ext uri="{FF2B5EF4-FFF2-40B4-BE49-F238E27FC236}">
                <a16:creationId xmlns:a16="http://schemas.microsoft.com/office/drawing/2014/main" id="{DFE25585-6DD2-4DD5-877D-C08346C2F97C}"/>
              </a:ext>
            </a:extLst>
          </p:cNvPr>
          <p:cNvSpPr>
            <a:spLocks noGrp="1"/>
          </p:cNvSpPr>
          <p:nvPr/>
        </p:nvSpPr>
        <p:spPr>
          <a:xfrm>
            <a:off x="647700" y="4933950"/>
            <a:ext cx="3000375"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Business and research plan</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Slides 5–6, 9–11, 13–14, 17–18</a:t>
            </a:r>
          </a:p>
        </p:txBody>
      </p:sp>
      <p:sp>
        <p:nvSpPr>
          <p:cNvPr id="23" name="E4 · Existing business proposal Proposed research in this deck">
            <a:extLst>
              <a:ext uri="{FF2B5EF4-FFF2-40B4-BE49-F238E27FC236}">
                <a16:creationId xmlns:a16="http://schemas.microsoft.com/office/drawing/2014/main" id="{657A6D63-92C8-440A-A230-4F639C903739}"/>
              </a:ext>
            </a:extLst>
          </p:cNvPr>
          <p:cNvSpPr>
            <a:spLocks noGrp="1"/>
          </p:cNvSpPr>
          <p:nvPr/>
        </p:nvSpPr>
        <p:spPr>
          <a:xfrm>
            <a:off x="3867150" y="4933950"/>
            <a:ext cx="3429000"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E4 · Existing business proposal</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Proposed research in this deck</a:t>
            </a:r>
          </a:p>
        </p:txBody>
      </p:sp>
      <p:sp>
        <p:nvSpPr>
          <p:cNvPr id="24" name="28 Sep 2026 assumptions. No customer, revenue or retention proof.">
            <a:extLst>
              <a:ext uri="{FF2B5EF4-FFF2-40B4-BE49-F238E27FC236}">
                <a16:creationId xmlns:a16="http://schemas.microsoft.com/office/drawing/2014/main" id="{7E0FE626-AA12-4F7B-B094-5055271AB4A1}"/>
              </a:ext>
            </a:extLst>
          </p:cNvPr>
          <p:cNvSpPr>
            <a:spLocks noGrp="1"/>
          </p:cNvSpPr>
          <p:nvPr/>
        </p:nvSpPr>
        <p:spPr>
          <a:xfrm>
            <a:off x="7543800" y="4933950"/>
            <a:ext cx="3810000"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28 Sep 2026 assumptions.</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Charter"/>
                <a:ea typeface="Charter"/>
                <a:cs typeface="Charter"/>
              </a:defRPr>
            </a:pPr>
            <a:r>
              <a:rPr kumimoji="0" sz="1500" b="0" i="0" u="none" strike="noStrike" kern="1200" cap="none" spc="0" normalizeH="0" baseline="0" noProof="0">
                <a:ln>
                  <a:noFill/>
                </a:ln>
                <a:solidFill>
                  <a:srgbClr val="163449"/>
                </a:solidFill>
                <a:effectLst/>
                <a:uLnTx/>
                <a:uFillTx/>
                <a:latin typeface="Charter"/>
                <a:ea typeface="Charter"/>
                <a:cs typeface="Charter"/>
              </a:rPr>
              <a:t>No customer, revenue or retention proof.</a:t>
            </a:r>
          </a:p>
        </p:txBody>
      </p:sp>
      <p:sp>
        <p:nvSpPr>
          <p:cNvPr id="25" name="Rectangle 24">
            <a:extLst>
              <a:ext uri="{FF2B5EF4-FFF2-40B4-BE49-F238E27FC236}">
                <a16:creationId xmlns:a16="http://schemas.microsoft.com/office/drawing/2014/main" id="{1B380E69-796B-47E2-947F-3AB2234A7BFD}"/>
              </a:ext>
            </a:extLst>
          </p:cNvPr>
          <p:cNvSpPr>
            <a:spLocks noGrp="1"/>
          </p:cNvSpPr>
          <p:nvPr/>
        </p:nvSpPr>
        <p:spPr>
          <a:xfrm>
            <a:off x="647700" y="575310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7" name="Source IDs are used throughout. Full links and evidence scope are included in the speaker "/>
          <p:cNvSpPr txBox="1"/>
          <p:nvPr/>
        </p:nvSpPr>
        <p:spPr>
          <a:xfrm>
            <a:off x="649224" y="5989320"/>
            <a:ext cx="10881360" cy="246888"/>
          </a:xfrm>
          <a:prstGeom prst="rect">
            <a:avLst/>
          </a:prstGeom>
          <a:noFill/>
        </p:spPr>
        <p:txBody>
          <a:bodyPr wrap="square" lIns="0" rIns="0" tIns="0" bIns="0">
            <a:noAutofit/>
          </a:bodyPr>
          <a:lstStyle/>
          <a:p>
            <a:pPr>
              <a:lnSpc>
                <a:spcPct val="110000"/>
              </a:lnSpc>
              <a:spcBef>
                <a:spcPts val="0"/>
              </a:spcBef>
              <a:spcAft>
                <a:spcPts val="0"/>
              </a:spcAft>
            </a:pPr>
            <a:r>
              <a:rPr sz="1100" b="0">
                <a:solidFill>
                  <a:srgbClr val="5F7D82"/>
                </a:solidFill>
                <a:latin typeface="Charter"/>
              </a:rPr>
              <a:t>Source IDs are used throughout. Full links and evidence scope are included in the speaker notes.</a:t>
            </a:r>
          </a:p>
        </p:txBody>
      </p:sp>
    </p:spTree>
    <p:extLst>
      <p:ext uri="{BB962C8B-B14F-4D97-AF65-F5344CB8AC3E}">
        <p14:creationId xmlns:p14="http://schemas.microsoft.com/office/powerpoint/2010/main" val="911511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3" name="APPENDIX">
            <a:extLst>
              <a:ext uri="{FF2B5EF4-FFF2-40B4-BE49-F238E27FC236}">
                <a16:creationId xmlns:a16="http://schemas.microsoft.com/office/drawing/2014/main" id="{403F7EA9-7273-44CA-AAEE-E5F40A5C58B3}"/>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APPENDIX</a:t>
            </a:r>
          </a:p>
        </p:txBody>
      </p:sp>
      <p:sp>
        <p:nvSpPr>
          <p:cNvPr id="2" name="Appendix: proposed research instrument">
            <a:extLst>
              <a:ext uri="{FF2B5EF4-FFF2-40B4-BE49-F238E27FC236}">
                <a16:creationId xmlns:a16="http://schemas.microsoft.com/office/drawing/2014/main" id="{5A801802-CAB0-433D-9740-5A3EBA26901B}"/>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Charter"/>
                <a:ea typeface="Charter"/>
                <a:cs typeface="Charter"/>
              </a:defRPr>
            </a:pPr>
            <a:r>
              <a:rPr kumimoji="0" sz="2925" b="1" i="0" u="none" strike="noStrike" kern="1200" cap="none" spc="0" normalizeH="0" baseline="0" noProof="0">
                <a:ln>
                  <a:noFill/>
                </a:ln>
                <a:solidFill>
                  <a:srgbClr val="123047"/>
                </a:solidFill>
                <a:effectLst/>
                <a:uLnTx/>
                <a:uFillTx/>
                <a:latin typeface="Charter"/>
                <a:ea typeface="Charter"/>
                <a:cs typeface="Charter"/>
              </a:rPr>
              <a:t>Appendix: proposed research instrument</a:t>
            </a:r>
          </a:p>
        </p:txBody>
      </p:sp>
      <p:sp>
        <p:nvSpPr>
          <p:cNvPr id="3" name="Rectangle 2">
            <a:extLst>
              <a:ext uri="{FF2B5EF4-FFF2-40B4-BE49-F238E27FC236}">
                <a16:creationId xmlns:a16="http://schemas.microsoft.com/office/drawing/2014/main" id="{813D1EC8-E79D-446C-97CD-A980F84C5223}"/>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5B1490CA-9F84-4DC5-9503-BA40357ED75E}"/>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COMM7115  ·  BUSINESS PROPOSAL RESEARCH</a:t>
            </a:r>
          </a:p>
        </p:txBody>
      </p:sp>
      <p:sp>
        <p:nvSpPr>
          <p:cNvPr id="5" name="17   /   BACKUP">
            <a:extLst>
              <a:ext uri="{FF2B5EF4-FFF2-40B4-BE49-F238E27FC236}">
                <a16:creationId xmlns:a16="http://schemas.microsoft.com/office/drawing/2014/main" id="{42D2B102-BB15-4AF7-9A1C-542F498798BD}"/>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17   /   BACKUP</a:t>
            </a:r>
          </a:p>
        </p:txBody>
      </p:sp>
      <p:sp>
        <p:nvSpPr>
          <p:cNvPr id="6" name="SAMPLE NEUTRAL QUESTIONS">
            <a:extLst>
              <a:ext uri="{FF2B5EF4-FFF2-40B4-BE49-F238E27FC236}">
                <a16:creationId xmlns:a16="http://schemas.microsoft.com/office/drawing/2014/main" id="{F6CF59C3-15E2-405A-BEFA-090F08B86018}"/>
              </a:ext>
            </a:extLst>
          </p:cNvPr>
          <p:cNvSpPr>
            <a:spLocks noGrp="1"/>
          </p:cNvSpPr>
          <p:nvPr/>
        </p:nvSpPr>
        <p:spPr>
          <a:xfrm>
            <a:off x="647700" y="1933575"/>
            <a:ext cx="5048250" cy="2476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SAMPLE NEUTRAL QUESTIONS</a:t>
            </a:r>
          </a:p>
        </p:txBody>
      </p:sp>
      <p:sp>
        <p:nvSpPr>
          <p:cNvPr id="7" name="PLANNED ANALYSIS PROCESS">
            <a:extLst>
              <a:ext uri="{FF2B5EF4-FFF2-40B4-BE49-F238E27FC236}">
                <a16:creationId xmlns:a16="http://schemas.microsoft.com/office/drawing/2014/main" id="{D7113B33-6C24-4C92-BEAB-843B0A45CD3A}"/>
              </a:ext>
            </a:extLst>
          </p:cNvPr>
          <p:cNvSpPr>
            <a:spLocks noGrp="1"/>
          </p:cNvSpPr>
          <p:nvPr/>
        </p:nvSpPr>
        <p:spPr>
          <a:xfrm>
            <a:off x="6448425" y="1933575"/>
            <a:ext cx="4762500" cy="2476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PLANNED ANALYSIS PROCESS</a:t>
            </a:r>
          </a:p>
        </p:txBody>
      </p:sp>
      <p:sp>
        <p:nvSpPr>
          <p:cNvPr id="8" name="1. Tell me about the last time you tried to be more active.">
            <a:extLst>
              <a:ext uri="{FF2B5EF4-FFF2-40B4-BE49-F238E27FC236}">
                <a16:creationId xmlns:a16="http://schemas.microsoft.com/office/drawing/2014/main" id="{DC260B6F-8935-4EAB-9E5F-6261B41DBC51}"/>
              </a:ext>
            </a:extLst>
          </p:cNvPr>
          <p:cNvSpPr>
            <a:spLocks noGrp="1"/>
          </p:cNvSpPr>
          <p:nvPr/>
        </p:nvSpPr>
        <p:spPr>
          <a:xfrm>
            <a:off x="647700" y="2333625"/>
            <a:ext cx="523875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1. Tell me about the last time you tried to be more active.</a:t>
            </a:r>
          </a:p>
        </p:txBody>
      </p:sp>
      <p:sp>
        <p:nvSpPr>
          <p:cNvPr id="9" name="Rectangle 8">
            <a:extLst>
              <a:ext uri="{FF2B5EF4-FFF2-40B4-BE49-F238E27FC236}">
                <a16:creationId xmlns:a16="http://schemas.microsoft.com/office/drawing/2014/main" id="{1CBEE285-194F-426F-B144-9AD1CD42ADCB}"/>
              </a:ext>
            </a:extLst>
          </p:cNvPr>
          <p:cNvSpPr>
            <a:spLocks noGrp="1"/>
          </p:cNvSpPr>
          <p:nvPr/>
        </p:nvSpPr>
        <p:spPr>
          <a:xfrm>
            <a:off x="647700" y="2857500"/>
            <a:ext cx="49530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0" name="2. Which tool did you use, and what happened next?">
            <a:extLst>
              <a:ext uri="{FF2B5EF4-FFF2-40B4-BE49-F238E27FC236}">
                <a16:creationId xmlns:a16="http://schemas.microsoft.com/office/drawing/2014/main" id="{F00C393D-6A13-4FE9-8FB0-1AADB35DCA4A}"/>
              </a:ext>
            </a:extLst>
          </p:cNvPr>
          <p:cNvSpPr>
            <a:spLocks noGrp="1"/>
          </p:cNvSpPr>
          <p:nvPr/>
        </p:nvSpPr>
        <p:spPr>
          <a:xfrm>
            <a:off x="647700" y="2952750"/>
            <a:ext cx="523875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2. Which tool did you use, and what happened next?</a:t>
            </a:r>
          </a:p>
        </p:txBody>
      </p:sp>
      <p:sp>
        <p:nvSpPr>
          <p:cNvPr id="11" name="Rectangle 10">
            <a:extLst>
              <a:ext uri="{FF2B5EF4-FFF2-40B4-BE49-F238E27FC236}">
                <a16:creationId xmlns:a16="http://schemas.microsoft.com/office/drawing/2014/main" id="{EA48A54D-1B7B-4B6B-ABDC-FC1DC702B6D9}"/>
              </a:ext>
            </a:extLst>
          </p:cNvPr>
          <p:cNvSpPr>
            <a:spLocks noGrp="1"/>
          </p:cNvSpPr>
          <p:nvPr/>
        </p:nvSpPr>
        <p:spPr>
          <a:xfrm>
            <a:off x="647700" y="3476625"/>
            <a:ext cx="49530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2" name="3. Where did the routine become difficult?">
            <a:extLst>
              <a:ext uri="{FF2B5EF4-FFF2-40B4-BE49-F238E27FC236}">
                <a16:creationId xmlns:a16="http://schemas.microsoft.com/office/drawing/2014/main" id="{08420AFE-6E8E-4D3F-8DB8-DC8F5EC3D4C2}"/>
              </a:ext>
            </a:extLst>
          </p:cNvPr>
          <p:cNvSpPr>
            <a:spLocks noGrp="1"/>
          </p:cNvSpPr>
          <p:nvPr/>
        </p:nvSpPr>
        <p:spPr>
          <a:xfrm>
            <a:off x="647700" y="3571875"/>
            <a:ext cx="523875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3. Where did the routine become difficult?</a:t>
            </a:r>
          </a:p>
        </p:txBody>
      </p:sp>
      <p:sp>
        <p:nvSpPr>
          <p:cNvPr id="13" name="Rectangle 12">
            <a:extLst>
              <a:ext uri="{FF2B5EF4-FFF2-40B4-BE49-F238E27FC236}">
                <a16:creationId xmlns:a16="http://schemas.microsoft.com/office/drawing/2014/main" id="{B658609A-15AE-49DB-AF2E-D8CB6676A0C0}"/>
              </a:ext>
            </a:extLst>
          </p:cNvPr>
          <p:cNvSpPr>
            <a:spLocks noGrp="1"/>
          </p:cNvSpPr>
          <p:nvPr/>
        </p:nvSpPr>
        <p:spPr>
          <a:xfrm>
            <a:off x="647700" y="4095750"/>
            <a:ext cx="49530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4" name="4. What would make you stop using an app like this?">
            <a:extLst>
              <a:ext uri="{FF2B5EF4-FFF2-40B4-BE49-F238E27FC236}">
                <a16:creationId xmlns:a16="http://schemas.microsoft.com/office/drawing/2014/main" id="{0FD74E90-B615-41D0-BC5A-78287CBC651C}"/>
              </a:ext>
            </a:extLst>
          </p:cNvPr>
          <p:cNvSpPr>
            <a:spLocks noGrp="1"/>
          </p:cNvSpPr>
          <p:nvPr/>
        </p:nvSpPr>
        <p:spPr>
          <a:xfrm>
            <a:off x="647700" y="4191000"/>
            <a:ext cx="523875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4. What would make you stop using an app like this?</a:t>
            </a:r>
          </a:p>
        </p:txBody>
      </p:sp>
      <p:sp>
        <p:nvSpPr>
          <p:cNvPr id="15" name="Rectangle 14">
            <a:extLst>
              <a:ext uri="{FF2B5EF4-FFF2-40B4-BE49-F238E27FC236}">
                <a16:creationId xmlns:a16="http://schemas.microsoft.com/office/drawing/2014/main" id="{03F1494C-008E-4116-8A30-A2FC9EFFBCFB}"/>
              </a:ext>
            </a:extLst>
          </p:cNvPr>
          <p:cNvSpPr>
            <a:spLocks noGrp="1"/>
          </p:cNvSpPr>
          <p:nvPr/>
        </p:nvSpPr>
        <p:spPr>
          <a:xfrm>
            <a:off x="647700" y="4714875"/>
            <a:ext cx="49530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6" name="5. How do you decide whether to share activity data?">
            <a:extLst>
              <a:ext uri="{FF2B5EF4-FFF2-40B4-BE49-F238E27FC236}">
                <a16:creationId xmlns:a16="http://schemas.microsoft.com/office/drawing/2014/main" id="{0435F587-C4A2-49C3-8847-8FB7884A8E1B}"/>
              </a:ext>
            </a:extLst>
          </p:cNvPr>
          <p:cNvSpPr>
            <a:spLocks noGrp="1"/>
          </p:cNvSpPr>
          <p:nvPr/>
        </p:nvSpPr>
        <p:spPr>
          <a:xfrm>
            <a:off x="647700" y="4810125"/>
            <a:ext cx="523875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5. How do you decide whether to share activity data?</a:t>
            </a:r>
          </a:p>
        </p:txBody>
      </p:sp>
      <p:sp>
        <p:nvSpPr>
          <p:cNvPr id="17" name="Rectangle 16">
            <a:extLst>
              <a:ext uri="{FF2B5EF4-FFF2-40B4-BE49-F238E27FC236}">
                <a16:creationId xmlns:a16="http://schemas.microsoft.com/office/drawing/2014/main" id="{6EA180CA-5E29-4E8F-AB20-090E2EFE72F5}"/>
              </a:ext>
            </a:extLst>
          </p:cNvPr>
          <p:cNvSpPr>
            <a:spLocks noGrp="1"/>
          </p:cNvSpPr>
          <p:nvPr/>
        </p:nvSpPr>
        <p:spPr>
          <a:xfrm>
            <a:off x="647700" y="5334000"/>
            <a:ext cx="49530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8" name="Recruit across work, language and device contexts, including sceptics and people who decli">
            <a:extLst>
              <a:ext uri="{FF2B5EF4-FFF2-40B4-BE49-F238E27FC236}">
                <a16:creationId xmlns:a16="http://schemas.microsoft.com/office/drawing/2014/main" id="{340B1D6B-9D23-4E70-B4F3-CD2E24EFE23B}"/>
              </a:ext>
            </a:extLst>
          </p:cNvPr>
          <p:cNvSpPr>
            <a:spLocks noGrp="1"/>
          </p:cNvSpPr>
          <p:nvPr/>
        </p:nvSpPr>
        <p:spPr>
          <a:xfrm>
            <a:off x="6448425" y="2352675"/>
            <a:ext cx="4762500" cy="804672"/>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Charter"/>
                <a:ea typeface="Charter"/>
                <a:cs typeface="Charter"/>
              </a:defRPr>
            </a:pPr>
            <a:r>
              <a:rPr kumimoji="0" sz="1650" b="0" i="0" u="none" strike="noStrike" kern="1200" cap="none" spc="0" normalizeH="0" baseline="0" noProof="0">
                <a:ln>
                  <a:noFill/>
                </a:ln>
                <a:solidFill>
                  <a:srgbClr val="163449"/>
                </a:solidFill>
                <a:effectLst/>
                <a:uLnTx/>
                <a:uFillTx/>
                <a:latin typeface="Charter"/>
                <a:ea typeface="Charter"/>
                <a:cs typeface="Charter"/>
              </a:rPr>
              <a:t>Recruit across work, language and device contexts, including sceptics and people who decline consent.</a:t>
            </a:r>
          </a:p>
        </p:txBody>
      </p:sp>
      <p:sp>
        <p:nvSpPr>
          <p:cNvPr id="19" name="Rectangle 18">
            <a:extLst>
              <a:ext uri="{FF2B5EF4-FFF2-40B4-BE49-F238E27FC236}">
                <a16:creationId xmlns:a16="http://schemas.microsoft.com/office/drawing/2014/main" id="{FEF24DF7-41F6-4174-AC9D-F7A8F295C42D}"/>
              </a:ext>
            </a:extLst>
          </p:cNvPr>
          <p:cNvSpPr>
            <a:spLocks noGrp="1"/>
          </p:cNvSpPr>
          <p:nvPr/>
        </p:nvSpPr>
        <p:spPr>
          <a:xfrm>
            <a:off x="6448425" y="3182112"/>
            <a:ext cx="47625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0" name="Code trigger, workaround, friction, privacy and value. D synthesises; A checks interpretat">
            <a:extLst>
              <a:ext uri="{FF2B5EF4-FFF2-40B4-BE49-F238E27FC236}">
                <a16:creationId xmlns:a16="http://schemas.microsoft.com/office/drawing/2014/main" id="{C9BC8445-BCD6-4613-AD30-8E61602CC7F5}"/>
              </a:ext>
            </a:extLst>
          </p:cNvPr>
          <p:cNvSpPr>
            <a:spLocks noGrp="1"/>
          </p:cNvSpPr>
          <p:nvPr/>
        </p:nvSpPr>
        <p:spPr>
          <a:xfrm>
            <a:off x="6448425" y="3324225"/>
            <a:ext cx="4762500" cy="104241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Charter"/>
                <a:ea typeface="Charter"/>
                <a:cs typeface="Charter"/>
              </a:defRPr>
            </a:pPr>
            <a:r>
              <a:rPr kumimoji="0" sz="1650" b="0" i="0" u="none" strike="noStrike" kern="1200" cap="none" spc="0" normalizeH="0" baseline="0" noProof="0">
                <a:ln>
                  <a:noFill/>
                </a:ln>
                <a:solidFill>
                  <a:srgbClr val="163449"/>
                </a:solidFill>
                <a:effectLst/>
                <a:uLnTx/>
                <a:uFillTx/>
                <a:latin typeface="Charter"/>
                <a:ea typeface="Charter"/>
                <a:cs typeface="Charter"/>
              </a:rPr>
              <a:t>Code trigger, workaround, friction, privacy and value. D synthesises; A checks interpretation. Link every claim to a participant code.</a:t>
            </a:r>
          </a:p>
        </p:txBody>
      </p:sp>
      <p:sp>
        <p:nvSpPr>
          <p:cNvPr id="21" name="Rectangle 20">
            <a:extLst>
              <a:ext uri="{FF2B5EF4-FFF2-40B4-BE49-F238E27FC236}">
                <a16:creationId xmlns:a16="http://schemas.microsoft.com/office/drawing/2014/main" id="{2F7E8618-B1D0-4221-9CC0-6AF6E087D782}"/>
              </a:ext>
            </a:extLst>
          </p:cNvPr>
          <p:cNvSpPr>
            <a:spLocks noGrp="1"/>
          </p:cNvSpPr>
          <p:nvPr/>
        </p:nvSpPr>
        <p:spPr>
          <a:xfrm>
            <a:off x="6448425" y="4286250"/>
            <a:ext cx="47625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2" name="Actively test whether existing tools suffice, points add no value or buyers reject the pri">
            <a:extLst>
              <a:ext uri="{FF2B5EF4-FFF2-40B4-BE49-F238E27FC236}">
                <a16:creationId xmlns:a16="http://schemas.microsoft.com/office/drawing/2014/main" id="{40C9E904-030D-408E-B43A-599063B499C8}"/>
              </a:ext>
            </a:extLst>
          </p:cNvPr>
          <p:cNvSpPr>
            <a:spLocks noGrp="1"/>
          </p:cNvSpPr>
          <p:nvPr/>
        </p:nvSpPr>
        <p:spPr>
          <a:xfrm>
            <a:off x="6448425" y="4514850"/>
            <a:ext cx="4762500" cy="104241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Charter"/>
                <a:ea typeface="Charter"/>
                <a:cs typeface="Charter"/>
              </a:defRPr>
            </a:pPr>
            <a:r>
              <a:rPr kumimoji="0" sz="1650" b="0" i="0" u="none" strike="noStrike" kern="1200" cap="none" spc="0" normalizeH="0" baseline="0" noProof="0">
                <a:ln>
                  <a:noFill/>
                </a:ln>
                <a:solidFill>
                  <a:srgbClr val="163449"/>
                </a:solidFill>
                <a:effectLst/>
                <a:uLnTx/>
                <a:uFillTx/>
                <a:latin typeface="Charter"/>
                <a:ea typeface="Charter"/>
                <a:cs typeface="Charter"/>
              </a:rPr>
              <a:t>Actively test whether existing tools suffice, points add no value or buyers reject the price. Preserve contrary cases; no findings are claimed yet.</a:t>
            </a:r>
          </a:p>
        </p:txBody>
      </p:sp>
      <p:sp>
        <p:nvSpPr>
          <p:cNvPr id="24" name="Proposed instrument and synthesis process; no participant quotes or coded findings exist y"/>
          <p:cNvSpPr txBox="1"/>
          <p:nvPr/>
        </p:nvSpPr>
        <p:spPr>
          <a:xfrm>
            <a:off x="649224" y="5870448"/>
            <a:ext cx="10881360" cy="256032"/>
          </a:xfrm>
          <a:prstGeom prst="rect">
            <a:avLst/>
          </a:prstGeom>
          <a:noFill/>
        </p:spPr>
        <p:txBody>
          <a:bodyPr wrap="square" lIns="0" rIns="0" tIns="0" bIns="0">
            <a:noAutofit/>
          </a:bodyPr>
          <a:lstStyle/>
          <a:p>
            <a:pPr>
              <a:lnSpc>
                <a:spcPct val="110000"/>
              </a:lnSpc>
              <a:spcBef>
                <a:spcPts val="0"/>
              </a:spcBef>
              <a:spcAft>
                <a:spcPts val="0"/>
              </a:spcAft>
            </a:pPr>
            <a:r>
              <a:rPr sz="1150" b="0">
                <a:solidFill>
                  <a:srgbClr val="5F7D82"/>
                </a:solidFill>
                <a:latin typeface="Charter"/>
              </a:rPr>
              <a:t>Proposed instrument and synthesis process; no participant quotes or coded findings exist yet.</a:t>
            </a:r>
          </a:p>
        </p:txBody>
      </p:sp>
    </p:spTree>
    <p:extLst>
      <p:ext uri="{BB962C8B-B14F-4D97-AF65-F5344CB8AC3E}">
        <p14:creationId xmlns:p14="http://schemas.microsoft.com/office/powerpoint/2010/main" val="1161122651"/>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6" name="APPENDIX">
            <a:extLst>
              <a:ext uri="{FF2B5EF4-FFF2-40B4-BE49-F238E27FC236}">
                <a16:creationId xmlns:a16="http://schemas.microsoft.com/office/drawing/2014/main" id="{C961BB2D-602D-406A-875E-93476B2763F4}"/>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APPENDIX</a:t>
            </a:r>
          </a:p>
        </p:txBody>
      </p:sp>
      <p:sp>
        <p:nvSpPr>
          <p:cNvPr id="2" name="Appendix: illustrative delivery economics">
            <a:extLst>
              <a:ext uri="{FF2B5EF4-FFF2-40B4-BE49-F238E27FC236}">
                <a16:creationId xmlns:a16="http://schemas.microsoft.com/office/drawing/2014/main" id="{9B1111F5-9999-4A20-9B8E-BB7995C995F9}"/>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Charter"/>
                <a:ea typeface="Charter"/>
                <a:cs typeface="Charter"/>
              </a:defRPr>
            </a:pPr>
            <a:r>
              <a:rPr kumimoji="0" sz="2925" b="1" i="0" u="none" strike="noStrike" kern="1200" cap="none" spc="0" normalizeH="0" baseline="0" noProof="0">
                <a:ln>
                  <a:noFill/>
                </a:ln>
                <a:solidFill>
                  <a:srgbClr val="123047"/>
                </a:solidFill>
                <a:effectLst/>
                <a:uLnTx/>
                <a:uFillTx/>
                <a:latin typeface="Charter"/>
                <a:ea typeface="Charter"/>
                <a:cs typeface="Charter"/>
              </a:rPr>
              <a:t>Appendix: illustrative delivery economics</a:t>
            </a:r>
          </a:p>
        </p:txBody>
      </p:sp>
      <p:sp>
        <p:nvSpPr>
          <p:cNvPr id="3" name="Rectangle 2">
            <a:extLst>
              <a:ext uri="{FF2B5EF4-FFF2-40B4-BE49-F238E27FC236}">
                <a16:creationId xmlns:a16="http://schemas.microsoft.com/office/drawing/2014/main" id="{D6E00148-7AF4-4D3D-8087-E44A584EF484}"/>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4B137C50-4817-46D4-979F-AE8CEBE535D1}"/>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COMM7115  ·  BUSINESS PROPOSAL RESEARCH</a:t>
            </a:r>
          </a:p>
        </p:txBody>
      </p:sp>
      <p:sp>
        <p:nvSpPr>
          <p:cNvPr id="5" name="18 / BACKUP">
            <a:extLst>
              <a:ext uri="{FF2B5EF4-FFF2-40B4-BE49-F238E27FC236}">
                <a16:creationId xmlns:a16="http://schemas.microsoft.com/office/drawing/2014/main" id="{650E1936-5D17-451D-A42B-06DEAF87BC44}"/>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18   /   BACKUP</a:t>
            </a:r>
          </a:p>
        </p:txBody>
      </p:sp>
      <p:sp>
        <p:nvSpPr>
          <p:cNvPr id="27" name="Unvalidated HK$ per month · Planning assumptions, not a forecast [E4]"/>
          <p:cNvSpPr txBox="1"/>
          <p:nvPr/>
        </p:nvSpPr>
        <p:spPr>
          <a:xfrm>
            <a:off x="649224" y="1746504"/>
            <a:ext cx="10881360" cy="329184"/>
          </a:xfrm>
          <a:prstGeom prst="rect">
            <a:avLst/>
          </a:prstGeom>
          <a:noFill/>
        </p:spPr>
        <p:txBody>
          <a:bodyPr wrap="square" lIns="0" rIns="0" tIns="0" bIns="0">
            <a:noAutofit/>
          </a:bodyPr>
          <a:lstStyle/>
          <a:p>
            <a:pPr>
              <a:lnSpc>
                <a:spcPct val="110000"/>
              </a:lnSpc>
              <a:spcBef>
                <a:spcPts val="0"/>
              </a:spcBef>
              <a:spcAft>
                <a:spcPts val="0"/>
              </a:spcAft>
            </a:pPr>
            <a:r>
              <a:rPr sz="1400" b="0">
                <a:solidFill>
                  <a:srgbClr val="007F78"/>
                </a:solidFill>
                <a:latin typeface="Charter"/>
              </a:rPr>
              <a:t>Unvalidated HK$ per month · Planning assumptions, not a forecast [E4]</a:t>
            </a:r>
          </a:p>
        </p:txBody>
      </p:sp>
      <p:sp>
        <p:nvSpPr>
          <p:cNvPr id="28" name="CLIENTS / SPONSORS"/>
          <p:cNvSpPr txBox="1"/>
          <p:nvPr/>
        </p:nvSpPr>
        <p:spPr>
          <a:xfrm>
            <a:off x="649224" y="2240280"/>
            <a:ext cx="2834640" cy="237744"/>
          </a:xfrm>
          <a:prstGeom prst="rect">
            <a:avLst/>
          </a:prstGeom>
          <a:noFill/>
        </p:spPr>
        <p:txBody>
          <a:bodyPr wrap="square" lIns="0" rIns="0" tIns="0" bIns="0">
            <a:noAutofit/>
          </a:bodyPr>
          <a:lstStyle/>
          <a:p>
            <a:pPr>
              <a:lnSpc>
                <a:spcPct val="110000"/>
              </a:lnSpc>
              <a:spcBef>
                <a:spcPts val="0"/>
              </a:spcBef>
              <a:spcAft>
                <a:spcPts val="0"/>
              </a:spcAft>
            </a:pPr>
            <a:r>
              <a:rPr sz="1050" b="1">
                <a:solidFill>
                  <a:srgbClr val="007F78"/>
                </a:solidFill>
                <a:latin typeface="Charter"/>
              </a:rPr>
              <a:t>CLIENTS / SPONSORS</a:t>
            </a:r>
          </a:p>
        </p:txBody>
      </p:sp>
      <p:sp>
        <p:nvSpPr>
          <p:cNvPr id="29" name="MAU"/>
          <p:cNvSpPr txBox="1"/>
          <p:nvPr/>
        </p:nvSpPr>
        <p:spPr>
          <a:xfrm>
            <a:off x="3840480" y="2240280"/>
            <a:ext cx="1371600" cy="237744"/>
          </a:xfrm>
          <a:prstGeom prst="rect">
            <a:avLst/>
          </a:prstGeom>
          <a:noFill/>
        </p:spPr>
        <p:txBody>
          <a:bodyPr wrap="square" lIns="0" rIns="0" tIns="0" bIns="0">
            <a:noAutofit/>
          </a:bodyPr>
          <a:lstStyle/>
          <a:p>
            <a:pPr>
              <a:lnSpc>
                <a:spcPct val="110000"/>
              </a:lnSpc>
              <a:spcBef>
                <a:spcPts val="0"/>
              </a:spcBef>
              <a:spcAft>
                <a:spcPts val="0"/>
              </a:spcAft>
            </a:pPr>
            <a:r>
              <a:rPr sz="1050" b="1">
                <a:solidFill>
                  <a:srgbClr val="007F78"/>
                </a:solidFill>
                <a:latin typeface="Charter"/>
              </a:rPr>
              <a:t>MAU</a:t>
            </a:r>
          </a:p>
        </p:txBody>
      </p:sp>
      <p:sp>
        <p:nvSpPr>
          <p:cNvPr id="30" name="REVENUE"/>
          <p:cNvSpPr txBox="1"/>
          <p:nvPr/>
        </p:nvSpPr>
        <p:spPr>
          <a:xfrm>
            <a:off x="5532120" y="2240280"/>
            <a:ext cx="1691640" cy="237744"/>
          </a:xfrm>
          <a:prstGeom prst="rect">
            <a:avLst/>
          </a:prstGeom>
          <a:noFill/>
        </p:spPr>
        <p:txBody>
          <a:bodyPr wrap="square" lIns="0" rIns="0" tIns="0" bIns="0">
            <a:noAutofit/>
          </a:bodyPr>
          <a:lstStyle/>
          <a:p>
            <a:pPr>
              <a:lnSpc>
                <a:spcPct val="110000"/>
              </a:lnSpc>
              <a:spcBef>
                <a:spcPts val="0"/>
              </a:spcBef>
              <a:spcAft>
                <a:spcPts val="0"/>
              </a:spcAft>
            </a:pPr>
            <a:r>
              <a:rPr sz="1050" b="1">
                <a:solidFill>
                  <a:srgbClr val="007F78"/>
                </a:solidFill>
                <a:latin typeface="Charter"/>
              </a:rPr>
              <a:t>REVENUE</a:t>
            </a:r>
          </a:p>
        </p:txBody>
      </p:sp>
      <p:sp>
        <p:nvSpPr>
          <p:cNvPr id="31" name="COST"/>
          <p:cNvSpPr txBox="1"/>
          <p:nvPr/>
        </p:nvSpPr>
        <p:spPr>
          <a:xfrm>
            <a:off x="7562088" y="2240280"/>
            <a:ext cx="1691640" cy="237744"/>
          </a:xfrm>
          <a:prstGeom prst="rect">
            <a:avLst/>
          </a:prstGeom>
          <a:noFill/>
        </p:spPr>
        <p:txBody>
          <a:bodyPr wrap="square" lIns="0" rIns="0" tIns="0" bIns="0">
            <a:noAutofit/>
          </a:bodyPr>
          <a:lstStyle/>
          <a:p>
            <a:pPr>
              <a:lnSpc>
                <a:spcPct val="110000"/>
              </a:lnSpc>
              <a:spcBef>
                <a:spcPts val="0"/>
              </a:spcBef>
              <a:spcAft>
                <a:spcPts val="0"/>
              </a:spcAft>
            </a:pPr>
            <a:r>
              <a:rPr sz="1050" b="1">
                <a:solidFill>
                  <a:srgbClr val="007F78"/>
                </a:solidFill>
                <a:latin typeface="Charter"/>
              </a:rPr>
              <a:t>COST</a:t>
            </a:r>
          </a:p>
        </p:txBody>
      </p:sp>
      <p:sp>
        <p:nvSpPr>
          <p:cNvPr id="32" name="RESULT"/>
          <p:cNvSpPr txBox="1"/>
          <p:nvPr/>
        </p:nvSpPr>
        <p:spPr>
          <a:xfrm>
            <a:off x="9601200" y="2240280"/>
            <a:ext cx="1783080" cy="237744"/>
          </a:xfrm>
          <a:prstGeom prst="rect">
            <a:avLst/>
          </a:prstGeom>
          <a:noFill/>
        </p:spPr>
        <p:txBody>
          <a:bodyPr wrap="square" lIns="0" rIns="0" tIns="0" bIns="0">
            <a:noAutofit/>
          </a:bodyPr>
          <a:lstStyle/>
          <a:p>
            <a:pPr>
              <a:lnSpc>
                <a:spcPct val="110000"/>
              </a:lnSpc>
              <a:spcBef>
                <a:spcPts val="0"/>
              </a:spcBef>
              <a:spcAft>
                <a:spcPts val="0"/>
              </a:spcAft>
            </a:pPr>
            <a:r>
              <a:rPr sz="1050" b="1">
                <a:solidFill>
                  <a:srgbClr val="007F78"/>
                </a:solidFill>
                <a:latin typeface="Charter"/>
              </a:rPr>
              <a:t>RESULT</a:t>
            </a:r>
          </a:p>
        </p:txBody>
      </p:sp>
      <p:sp>
        <p:nvSpPr>
          <p:cNvPr id="33" name="Rectangle 32"/>
          <p:cNvSpPr/>
          <p:nvPr/>
        </p:nvSpPr>
        <p:spPr>
          <a:xfrm>
            <a:off x="649224" y="2560320"/>
            <a:ext cx="10899648" cy="9144"/>
          </a:xfrm>
          <a:prstGeom prst="rect">
            <a:avLst/>
          </a:prstGeom>
          <a:solidFill>
            <a:srgbClr val="AAC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3 organisations / 0 sponsor"/>
          <p:cNvSpPr txBox="1"/>
          <p:nvPr/>
        </p:nvSpPr>
        <p:spPr>
          <a:xfrm>
            <a:off x="649224" y="2724912"/>
            <a:ext cx="2834640" cy="365760"/>
          </a:xfrm>
          <a:prstGeom prst="rect">
            <a:avLst/>
          </a:prstGeom>
          <a:noFill/>
        </p:spPr>
        <p:txBody>
          <a:bodyPr wrap="square" lIns="0" rIns="0" tIns="0" bIns="0">
            <a:noAutofit/>
          </a:bodyPr>
          <a:lstStyle/>
          <a:p>
            <a:pPr>
              <a:lnSpc>
                <a:spcPct val="110000"/>
              </a:lnSpc>
              <a:spcBef>
                <a:spcPts val="0"/>
              </a:spcBef>
              <a:spcAft>
                <a:spcPts val="0"/>
              </a:spcAft>
            </a:pPr>
            <a:r>
              <a:rPr sz="1650" b="0">
                <a:solidFill>
                  <a:srgbClr val="163449"/>
                </a:solidFill>
                <a:latin typeface="Charter"/>
              </a:rPr>
              <a:t>3 organisations / 0 sponsor</a:t>
            </a:r>
          </a:p>
        </p:txBody>
      </p:sp>
      <p:sp>
        <p:nvSpPr>
          <p:cNvPr id="35" name="800"/>
          <p:cNvSpPr txBox="1"/>
          <p:nvPr/>
        </p:nvSpPr>
        <p:spPr>
          <a:xfrm>
            <a:off x="3840480" y="2724912"/>
            <a:ext cx="1371600" cy="365760"/>
          </a:xfrm>
          <a:prstGeom prst="rect">
            <a:avLst/>
          </a:prstGeom>
          <a:noFill/>
        </p:spPr>
        <p:txBody>
          <a:bodyPr wrap="square" lIns="0" rIns="0" tIns="0" bIns="0">
            <a:noAutofit/>
          </a:bodyPr>
          <a:lstStyle/>
          <a:p>
            <a:pPr>
              <a:lnSpc>
                <a:spcPct val="110000"/>
              </a:lnSpc>
              <a:spcBef>
                <a:spcPts val="0"/>
              </a:spcBef>
              <a:spcAft>
                <a:spcPts val="0"/>
              </a:spcAft>
            </a:pPr>
            <a:r>
              <a:rPr sz="1650" b="0">
                <a:solidFill>
                  <a:srgbClr val="163449"/>
                </a:solidFill>
                <a:latin typeface="Charter"/>
              </a:rPr>
              <a:t>800</a:t>
            </a:r>
          </a:p>
        </p:txBody>
      </p:sp>
      <p:sp>
        <p:nvSpPr>
          <p:cNvPr id="36" name="45,000"/>
          <p:cNvSpPr txBox="1"/>
          <p:nvPr/>
        </p:nvSpPr>
        <p:spPr>
          <a:xfrm>
            <a:off x="5532120" y="2724912"/>
            <a:ext cx="1691640" cy="365760"/>
          </a:xfrm>
          <a:prstGeom prst="rect">
            <a:avLst/>
          </a:prstGeom>
          <a:noFill/>
        </p:spPr>
        <p:txBody>
          <a:bodyPr wrap="square" lIns="0" rIns="0" tIns="0" bIns="0">
            <a:noAutofit/>
          </a:bodyPr>
          <a:lstStyle/>
          <a:p>
            <a:pPr>
              <a:lnSpc>
                <a:spcPct val="110000"/>
              </a:lnSpc>
              <a:spcBef>
                <a:spcPts val="0"/>
              </a:spcBef>
              <a:spcAft>
                <a:spcPts val="0"/>
              </a:spcAft>
            </a:pPr>
            <a:r>
              <a:rPr sz="1650" b="0">
                <a:solidFill>
                  <a:srgbClr val="163449"/>
                </a:solidFill>
                <a:latin typeface="Charter"/>
              </a:rPr>
              <a:t>45,000</a:t>
            </a:r>
          </a:p>
        </p:txBody>
      </p:sp>
      <p:sp>
        <p:nvSpPr>
          <p:cNvPr id="37" name="104,800"/>
          <p:cNvSpPr txBox="1"/>
          <p:nvPr/>
        </p:nvSpPr>
        <p:spPr>
          <a:xfrm>
            <a:off x="7562088" y="2724912"/>
            <a:ext cx="1691640" cy="365760"/>
          </a:xfrm>
          <a:prstGeom prst="rect">
            <a:avLst/>
          </a:prstGeom>
          <a:noFill/>
        </p:spPr>
        <p:txBody>
          <a:bodyPr wrap="square" lIns="0" rIns="0" tIns="0" bIns="0">
            <a:noAutofit/>
          </a:bodyPr>
          <a:lstStyle/>
          <a:p>
            <a:pPr>
              <a:lnSpc>
                <a:spcPct val="110000"/>
              </a:lnSpc>
              <a:spcBef>
                <a:spcPts val="0"/>
              </a:spcBef>
              <a:spcAft>
                <a:spcPts val="0"/>
              </a:spcAft>
            </a:pPr>
            <a:r>
              <a:rPr sz="1650" b="0">
                <a:solidFill>
                  <a:srgbClr val="163449"/>
                </a:solidFill>
                <a:latin typeface="Charter"/>
              </a:rPr>
              <a:t>104,800</a:t>
            </a:r>
          </a:p>
        </p:txBody>
      </p:sp>
      <p:sp>
        <p:nvSpPr>
          <p:cNvPr id="38" name="−59,800"/>
          <p:cNvSpPr txBox="1"/>
          <p:nvPr/>
        </p:nvSpPr>
        <p:spPr>
          <a:xfrm>
            <a:off x="9601200" y="2724912"/>
            <a:ext cx="1783080" cy="365760"/>
          </a:xfrm>
          <a:prstGeom prst="rect">
            <a:avLst/>
          </a:prstGeom>
          <a:noFill/>
        </p:spPr>
        <p:txBody>
          <a:bodyPr wrap="square" lIns="0" rIns="0" tIns="0" bIns="0">
            <a:noAutofit/>
          </a:bodyPr>
          <a:lstStyle/>
          <a:p>
            <a:pPr>
              <a:lnSpc>
                <a:spcPct val="110000"/>
              </a:lnSpc>
              <a:spcBef>
                <a:spcPts val="0"/>
              </a:spcBef>
              <a:spcAft>
                <a:spcPts val="0"/>
              </a:spcAft>
            </a:pPr>
            <a:r>
              <a:rPr sz="1650" b="0">
                <a:solidFill>
                  <a:srgbClr val="163449"/>
                </a:solidFill>
                <a:latin typeface="Charter"/>
              </a:rPr>
              <a:t>−59,800</a:t>
            </a:r>
          </a:p>
        </p:txBody>
      </p:sp>
      <p:sp>
        <p:nvSpPr>
          <p:cNvPr id="39" name="Rectangle 38"/>
          <p:cNvSpPr/>
          <p:nvPr/>
        </p:nvSpPr>
        <p:spPr>
          <a:xfrm>
            <a:off x="649224" y="3200400"/>
            <a:ext cx="10899648" cy="9144"/>
          </a:xfrm>
          <a:prstGeom prst="rect">
            <a:avLst/>
          </a:prstGeom>
          <a:solidFill>
            <a:srgbClr val="AAC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6 organisations / 1 sponsor"/>
          <p:cNvSpPr txBox="1"/>
          <p:nvPr/>
        </p:nvSpPr>
        <p:spPr>
          <a:xfrm>
            <a:off x="649224" y="3337560"/>
            <a:ext cx="2834640" cy="365760"/>
          </a:xfrm>
          <a:prstGeom prst="rect">
            <a:avLst/>
          </a:prstGeom>
          <a:noFill/>
        </p:spPr>
        <p:txBody>
          <a:bodyPr wrap="square" lIns="0" rIns="0" tIns="0" bIns="0">
            <a:noAutofit/>
          </a:bodyPr>
          <a:lstStyle/>
          <a:p>
            <a:pPr>
              <a:lnSpc>
                <a:spcPct val="110000"/>
              </a:lnSpc>
              <a:spcBef>
                <a:spcPts val="0"/>
              </a:spcBef>
              <a:spcAft>
                <a:spcPts val="0"/>
              </a:spcAft>
            </a:pPr>
            <a:r>
              <a:rPr sz="1650" b="0">
                <a:solidFill>
                  <a:srgbClr val="163449"/>
                </a:solidFill>
                <a:latin typeface="Charter"/>
              </a:rPr>
              <a:t>6 organisations / 1 sponsor</a:t>
            </a:r>
          </a:p>
        </p:txBody>
      </p:sp>
      <p:sp>
        <p:nvSpPr>
          <p:cNvPr id="41" name="1,100"/>
          <p:cNvSpPr txBox="1"/>
          <p:nvPr/>
        </p:nvSpPr>
        <p:spPr>
          <a:xfrm>
            <a:off x="3840480" y="3337560"/>
            <a:ext cx="1371600" cy="365760"/>
          </a:xfrm>
          <a:prstGeom prst="rect">
            <a:avLst/>
          </a:prstGeom>
          <a:noFill/>
        </p:spPr>
        <p:txBody>
          <a:bodyPr wrap="square" lIns="0" rIns="0" tIns="0" bIns="0">
            <a:noAutofit/>
          </a:bodyPr>
          <a:lstStyle/>
          <a:p>
            <a:pPr>
              <a:lnSpc>
                <a:spcPct val="110000"/>
              </a:lnSpc>
              <a:spcBef>
                <a:spcPts val="0"/>
              </a:spcBef>
              <a:spcAft>
                <a:spcPts val="0"/>
              </a:spcAft>
            </a:pPr>
            <a:r>
              <a:rPr sz="1650" b="0">
                <a:solidFill>
                  <a:srgbClr val="163449"/>
                </a:solidFill>
                <a:latin typeface="Charter"/>
              </a:rPr>
              <a:t>1,100</a:t>
            </a:r>
          </a:p>
        </p:txBody>
      </p:sp>
      <p:sp>
        <p:nvSpPr>
          <p:cNvPr id="42" name="100,000"/>
          <p:cNvSpPr txBox="1"/>
          <p:nvPr/>
        </p:nvSpPr>
        <p:spPr>
          <a:xfrm>
            <a:off x="5532120" y="3337560"/>
            <a:ext cx="1691640" cy="365760"/>
          </a:xfrm>
          <a:prstGeom prst="rect">
            <a:avLst/>
          </a:prstGeom>
          <a:noFill/>
        </p:spPr>
        <p:txBody>
          <a:bodyPr wrap="square" lIns="0" rIns="0" tIns="0" bIns="0">
            <a:noAutofit/>
          </a:bodyPr>
          <a:lstStyle/>
          <a:p>
            <a:pPr>
              <a:lnSpc>
                <a:spcPct val="110000"/>
              </a:lnSpc>
              <a:spcBef>
                <a:spcPts val="0"/>
              </a:spcBef>
              <a:spcAft>
                <a:spcPts val="0"/>
              </a:spcAft>
            </a:pPr>
            <a:r>
              <a:rPr sz="1650" b="0">
                <a:solidFill>
                  <a:srgbClr val="163449"/>
                </a:solidFill>
                <a:latin typeface="Charter"/>
              </a:rPr>
              <a:t>100,000</a:t>
            </a:r>
          </a:p>
        </p:txBody>
      </p:sp>
      <p:sp>
        <p:nvSpPr>
          <p:cNvPr id="43" name="117,800"/>
          <p:cNvSpPr txBox="1"/>
          <p:nvPr/>
        </p:nvSpPr>
        <p:spPr>
          <a:xfrm>
            <a:off x="7562088" y="3337560"/>
            <a:ext cx="1691640" cy="365760"/>
          </a:xfrm>
          <a:prstGeom prst="rect">
            <a:avLst/>
          </a:prstGeom>
          <a:noFill/>
        </p:spPr>
        <p:txBody>
          <a:bodyPr wrap="square" lIns="0" rIns="0" tIns="0" bIns="0">
            <a:noAutofit/>
          </a:bodyPr>
          <a:lstStyle/>
          <a:p>
            <a:pPr>
              <a:lnSpc>
                <a:spcPct val="110000"/>
              </a:lnSpc>
              <a:spcBef>
                <a:spcPts val="0"/>
              </a:spcBef>
              <a:spcAft>
                <a:spcPts val="0"/>
              </a:spcAft>
            </a:pPr>
            <a:r>
              <a:rPr sz="1650" b="0">
                <a:solidFill>
                  <a:srgbClr val="163449"/>
                </a:solidFill>
                <a:latin typeface="Charter"/>
              </a:rPr>
              <a:t>117,800</a:t>
            </a:r>
          </a:p>
        </p:txBody>
      </p:sp>
      <p:sp>
        <p:nvSpPr>
          <p:cNvPr id="44" name="−17,800"/>
          <p:cNvSpPr txBox="1"/>
          <p:nvPr/>
        </p:nvSpPr>
        <p:spPr>
          <a:xfrm>
            <a:off x="9601200" y="3337560"/>
            <a:ext cx="1783080" cy="365760"/>
          </a:xfrm>
          <a:prstGeom prst="rect">
            <a:avLst/>
          </a:prstGeom>
          <a:noFill/>
        </p:spPr>
        <p:txBody>
          <a:bodyPr wrap="square" lIns="0" rIns="0" tIns="0" bIns="0">
            <a:noAutofit/>
          </a:bodyPr>
          <a:lstStyle/>
          <a:p>
            <a:pPr>
              <a:lnSpc>
                <a:spcPct val="110000"/>
              </a:lnSpc>
              <a:spcBef>
                <a:spcPts val="0"/>
              </a:spcBef>
              <a:spcAft>
                <a:spcPts val="0"/>
              </a:spcAft>
            </a:pPr>
            <a:r>
              <a:rPr sz="1650" b="0">
                <a:solidFill>
                  <a:srgbClr val="163449"/>
                </a:solidFill>
                <a:latin typeface="Charter"/>
              </a:rPr>
              <a:t>−17,800</a:t>
            </a:r>
          </a:p>
        </p:txBody>
      </p:sp>
      <p:sp>
        <p:nvSpPr>
          <p:cNvPr id="45" name="Rectangle 44"/>
          <p:cNvSpPr/>
          <p:nvPr/>
        </p:nvSpPr>
        <p:spPr>
          <a:xfrm>
            <a:off x="649224" y="3813048"/>
            <a:ext cx="10899648" cy="9144"/>
          </a:xfrm>
          <a:prstGeom prst="rect">
            <a:avLst/>
          </a:prstGeom>
          <a:solidFill>
            <a:srgbClr val="AAC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8 organisations / 1 sponsor"/>
          <p:cNvSpPr txBox="1"/>
          <p:nvPr/>
        </p:nvSpPr>
        <p:spPr>
          <a:xfrm>
            <a:off x="649224" y="3950208"/>
            <a:ext cx="2834640" cy="365760"/>
          </a:xfrm>
          <a:prstGeom prst="rect">
            <a:avLst/>
          </a:prstGeom>
          <a:noFill/>
        </p:spPr>
        <p:txBody>
          <a:bodyPr wrap="square" lIns="0" rIns="0" tIns="0" bIns="0">
            <a:noAutofit/>
          </a:bodyPr>
          <a:lstStyle/>
          <a:p>
            <a:pPr>
              <a:lnSpc>
                <a:spcPct val="110000"/>
              </a:lnSpc>
              <a:spcBef>
                <a:spcPts val="0"/>
              </a:spcBef>
              <a:spcAft>
                <a:spcPts val="0"/>
              </a:spcAft>
            </a:pPr>
            <a:r>
              <a:rPr sz="1650" b="1">
                <a:solidFill>
                  <a:srgbClr val="163449"/>
                </a:solidFill>
                <a:latin typeface="Charter"/>
              </a:rPr>
              <a:t>8 organisations / 1 sponsor</a:t>
            </a:r>
          </a:p>
        </p:txBody>
      </p:sp>
      <p:sp>
        <p:nvSpPr>
          <p:cNvPr id="47" name="1,300"/>
          <p:cNvSpPr txBox="1"/>
          <p:nvPr/>
        </p:nvSpPr>
        <p:spPr>
          <a:xfrm>
            <a:off x="3840480" y="3950208"/>
            <a:ext cx="1371600" cy="365760"/>
          </a:xfrm>
          <a:prstGeom prst="rect">
            <a:avLst/>
          </a:prstGeom>
          <a:noFill/>
        </p:spPr>
        <p:txBody>
          <a:bodyPr wrap="square" lIns="0" rIns="0" tIns="0" bIns="0">
            <a:noAutofit/>
          </a:bodyPr>
          <a:lstStyle/>
          <a:p>
            <a:pPr>
              <a:lnSpc>
                <a:spcPct val="110000"/>
              </a:lnSpc>
              <a:spcBef>
                <a:spcPts val="0"/>
              </a:spcBef>
              <a:spcAft>
                <a:spcPts val="0"/>
              </a:spcAft>
            </a:pPr>
            <a:r>
              <a:rPr sz="1650" b="1">
                <a:solidFill>
                  <a:srgbClr val="163449"/>
                </a:solidFill>
                <a:latin typeface="Charter"/>
              </a:rPr>
              <a:t>1,300</a:t>
            </a:r>
          </a:p>
        </p:txBody>
      </p:sp>
      <p:sp>
        <p:nvSpPr>
          <p:cNvPr id="48" name="130,000"/>
          <p:cNvSpPr txBox="1"/>
          <p:nvPr/>
        </p:nvSpPr>
        <p:spPr>
          <a:xfrm>
            <a:off x="5532120" y="3950208"/>
            <a:ext cx="1691640" cy="365760"/>
          </a:xfrm>
          <a:prstGeom prst="rect">
            <a:avLst/>
          </a:prstGeom>
          <a:noFill/>
        </p:spPr>
        <p:txBody>
          <a:bodyPr wrap="square" lIns="0" rIns="0" tIns="0" bIns="0">
            <a:noAutofit/>
          </a:bodyPr>
          <a:lstStyle/>
          <a:p>
            <a:pPr>
              <a:lnSpc>
                <a:spcPct val="110000"/>
              </a:lnSpc>
              <a:spcBef>
                <a:spcPts val="0"/>
              </a:spcBef>
              <a:spcAft>
                <a:spcPts val="0"/>
              </a:spcAft>
            </a:pPr>
            <a:r>
              <a:rPr sz="1650" b="1">
                <a:solidFill>
                  <a:srgbClr val="163449"/>
                </a:solidFill>
                <a:latin typeface="Charter"/>
              </a:rPr>
              <a:t>130,000</a:t>
            </a:r>
          </a:p>
        </p:txBody>
      </p:sp>
      <p:sp>
        <p:nvSpPr>
          <p:cNvPr id="49" name="125,000"/>
          <p:cNvSpPr txBox="1"/>
          <p:nvPr/>
        </p:nvSpPr>
        <p:spPr>
          <a:xfrm>
            <a:off x="7562088" y="3950208"/>
            <a:ext cx="1691640" cy="365760"/>
          </a:xfrm>
          <a:prstGeom prst="rect">
            <a:avLst/>
          </a:prstGeom>
          <a:noFill/>
        </p:spPr>
        <p:txBody>
          <a:bodyPr wrap="square" lIns="0" rIns="0" tIns="0" bIns="0">
            <a:noAutofit/>
          </a:bodyPr>
          <a:lstStyle/>
          <a:p>
            <a:pPr>
              <a:lnSpc>
                <a:spcPct val="110000"/>
              </a:lnSpc>
              <a:spcBef>
                <a:spcPts val="0"/>
              </a:spcBef>
              <a:spcAft>
                <a:spcPts val="0"/>
              </a:spcAft>
            </a:pPr>
            <a:r>
              <a:rPr sz="1650" b="1">
                <a:solidFill>
                  <a:srgbClr val="163449"/>
                </a:solidFill>
                <a:latin typeface="Charter"/>
              </a:rPr>
              <a:t>125,000</a:t>
            </a:r>
          </a:p>
        </p:txBody>
      </p:sp>
      <p:sp>
        <p:nvSpPr>
          <p:cNvPr id="50" name="+5,000"/>
          <p:cNvSpPr txBox="1"/>
          <p:nvPr/>
        </p:nvSpPr>
        <p:spPr>
          <a:xfrm>
            <a:off x="9601200" y="3950208"/>
            <a:ext cx="1783080" cy="365760"/>
          </a:xfrm>
          <a:prstGeom prst="rect">
            <a:avLst/>
          </a:prstGeom>
          <a:noFill/>
        </p:spPr>
        <p:txBody>
          <a:bodyPr wrap="square" lIns="0" rIns="0" tIns="0" bIns="0">
            <a:noAutofit/>
          </a:bodyPr>
          <a:lstStyle/>
          <a:p>
            <a:pPr>
              <a:lnSpc>
                <a:spcPct val="110000"/>
              </a:lnSpc>
              <a:spcBef>
                <a:spcPts val="0"/>
              </a:spcBef>
              <a:spcAft>
                <a:spcPts val="0"/>
              </a:spcAft>
            </a:pPr>
            <a:r>
              <a:rPr sz="1650" b="1">
                <a:solidFill>
                  <a:srgbClr val="163449"/>
                </a:solidFill>
                <a:latin typeface="Charter"/>
              </a:rPr>
              <a:t>+5,000</a:t>
            </a:r>
          </a:p>
        </p:txBody>
      </p:sp>
      <p:sp>
        <p:nvSpPr>
          <p:cNvPr id="51" name="Rectangle 50"/>
          <p:cNvSpPr/>
          <p:nvPr/>
        </p:nvSpPr>
        <p:spPr>
          <a:xfrm>
            <a:off x="649224" y="4425696"/>
            <a:ext cx="10899648" cy="9144"/>
          </a:xfrm>
          <a:prstGeom prst="rect">
            <a:avLst/>
          </a:prstGeom>
          <a:solidFill>
            <a:srgbClr val="AAC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MAU = 500 + 100N Revenue = 15,000N + 10,000S"/>
          <p:cNvSpPr txBox="1"/>
          <p:nvPr/>
        </p:nvSpPr>
        <p:spPr>
          <a:xfrm>
            <a:off x="649224" y="4608576"/>
            <a:ext cx="10881360" cy="274320"/>
          </a:xfrm>
          <a:prstGeom prst="rect">
            <a:avLst/>
          </a:prstGeom>
          <a:noFill/>
        </p:spPr>
        <p:txBody>
          <a:bodyPr wrap="square" lIns="0" rIns="0" tIns="0" bIns="0">
            <a:noAutofit/>
          </a:bodyPr>
          <a:lstStyle/>
          <a:p>
            <a:pPr>
              <a:lnSpc>
                <a:spcPct val="110000"/>
              </a:lnSpc>
              <a:spcBef>
                <a:spcPts val="0"/>
              </a:spcBef>
              <a:spcAft>
                <a:spcPts val="0"/>
              </a:spcAft>
            </a:pPr>
            <a:r>
              <a:rPr sz="1450" b="0">
                <a:solidFill>
                  <a:srgbClr val="163449"/>
                </a:solidFill>
                <a:latin typeface="Charter"/>
              </a:rPr>
              <a:t>MAU = 500 + 100N     Revenue = 15,000N + 10,000S</a:t>
            </a:r>
          </a:p>
        </p:txBody>
      </p:sp>
      <p:sp>
        <p:nvSpPr>
          <p:cNvPr id="53" name="Cost = 90,000 + 8 × MAU + 2,500N + 2,000S + 2% × Revenue"/>
          <p:cNvSpPr txBox="1"/>
          <p:nvPr/>
        </p:nvSpPr>
        <p:spPr>
          <a:xfrm>
            <a:off x="649224" y="4956048"/>
            <a:ext cx="10881360" cy="274320"/>
          </a:xfrm>
          <a:prstGeom prst="rect">
            <a:avLst/>
          </a:prstGeom>
          <a:noFill/>
        </p:spPr>
        <p:txBody>
          <a:bodyPr wrap="square" lIns="0" rIns="0" tIns="0" bIns="0">
            <a:noAutofit/>
          </a:bodyPr>
          <a:lstStyle/>
          <a:p>
            <a:pPr>
              <a:lnSpc>
                <a:spcPct val="110000"/>
              </a:lnSpc>
              <a:spcBef>
                <a:spcPts val="0"/>
              </a:spcBef>
              <a:spcAft>
                <a:spcPts val="0"/>
              </a:spcAft>
            </a:pPr>
            <a:r>
              <a:rPr sz="1450" b="0">
                <a:solidFill>
                  <a:srgbClr val="163449"/>
                </a:solidFill>
                <a:latin typeface="Charter"/>
              </a:rPr>
              <a:t>Cost = 90,000 + 8 × MAU + 2,500N + 2,000S + 2% × Revenue</a:t>
            </a:r>
          </a:p>
        </p:txBody>
      </p:sp>
      <p:sp>
        <p:nvSpPr>
          <p:cNvPr id="54" name="Cost coverage: 9 organisations without sponsorship; 8 with one sponsor."/>
          <p:cNvSpPr txBox="1"/>
          <p:nvPr/>
        </p:nvSpPr>
        <p:spPr>
          <a:xfrm>
            <a:off x="649224" y="5404104"/>
            <a:ext cx="10881360" cy="301752"/>
          </a:xfrm>
          <a:prstGeom prst="rect">
            <a:avLst/>
          </a:prstGeom>
          <a:noFill/>
        </p:spPr>
        <p:txBody>
          <a:bodyPr wrap="square" lIns="0" rIns="0" tIns="0" bIns="0">
            <a:noAutofit/>
          </a:bodyPr>
          <a:lstStyle/>
          <a:p>
            <a:pPr>
              <a:lnSpc>
                <a:spcPct val="110000"/>
              </a:lnSpc>
              <a:spcBef>
                <a:spcPts val="0"/>
              </a:spcBef>
              <a:spcAft>
                <a:spcPts val="0"/>
              </a:spcAft>
            </a:pPr>
            <a:r>
              <a:rPr sz="1550" b="1">
                <a:solidFill>
                  <a:srgbClr val="163449"/>
                </a:solidFill>
                <a:latin typeface="Charter"/>
              </a:rPr>
              <a:t>Cost coverage: 9 organisations without sponsorship; 8 with one sponsor.</a:t>
            </a:r>
          </a:p>
        </p:txBody>
      </p:sp>
      <p:sp>
        <p:nvSpPr>
          <p:cNvPr id="55" name="Sensitivity: HK$12,000 client price needs 11 clients + 1 sponsor; HK$16 / MAU turns the 8 "/>
          <p:cNvSpPr txBox="1"/>
          <p:nvPr/>
        </p:nvSpPr>
        <p:spPr>
          <a:xfrm>
            <a:off x="649224" y="5797296"/>
            <a:ext cx="10881360" cy="411480"/>
          </a:xfrm>
          <a:prstGeom prst="rect">
            <a:avLst/>
          </a:prstGeom>
          <a:noFill/>
        </p:spPr>
        <p:txBody>
          <a:bodyPr wrap="square" lIns="0" rIns="0" tIns="0" bIns="0">
            <a:noAutofit/>
          </a:bodyPr>
          <a:lstStyle/>
          <a:p>
            <a:pPr>
              <a:lnSpc>
                <a:spcPct val="110000"/>
              </a:lnSpc>
              <a:spcBef>
                <a:spcPts val="0"/>
              </a:spcBef>
              <a:spcAft>
                <a:spcPts val="0"/>
              </a:spcAft>
            </a:pPr>
            <a:r>
              <a:rPr sz="1250" b="0">
                <a:solidFill>
                  <a:srgbClr val="163449"/>
                </a:solidFill>
                <a:latin typeface="Charter"/>
              </a:rPr>
              <a:t>Sensitivity: HK$12,000 client price needs 11 clients + 1 sponsor; HK$16 / MAU turns the 8 + 1 case into a HK$5,400 loss.</a:t>
            </a:r>
          </a:p>
        </p:txBody>
      </p:sp>
      <p:sp>
        <p:nvSpPr>
          <p:cNvPr id="56" name="Excludes tax, real-benefit procurement and fully costed staffing. Delivery capacity and wi"/>
          <p:cNvSpPr txBox="1"/>
          <p:nvPr/>
        </p:nvSpPr>
        <p:spPr>
          <a:xfrm>
            <a:off x="649224" y="6245352"/>
            <a:ext cx="10881360" cy="164592"/>
          </a:xfrm>
          <a:prstGeom prst="rect">
            <a:avLst/>
          </a:prstGeom>
          <a:noFill/>
        </p:spPr>
        <p:txBody>
          <a:bodyPr wrap="square" lIns="0" rIns="0" tIns="0" bIns="0">
            <a:noAutofit/>
          </a:bodyPr>
          <a:lstStyle/>
          <a:p>
            <a:pPr>
              <a:lnSpc>
                <a:spcPct val="110000"/>
              </a:lnSpc>
              <a:spcBef>
                <a:spcPts val="0"/>
              </a:spcBef>
              <a:spcAft>
                <a:spcPts val="0"/>
              </a:spcAft>
            </a:pPr>
            <a:r>
              <a:rPr sz="950" b="0">
                <a:solidFill>
                  <a:srgbClr val="5F7D82"/>
                </a:solidFill>
                <a:latin typeface="Charter"/>
              </a:rPr>
              <a:t>Excludes tax, real-benefit procurement and fully costed staffing. Delivery capacity and willingness to pay remain unproven.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2" name="APPENDIX">
            <a:extLst>
              <a:ext uri="{FF2B5EF4-FFF2-40B4-BE49-F238E27FC236}">
                <a16:creationId xmlns:a16="http://schemas.microsoft.com/office/drawing/2014/main" id="{A8C51200-26FD-402E-A075-733976784DED}"/>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APPENDIX</a:t>
            </a:r>
          </a:p>
        </p:txBody>
      </p:sp>
      <p:sp>
        <p:nvSpPr>
          <p:cNvPr id="2" name="Appendix: readiness gates and ownership">
            <a:extLst>
              <a:ext uri="{FF2B5EF4-FFF2-40B4-BE49-F238E27FC236}">
                <a16:creationId xmlns:a16="http://schemas.microsoft.com/office/drawing/2014/main" id="{BE2223F6-B640-4092-92E9-B1A95D4A7653}"/>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Charter"/>
                <a:ea typeface="Charter"/>
                <a:cs typeface="Charter"/>
              </a:defRPr>
            </a:pPr>
            <a:r>
              <a:rPr kumimoji="0" sz="2925" b="1" i="0" u="none" strike="noStrike" kern="1200" cap="none" spc="0" normalizeH="0" baseline="0" noProof="0">
                <a:ln>
                  <a:noFill/>
                </a:ln>
                <a:solidFill>
                  <a:srgbClr val="123047"/>
                </a:solidFill>
                <a:effectLst/>
                <a:uLnTx/>
                <a:uFillTx/>
                <a:latin typeface="Charter"/>
                <a:ea typeface="Charter"/>
                <a:cs typeface="Charter"/>
              </a:rPr>
              <a:t>Appendix: readiness gates and ownership</a:t>
            </a:r>
          </a:p>
        </p:txBody>
      </p:sp>
      <p:sp>
        <p:nvSpPr>
          <p:cNvPr id="3" name="Rectangle 2">
            <a:extLst>
              <a:ext uri="{FF2B5EF4-FFF2-40B4-BE49-F238E27FC236}">
                <a16:creationId xmlns:a16="http://schemas.microsoft.com/office/drawing/2014/main" id="{74716023-8E2C-4D02-9F51-BC69AEDDFF86}"/>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3DA31D0C-31EB-43B5-B500-94A3E8D3C9DF}"/>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COMM7115  ·  BUSINESS PROPOSAL RESEARCH</a:t>
            </a:r>
          </a:p>
        </p:txBody>
      </p:sp>
      <p:sp>
        <p:nvSpPr>
          <p:cNvPr id="5" name="19 / BACKUP">
            <a:extLst>
              <a:ext uri="{FF2B5EF4-FFF2-40B4-BE49-F238E27FC236}">
                <a16:creationId xmlns:a16="http://schemas.microsoft.com/office/drawing/2014/main" id="{9DEA293C-E873-44DC-8E40-602F7459928A}"/>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Charter"/>
                <a:ea typeface="Charter"/>
                <a:cs typeface="Charter"/>
              </a:defRPr>
            </a:pPr>
            <a:r>
              <a:rPr kumimoji="0" sz="900" b="0" i="0" u="none" strike="noStrike" kern="1200" cap="none" spc="0" normalizeH="0" baseline="0" noProof="0">
                <a:ln>
                  <a:noFill/>
                </a:ln>
                <a:solidFill>
                  <a:srgbClr val="59716E"/>
                </a:solidFill>
                <a:effectLst/>
                <a:uLnTx/>
                <a:uFillTx/>
                <a:latin typeface="Charter"/>
                <a:ea typeface="Charter"/>
                <a:cs typeface="Charter"/>
              </a:rPr>
              <a:t>19   /   BACKUP</a:t>
            </a:r>
          </a:p>
        </p:txBody>
      </p:sp>
      <p:sp>
        <p:nvSpPr>
          <p:cNvPr id="6" name="DEPENDENCY GATE">
            <a:extLst>
              <a:ext uri="{FF2B5EF4-FFF2-40B4-BE49-F238E27FC236}">
                <a16:creationId xmlns:a16="http://schemas.microsoft.com/office/drawing/2014/main" id="{C916A65C-3DE5-4D71-9177-374834FD8F63}"/>
              </a:ext>
            </a:extLst>
          </p:cNvPr>
          <p:cNvSpPr>
            <a:spLocks noGrp="1"/>
          </p:cNvSpPr>
          <p:nvPr/>
        </p:nvSpPr>
        <p:spPr>
          <a:xfrm>
            <a:off x="647700" y="1885950"/>
            <a:ext cx="2857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DEPENDENCY GATE</a:t>
            </a:r>
          </a:p>
        </p:txBody>
      </p:sp>
      <p:sp>
        <p:nvSpPr>
          <p:cNvPr id="7" name="EVIDENCE REQUIRED">
            <a:extLst>
              <a:ext uri="{FF2B5EF4-FFF2-40B4-BE49-F238E27FC236}">
                <a16:creationId xmlns:a16="http://schemas.microsoft.com/office/drawing/2014/main" id="{897914A3-C148-46B5-973E-F6ADF93519A7}"/>
              </a:ext>
            </a:extLst>
          </p:cNvPr>
          <p:cNvSpPr>
            <a:spLocks noGrp="1"/>
          </p:cNvSpPr>
          <p:nvPr/>
        </p:nvSpPr>
        <p:spPr>
          <a:xfrm>
            <a:off x="3905250" y="1885950"/>
            <a:ext cx="3238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EVIDENCE REQUIRED</a:t>
            </a:r>
          </a:p>
        </p:txBody>
      </p:sp>
      <p:sp>
        <p:nvSpPr>
          <p:cNvPr id="8" name="RESPONSIBILITY">
            <a:extLst>
              <a:ext uri="{FF2B5EF4-FFF2-40B4-BE49-F238E27FC236}">
                <a16:creationId xmlns:a16="http://schemas.microsoft.com/office/drawing/2014/main" id="{DD702E10-ECD0-4885-B444-EB8469BF7D4F}"/>
              </a:ext>
            </a:extLst>
          </p:cNvPr>
          <p:cNvSpPr>
            <a:spLocks noGrp="1"/>
          </p:cNvSpPr>
          <p:nvPr/>
        </p:nvSpPr>
        <p:spPr>
          <a:xfrm>
            <a:off x="7572375" y="1885950"/>
            <a:ext cx="3857625"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Charter"/>
                <a:ea typeface="Charter"/>
                <a:cs typeface="Charter"/>
              </a:defRPr>
            </a:pPr>
            <a:r>
              <a:rPr kumimoji="0" sz="1050" b="1" i="0" u="none" strike="noStrike" kern="1200" cap="none" spc="0" normalizeH="0" baseline="0" noProof="0">
                <a:ln>
                  <a:noFill/>
                </a:ln>
                <a:solidFill>
                  <a:srgbClr val="13756E"/>
                </a:solidFill>
                <a:effectLst/>
                <a:uLnTx/>
                <a:uFillTx/>
                <a:latin typeface="Charter"/>
                <a:ea typeface="Charter"/>
                <a:cs typeface="Charter"/>
              </a:rPr>
              <a:t>RESPONSIBILITY</a:t>
            </a:r>
          </a:p>
        </p:txBody>
      </p:sp>
      <p:sp>
        <p:nvSpPr>
          <p:cNvPr id="9" name="Rectangle 8">
            <a:extLst>
              <a:ext uri="{FF2B5EF4-FFF2-40B4-BE49-F238E27FC236}">
                <a16:creationId xmlns:a16="http://schemas.microsoft.com/office/drawing/2014/main" id="{5AAF5266-40E2-4552-A6AC-CF3D60855187}"/>
              </a:ext>
            </a:extLst>
          </p:cNvPr>
          <p:cNvSpPr>
            <a:spLocks noGrp="1"/>
          </p:cNvSpPr>
          <p:nvPr/>
        </p:nvSpPr>
        <p:spPr>
          <a:xfrm>
            <a:off x="647700" y="222885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0" name="1 · Native core">
            <a:extLst>
              <a:ext uri="{FF2B5EF4-FFF2-40B4-BE49-F238E27FC236}">
                <a16:creationId xmlns:a16="http://schemas.microsoft.com/office/drawing/2014/main" id="{7C71A626-8B4A-40D8-A27F-D8E6FF7E249D}"/>
              </a:ext>
            </a:extLst>
          </p:cNvPr>
          <p:cNvSpPr>
            <a:spLocks noGrp="1"/>
          </p:cNvSpPr>
          <p:nvPr/>
        </p:nvSpPr>
        <p:spPr>
          <a:xfrm>
            <a:off x="647700" y="2324100"/>
            <a:ext cx="2952750" cy="100584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Charter"/>
                <a:ea typeface="Charter"/>
                <a:cs typeface="Charter"/>
              </a:defRPr>
            </a:pPr>
            <a:r>
              <a:rPr kumimoji="0" sz="1650" b="0" i="0" u="none" strike="noStrike" kern="1200" cap="none" spc="0" normalizeH="0" baseline="0" noProof="0">
                <a:ln>
                  <a:noFill/>
                </a:ln>
                <a:solidFill>
                  <a:srgbClr val="163449"/>
                </a:solidFill>
                <a:effectLst/>
                <a:uLnTx/>
                <a:uFillTx/>
                <a:latin typeface="Charter"/>
                <a:ea typeface="Charter"/>
                <a:cs typeface="Charter"/>
              </a:rPr>
              <a:t>1 · Native core</a:t>
            </a:r>
          </a:p>
        </p:txBody>
      </p:sp>
      <p:sp>
        <p:nvSpPr>
          <p:cNvPr id="11" name="Two iPhones; real read → sync → claim; consent, accessibility and signing.">
            <a:extLst>
              <a:ext uri="{FF2B5EF4-FFF2-40B4-BE49-F238E27FC236}">
                <a16:creationId xmlns:a16="http://schemas.microsoft.com/office/drawing/2014/main" id="{1A0675CE-9F45-4D83-9F19-9898568FE070}"/>
              </a:ext>
            </a:extLst>
          </p:cNvPr>
          <p:cNvSpPr>
            <a:spLocks noGrp="1"/>
          </p:cNvSpPr>
          <p:nvPr/>
        </p:nvSpPr>
        <p:spPr>
          <a:xfrm>
            <a:off x="3905250" y="2324100"/>
            <a:ext cx="3190875" cy="100584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Two iPhones; real read → sync → claim; consent, accessibility and signing.</a:t>
            </a:r>
          </a:p>
        </p:txBody>
      </p:sp>
      <p:sp>
        <p:nvSpPr>
          <p:cNvPr id="12" name="B owns mobile; C reviews. Physical-device acceptance is still open.">
            <a:extLst>
              <a:ext uri="{FF2B5EF4-FFF2-40B4-BE49-F238E27FC236}">
                <a16:creationId xmlns:a16="http://schemas.microsoft.com/office/drawing/2014/main" id="{A5BE8E5C-463A-40B4-AEDD-519D9EAEAE66}"/>
              </a:ext>
            </a:extLst>
          </p:cNvPr>
          <p:cNvSpPr>
            <a:spLocks noGrp="1"/>
          </p:cNvSpPr>
          <p:nvPr/>
        </p:nvSpPr>
        <p:spPr>
          <a:xfrm>
            <a:off x="7572375" y="2324100"/>
            <a:ext cx="3810000" cy="100584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B owns mobile; C reviews. Physical-device acceptance is still open.</a:t>
            </a:r>
          </a:p>
        </p:txBody>
      </p:sp>
      <p:sp>
        <p:nvSpPr>
          <p:cNvPr id="13" name="Rectangle 12">
            <a:extLst>
              <a:ext uri="{FF2B5EF4-FFF2-40B4-BE49-F238E27FC236}">
                <a16:creationId xmlns:a16="http://schemas.microsoft.com/office/drawing/2014/main" id="{CA4FD72E-384E-479E-A6E1-596F5873A86E}"/>
              </a:ext>
            </a:extLst>
          </p:cNvPr>
          <p:cNvSpPr>
            <a:spLocks noGrp="1"/>
          </p:cNvSpPr>
          <p:nvPr/>
        </p:nvSpPr>
        <p:spPr>
          <a:xfrm>
            <a:off x="647700" y="334327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4" name="2 · Safe operation">
            <a:extLst>
              <a:ext uri="{FF2B5EF4-FFF2-40B4-BE49-F238E27FC236}">
                <a16:creationId xmlns:a16="http://schemas.microsoft.com/office/drawing/2014/main" id="{CD7CA7DD-F102-4078-8820-F608DE8197E4}"/>
              </a:ext>
            </a:extLst>
          </p:cNvPr>
          <p:cNvSpPr>
            <a:spLocks noGrp="1"/>
          </p:cNvSpPr>
          <p:nvPr/>
        </p:nvSpPr>
        <p:spPr>
          <a:xfrm>
            <a:off x="647700" y="3438525"/>
            <a:ext cx="2952750" cy="100584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Charter"/>
                <a:ea typeface="Charter"/>
                <a:cs typeface="Charter"/>
              </a:defRPr>
            </a:pPr>
            <a:r>
              <a:rPr kumimoji="0" sz="1650" b="0" i="0" u="none" strike="noStrike" kern="1200" cap="none" spc="0" normalizeH="0" baseline="0" noProof="0">
                <a:ln>
                  <a:noFill/>
                </a:ln>
                <a:solidFill>
                  <a:srgbClr val="163449"/>
                </a:solidFill>
                <a:effectLst/>
                <a:uLnTx/>
                <a:uFillTx/>
                <a:latin typeface="Charter"/>
                <a:ea typeface="Charter"/>
                <a:cs typeface="Charter"/>
              </a:rPr>
              <a:t>2 · Safe operation</a:t>
            </a:r>
          </a:p>
        </p:txBody>
      </p:sp>
      <p:sp>
        <p:nvSpPr>
          <p:cNvPr id="15" name="Admin and MFA; deletion/restore; sponsor separation; cohort reporting.">
            <a:extLst>
              <a:ext uri="{FF2B5EF4-FFF2-40B4-BE49-F238E27FC236}">
                <a16:creationId xmlns:a16="http://schemas.microsoft.com/office/drawing/2014/main" id="{DC3A35D2-AC5E-4B32-89EA-1ED1B7E8B107}"/>
              </a:ext>
            </a:extLst>
          </p:cNvPr>
          <p:cNvSpPr>
            <a:spLocks noGrp="1"/>
          </p:cNvSpPr>
          <p:nvPr/>
        </p:nvSpPr>
        <p:spPr>
          <a:xfrm>
            <a:off x="3905250" y="3438525"/>
            <a:ext cx="3190875" cy="100584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Admin and MFA; deletion/restore; sponsor separation; cohort reporting.</a:t>
            </a:r>
          </a:p>
        </p:txBody>
      </p:sp>
      <p:sp>
        <p:nvSpPr>
          <p:cNvPr id="16" name="C owns backend; B reviews. Relevant controls must pass before use.">
            <a:extLst>
              <a:ext uri="{FF2B5EF4-FFF2-40B4-BE49-F238E27FC236}">
                <a16:creationId xmlns:a16="http://schemas.microsoft.com/office/drawing/2014/main" id="{EC9DDCFE-BA89-43C3-9417-C9652C423B2E}"/>
              </a:ext>
            </a:extLst>
          </p:cNvPr>
          <p:cNvSpPr>
            <a:spLocks noGrp="1"/>
          </p:cNvSpPr>
          <p:nvPr/>
        </p:nvSpPr>
        <p:spPr>
          <a:xfrm>
            <a:off x="7572375" y="3438525"/>
            <a:ext cx="3810000" cy="100584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C owns backend; B reviews. Relevant controls must pass before use.</a:t>
            </a:r>
          </a:p>
        </p:txBody>
      </p:sp>
      <p:sp>
        <p:nvSpPr>
          <p:cNvPr id="17" name="Rectangle 16">
            <a:extLst>
              <a:ext uri="{FF2B5EF4-FFF2-40B4-BE49-F238E27FC236}">
                <a16:creationId xmlns:a16="http://schemas.microsoft.com/office/drawing/2014/main" id="{EA3EB34E-B875-4E9E-A85B-98C91795E2CF}"/>
              </a:ext>
            </a:extLst>
          </p:cNvPr>
          <p:cNvSpPr>
            <a:spLocks noGrp="1"/>
          </p:cNvSpPr>
          <p:nvPr/>
        </p:nvSpPr>
        <p:spPr>
          <a:xfrm>
            <a:off x="647700" y="445770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8" name="3 · Commercial pilot">
            <a:extLst>
              <a:ext uri="{FF2B5EF4-FFF2-40B4-BE49-F238E27FC236}">
                <a16:creationId xmlns:a16="http://schemas.microsoft.com/office/drawing/2014/main" id="{9AC6C78B-BD21-4DCB-844C-C1E6570D1799}"/>
              </a:ext>
            </a:extLst>
          </p:cNvPr>
          <p:cNvSpPr>
            <a:spLocks noGrp="1"/>
          </p:cNvSpPr>
          <p:nvPr/>
        </p:nvSpPr>
        <p:spPr>
          <a:xfrm>
            <a:off x="647700" y="4552950"/>
            <a:ext cx="2952750" cy="100584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Charter"/>
                <a:ea typeface="Charter"/>
                <a:cs typeface="Charter"/>
              </a:defRPr>
            </a:pPr>
            <a:r>
              <a:rPr kumimoji="0" sz="1650" b="0" i="0" u="none" strike="noStrike" kern="1200" cap="none" spc="0" normalizeH="0" baseline="0" noProof="0">
                <a:ln>
                  <a:noFill/>
                </a:ln>
                <a:solidFill>
                  <a:srgbClr val="163449"/>
                </a:solidFill>
                <a:effectLst/>
                <a:uLnTx/>
                <a:uFillTx/>
                <a:latin typeface="Charter"/>
                <a:ea typeface="Charter"/>
                <a:cs typeface="Charter"/>
              </a:rPr>
              <a:t>3 · Commercial pilot</a:t>
            </a:r>
          </a:p>
        </p:txBody>
      </p:sp>
      <p:sp>
        <p:nvSpPr>
          <p:cNvPr id="19" name="Approved scope; buyer budget; authorised contract, delivery and payment.">
            <a:extLst>
              <a:ext uri="{FF2B5EF4-FFF2-40B4-BE49-F238E27FC236}">
                <a16:creationId xmlns:a16="http://schemas.microsoft.com/office/drawing/2014/main" id="{910E4CC2-DDF4-4132-A9F0-BBC6F2F87BAD}"/>
              </a:ext>
            </a:extLst>
          </p:cNvPr>
          <p:cNvSpPr>
            <a:spLocks noGrp="1"/>
          </p:cNvSpPr>
          <p:nvPr/>
        </p:nvSpPr>
        <p:spPr>
          <a:xfrm>
            <a:off x="3905250" y="4552950"/>
            <a:ext cx="3190875" cy="100584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Approved scope; buyer budget; authorised contract, delivery and payment.</a:t>
            </a:r>
          </a:p>
        </p:txBody>
      </p:sp>
      <p:sp>
        <p:nvSpPr>
          <p:cNvPr id="20" name="A coordinates; D supports. B/C retain technical ownership.">
            <a:extLst>
              <a:ext uri="{FF2B5EF4-FFF2-40B4-BE49-F238E27FC236}">
                <a16:creationId xmlns:a16="http://schemas.microsoft.com/office/drawing/2014/main" id="{DAFBC1D6-C787-45E7-92DF-C1229B530FD2}"/>
              </a:ext>
            </a:extLst>
          </p:cNvPr>
          <p:cNvSpPr>
            <a:spLocks noGrp="1"/>
          </p:cNvSpPr>
          <p:nvPr/>
        </p:nvSpPr>
        <p:spPr>
          <a:xfrm>
            <a:off x="7572375" y="4552950"/>
            <a:ext cx="3810000" cy="100584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Charter"/>
                <a:ea typeface="Charter"/>
                <a:cs typeface="Charter"/>
              </a:defRPr>
            </a:pPr>
            <a:r>
              <a:rPr kumimoji="0" sz="1575" b="0" i="0" u="none" strike="noStrike" kern="1200" cap="none" spc="0" normalizeH="0" baseline="0" noProof="0">
                <a:ln>
                  <a:noFill/>
                </a:ln>
                <a:solidFill>
                  <a:srgbClr val="163449"/>
                </a:solidFill>
                <a:effectLst/>
                <a:uLnTx/>
                <a:uFillTx/>
                <a:latin typeface="Charter"/>
                <a:ea typeface="Charter"/>
                <a:cs typeface="Charter"/>
              </a:rPr>
              <a:t>A coordinates; D supports. B/C retain technical ownership.</a:t>
            </a:r>
          </a:p>
        </p:txBody>
      </p:sp>
      <p:sp>
        <p:nvSpPr>
          <p:cNvPr id="21" name="Rectangle 20">
            <a:extLst>
              <a:ext uri="{FF2B5EF4-FFF2-40B4-BE49-F238E27FC236}">
                <a16:creationId xmlns:a16="http://schemas.microsoft.com/office/drawing/2014/main" id="{2E3389DD-AF56-4537-B726-F435754EA2F5}"/>
              </a:ext>
            </a:extLst>
          </p:cNvPr>
          <p:cNvSpPr>
            <a:spLocks noGrp="1"/>
          </p:cNvSpPr>
          <p:nvPr/>
        </p:nvSpPr>
        <p:spPr>
          <a:xfrm>
            <a:off x="647700" y="566737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3" name="Lab remains unbuilt: separate identities/database, synthetic tasks, Base Sepolia 84532 onl"/>
          <p:cNvSpPr txBox="1"/>
          <p:nvPr/>
        </p:nvSpPr>
        <p:spPr>
          <a:xfrm>
            <a:off x="649224" y="5824728"/>
            <a:ext cx="10881360" cy="429768"/>
          </a:xfrm>
          <a:prstGeom prst="rect">
            <a:avLst/>
          </a:prstGeom>
          <a:noFill/>
        </p:spPr>
        <p:txBody>
          <a:bodyPr wrap="square" lIns="0" rIns="0" tIns="0" bIns="0">
            <a:noAutofit/>
          </a:bodyPr>
          <a:lstStyle/>
          <a:p>
            <a:pPr>
              <a:lnSpc>
                <a:spcPct val="110000"/>
              </a:lnSpc>
              <a:spcBef>
                <a:spcPts val="0"/>
              </a:spcBef>
              <a:spcAft>
                <a:spcPts val="0"/>
              </a:spcAft>
            </a:pPr>
            <a:r>
              <a:rPr sz="1250" b="0">
                <a:solidFill>
                  <a:srgbClr val="007F78"/>
                </a:solidFill>
                <a:latin typeface="Charter"/>
              </a:rPr>
              <a:t>Lab remains unbuilt: separate identities/database, synthetic tasks, Base Sepolia 84532 only. No core-health-to-token path. [E1–E2]</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2083</Words>
  <Application>Microsoft Macintosh PowerPoint</Application>
  <PresentationFormat>Widescreen</PresentationFormat>
  <Paragraphs>264</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Bitstream Charter</vt:lpstr>
      <vt:lpstr>Aptos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HealthLoop Business Proposal Research Report</dc:title>
  <dc:creator>HealthLoop team</dc:creator>
  <cp:lastModifiedBy>HealthLoop team</cp:lastModifiedBy>
  <cp:revision>1</cp:revision>
  <dcterms:created xsi:type="dcterms:W3CDTF">2026-10-05T00:00:00Z</dcterms:created>
  <dcterms:modified xsi:type="dcterms:W3CDTF">2026-10-05T00:00:00Z</dcterms:modified>
  <dc:subject>COMM7115 research proposal, evidence and validation plan</dc:subject>
  <cp:keywords>HealthLoop, business proposal, Hong Kong, noncash points</cp:keywords>
  <dc:description>Completed from the user-supplied COMM7115 template. Evidence reviewed 5 October 2026.</dc:description>
</cp:coreProperties>
</file>