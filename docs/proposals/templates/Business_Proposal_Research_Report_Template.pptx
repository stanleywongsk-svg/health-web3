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808F42-5DFD-004C-8D4F-8B0273EA5AEC}" type="datetimeFigureOut">
              <a:rPr lang="en-GB" smtClean="0"/>
              <a:t>29/09/2026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8A73AE-6579-E046-825E-D6DEBB2BA603}" type="slidenum">
              <a:rPr lang="en-GB" smtClean="0"/>
              <a:t>‹#›</a:t>
            </a:fld>
            <a:endParaRPr lang="en-GB"/>
          </a:p>
        </p:txBody>
      </p:sp>
    </p:spTree>
    <p:extLst>
      <p:ext uri="{BB962C8B-B14F-4D97-AF65-F5344CB8AC3E}">
        <p14:creationId xmlns:p14="http://schemas.microsoft.com/office/powerpoint/2010/main" val="1137449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0:30. Replace every bracketed prompt. Use this deck to report research, the insights it produced, and the resulting project direction. The Q&amp;A and appendix slides are outside the 20-minute presentation.</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1:00. This is a provisional thesis. Make the distinction between observed pain and the proposed answer clear. Do not claim product-market fit at the research stage.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Groups need four or five members. Replace row 5 with a blank or remove it for a four-member team. Say why this field offers the team the best opportunity to perform. Mention one alternative considered in your oral explanation or appendix.</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Frame a user need, not merely a preference. Separate direct observation from interpretation. If using a market or trend claim, give a dated source on slide 7 or in the source register.</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Use methods actually completed. Describe the design question, method, and decision connection. If the team used questionnaires, show the instrument in the appendix. Distinguish qualitative insight from a quantitative prevalence estimate.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1:00. Report actual counts and recruitment criteria. Avoid treating a small convenience sample as representative. Obtain consent before recording or quoting people and remove identifying details.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Show at least two credible, dated sources and map alternatives. Google Trends measures relative search interest. Place full URLs and access dates in the source register, with short citations on the relevant slides.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2:00. Use findings, not raw notes. Each claim needs a traceable source such as P03, interview date, observation log, or survey item. Quote accurately and label counts as counts, not percentages for tiny samples. Discuss contradictions and outliers if material.</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One primary persona is enough for this presentation. Use a segment rooted in the sample. Add a second only if research shows a distinct behavior that changes the design. Avoid demographics that do not affect the problem.</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2:00. Tell one concrete scenario with trigger, user actions and outcome. Cite the observations behind key pain points. If the service includes offline and digital touchpoints, name both. A detailed service blueprint can be added later or kept in backup.</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Explain why the first opportunity wins using stated criteria. Avoid false precision from weighted scoring with weak evidence. Identify a lower-priority pain that the team will leave for a later cycle.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State the idea as a response to the selected pain. Choose the appropriate next artifact: proof of concept for feasibility, prototype for interaction/experience, or MVP for testing real use. The direction remains a hypothesis until tested.</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Treat prices, costs and willingness to pay as assumptions unless supported by evidence. The brief asks for sustainable business value, so identify the payer and delivery burden. A detailed financial model is not needed at mid-term.</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1:30. End on the decision supported by the research, not a feature list. Give test participants, task, metric or observation, and a pass condition wherever possible. An A/B test is appropriate only once there are comparable variants and enough traffic or participants.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Q&amp;A: 5:00. Keep backup slides ready for questions about sampling, research instruments and exact sources.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only. Keep a complete citation for each external statistic and a traceable anonymous ID for primary data. Include publication and access dates for dynamic sources. Add rows or duplicate this slide as needed.</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only. Adapt these prompts to the actual user task. Avoid leading questions such as “Would you use our app?” Include full survey wording, questionnaire scale anchors, or user-test task instructions when used.</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973983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727218"/>
      </p:ext>
    </p:extLst>
  </p:cSld>
  <p:clrMap bg1="lt1" tx1="dk1" bg2="lt2" tx2="dk2" accent1="accent1" accent2="accent2" accent3="accent3" accent4="accent4" accent5="accent5" accent6="accent6" hlink="hlink" folHlink="folHlink"/>
  <p:sldLayoutIdLst>
    <p:sldLayoutId id="2147483661"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E1C6AD6-9FD2-406D-8FF6-7FE6D0965621}"/>
              </a:ext>
            </a:extLst>
          </p:cNvPr>
          <p:cNvSpPr>
            <a:spLocks noGrp="1"/>
          </p:cNvSpPr>
          <p:nvPr/>
        </p:nvSpPr>
        <p:spPr>
          <a:xfrm>
            <a:off x="647700" y="638175"/>
            <a:ext cx="800100" cy="57150"/>
          </a:xfrm>
          <a:prstGeom prst="rect">
            <a:avLst/>
          </a:prstGeom>
          <a:solidFill>
            <a:srgbClr val="C96D4B"/>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 name="BUSINESS PROPOSAL&#10;RESEARCH REP">
            <a:extLst>
              <a:ext uri="{FF2B5EF4-FFF2-40B4-BE49-F238E27FC236}">
                <a16:creationId xmlns:a16="http://schemas.microsoft.com/office/drawing/2014/main" id="{7BD4949B-B298-422A-A406-DEF9E123EFC4}"/>
              </a:ext>
            </a:extLst>
          </p:cNvPr>
          <p:cNvSpPr>
            <a:spLocks noGrp="1"/>
          </p:cNvSpPr>
          <p:nvPr/>
        </p:nvSpPr>
        <p:spPr>
          <a:xfrm>
            <a:off x="647700" y="1190625"/>
            <a:ext cx="10096500" cy="1905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3000"/>
              </a:lnSpc>
              <a:spcBef>
                <a:spcPts val="0"/>
              </a:spcBef>
              <a:spcAft>
                <a:spcPts val="0"/>
              </a:spcAft>
              <a:buClrTx/>
              <a:buSzTx/>
              <a:buFontTx/>
              <a:buNone/>
              <a:tabLst/>
              <a:defRPr sz="4050" b="1">
                <a:solidFill>
                  <a:srgbClr val="FFFFFF"/>
                </a:solidFill>
                <a:latin typeface="Bitstream Charter"/>
                <a:ea typeface="Bitstream Charter"/>
                <a:cs typeface="Bitstream Charter"/>
              </a:defRPr>
            </a:pPr>
            <a:r>
              <a:rPr kumimoji="0" sz="4050" b="1" i="0" u="none" strike="noStrike" kern="1200" cap="none" spc="0" normalizeH="0" baseline="0" noProof="0">
                <a:ln>
                  <a:noFill/>
                </a:ln>
                <a:solidFill>
                  <a:srgbClr val="FFFFFF"/>
                </a:solidFill>
                <a:effectLst/>
                <a:uLnTx/>
                <a:uFillTx/>
                <a:latin typeface="Bitstream Charter"/>
                <a:ea typeface="Bitstream Charter"/>
                <a:cs typeface="Bitstream Charter"/>
              </a:rPr>
              <a:t>BUSINESS PROPOSAL</a:t>
            </a:r>
          </a:p>
          <a:p>
            <a:pPr marL="0" marR="0" lvl="0" indent="0" algn="l" defTabSz="914400" rtl="0" eaLnBrk="1" fontAlgn="auto" latinLnBrk="0" hangingPunct="1">
              <a:lnSpc>
                <a:spcPct val="103000"/>
              </a:lnSpc>
              <a:spcBef>
                <a:spcPts val="0"/>
              </a:spcBef>
              <a:spcAft>
                <a:spcPts val="0"/>
              </a:spcAft>
              <a:buClrTx/>
              <a:buSzTx/>
              <a:buFontTx/>
              <a:buNone/>
              <a:tabLst/>
              <a:defRPr sz="4050" b="1">
                <a:solidFill>
                  <a:srgbClr val="FFFFFF"/>
                </a:solidFill>
                <a:latin typeface="Bitstream Charter"/>
                <a:ea typeface="Bitstream Charter"/>
                <a:cs typeface="Bitstream Charter"/>
              </a:defRPr>
            </a:pPr>
            <a:r>
              <a:rPr kumimoji="0" sz="4050" b="1" i="0" u="none" strike="noStrike" kern="1200" cap="none" spc="0" normalizeH="0" baseline="0" noProof="0">
                <a:ln>
                  <a:noFill/>
                </a:ln>
                <a:solidFill>
                  <a:srgbClr val="FFFFFF"/>
                </a:solidFill>
                <a:effectLst/>
                <a:uLnTx/>
                <a:uFillTx/>
                <a:latin typeface="Bitstream Charter"/>
                <a:ea typeface="Bitstream Charter"/>
                <a:cs typeface="Bitstream Charter"/>
              </a:rPr>
              <a:t>RESEARCH REPORT</a:t>
            </a:r>
          </a:p>
        </p:txBody>
      </p:sp>
      <p:sp>
        <p:nvSpPr>
          <p:cNvPr id="3" name="[Startup / project name]">
            <a:extLst>
              <a:ext uri="{FF2B5EF4-FFF2-40B4-BE49-F238E27FC236}">
                <a16:creationId xmlns:a16="http://schemas.microsoft.com/office/drawing/2014/main" id="{C72CD5C5-214F-48DB-9EAA-F7FDAB2EFE62}"/>
              </a:ext>
            </a:extLst>
          </p:cNvPr>
          <p:cNvSpPr>
            <a:spLocks noGrp="1"/>
          </p:cNvSpPr>
          <p:nvPr/>
        </p:nvSpPr>
        <p:spPr>
          <a:xfrm>
            <a:off x="647700" y="3476625"/>
            <a:ext cx="9525000" cy="533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250" b="0">
                <a:solidFill>
                  <a:srgbClr val="BFE0DA"/>
                </a:solidFill>
                <a:latin typeface="Bitstream Charter"/>
                <a:ea typeface="Bitstream Charter"/>
                <a:cs typeface="Bitstream Charter"/>
              </a:defRPr>
            </a:pPr>
            <a:r>
              <a:rPr kumimoji="0" sz="2250" b="0" i="0" u="none" strike="noStrike" kern="1200" cap="none" spc="0" normalizeH="0" baseline="0" noProof="0">
                <a:ln>
                  <a:noFill/>
                </a:ln>
                <a:solidFill>
                  <a:srgbClr val="BFE0DA"/>
                </a:solidFill>
                <a:effectLst/>
                <a:uLnTx/>
                <a:uFillTx/>
                <a:latin typeface="Bitstream Charter"/>
                <a:ea typeface="Bitstream Charter"/>
                <a:cs typeface="Bitstream Charter"/>
              </a:rPr>
              <a:t>[Startup / project name]</a:t>
            </a:r>
          </a:p>
        </p:txBody>
      </p:sp>
      <p:sp>
        <p:nvSpPr>
          <p:cNvPr id="4" name="Rectangle 3">
            <a:extLst>
              <a:ext uri="{FF2B5EF4-FFF2-40B4-BE49-F238E27FC236}">
                <a16:creationId xmlns:a16="http://schemas.microsoft.com/office/drawing/2014/main" id="{E18AF45D-AC11-4718-AE2E-D966F8098C95}"/>
              </a:ext>
            </a:extLst>
          </p:cNvPr>
          <p:cNvSpPr>
            <a:spLocks noGrp="1"/>
          </p:cNvSpPr>
          <p:nvPr/>
        </p:nvSpPr>
        <p:spPr>
          <a:xfrm>
            <a:off x="647700" y="4819650"/>
            <a:ext cx="10896600" cy="9525"/>
          </a:xfrm>
          <a:prstGeom prst="rect">
            <a:avLst/>
          </a:prstGeom>
          <a:solidFill>
            <a:srgbClr val="74908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5" name="COMM7115  ·  AI Media Entrepre">
            <a:extLst>
              <a:ext uri="{FF2B5EF4-FFF2-40B4-BE49-F238E27FC236}">
                <a16:creationId xmlns:a16="http://schemas.microsoft.com/office/drawing/2014/main" id="{EF01AC68-12B6-45F3-A072-D17B3C970DB6}"/>
              </a:ext>
            </a:extLst>
          </p:cNvPr>
          <p:cNvSpPr>
            <a:spLocks noGrp="1"/>
          </p:cNvSpPr>
          <p:nvPr/>
        </p:nvSpPr>
        <p:spPr>
          <a:xfrm>
            <a:off x="647700" y="5048250"/>
            <a:ext cx="95250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FFFFFF"/>
                </a:solidFill>
                <a:latin typeface="Bitstream Charter"/>
                <a:ea typeface="Bitstream Charter"/>
                <a:cs typeface="Bitstream Charter"/>
              </a:defRPr>
            </a:pPr>
            <a:r>
              <a:rPr kumimoji="0" sz="1425" b="0" i="0" u="none" strike="noStrike" kern="1200" cap="none" spc="0" normalizeH="0" baseline="0" noProof="0">
                <a:ln>
                  <a:noFill/>
                </a:ln>
                <a:solidFill>
                  <a:srgbClr val="FFFFFF"/>
                </a:solidFill>
                <a:effectLst/>
                <a:uLnTx/>
                <a:uFillTx/>
                <a:latin typeface="Bitstream Charter"/>
                <a:ea typeface="Bitstream Charter"/>
                <a:cs typeface="Bitstream Charter"/>
              </a:rPr>
              <a:t>COMM7115  ·  AI Media Entrepreneurship Workshop</a:t>
            </a:r>
          </a:p>
        </p:txBody>
      </p:sp>
      <p:sp>
        <p:nvSpPr>
          <p:cNvPr id="6" name="[Team name]  ·  [4–5 members] ">
            <a:extLst>
              <a:ext uri="{FF2B5EF4-FFF2-40B4-BE49-F238E27FC236}">
                <a16:creationId xmlns:a16="http://schemas.microsoft.com/office/drawing/2014/main" id="{EE4E166D-5C74-487D-BADA-7A944FCFB5F8}"/>
              </a:ext>
            </a:extLst>
          </p:cNvPr>
          <p:cNvSpPr>
            <a:spLocks noGrp="1"/>
          </p:cNvSpPr>
          <p:nvPr/>
        </p:nvSpPr>
        <p:spPr>
          <a:xfrm>
            <a:off x="647700" y="5476875"/>
            <a:ext cx="10287000" cy="3238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BFE0DA"/>
                </a:solidFill>
                <a:latin typeface="Bitstream Charter"/>
                <a:ea typeface="Bitstream Charter"/>
                <a:cs typeface="Bitstream Charter"/>
              </a:defRPr>
            </a:pPr>
            <a:r>
              <a:rPr kumimoji="0" sz="1425" b="0" i="0" u="none" strike="noStrike" kern="1200" cap="none" spc="0" normalizeH="0" baseline="0" noProof="0">
                <a:ln>
                  <a:noFill/>
                </a:ln>
                <a:solidFill>
                  <a:srgbClr val="BFE0DA"/>
                </a:solidFill>
                <a:effectLst/>
                <a:uLnTx/>
                <a:uFillTx/>
                <a:latin typeface="Bitstream Charter"/>
                <a:ea typeface="Bitstream Charter"/>
                <a:cs typeface="Bitstream Charter"/>
              </a:rPr>
              <a:t>[Team name]  ·  [4–5 members]  ·  [Presentation date]</a:t>
            </a:r>
          </a:p>
        </p:txBody>
      </p:sp>
      <p:sp>
        <p:nvSpPr>
          <p:cNvPr id="7" name="20 MIN PRESENTATION  +  5 MIN ">
            <a:extLst>
              <a:ext uri="{FF2B5EF4-FFF2-40B4-BE49-F238E27FC236}">
                <a16:creationId xmlns:a16="http://schemas.microsoft.com/office/drawing/2014/main" id="{CC9BF4E7-8581-4454-9B96-20BAE08EF433}"/>
              </a:ext>
            </a:extLst>
          </p:cNvPr>
          <p:cNvSpPr>
            <a:spLocks noGrp="1"/>
          </p:cNvSpPr>
          <p:nvPr/>
        </p:nvSpPr>
        <p:spPr>
          <a:xfrm>
            <a:off x="647700" y="6343650"/>
            <a:ext cx="8572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BFE0DA"/>
                </a:solidFill>
                <a:latin typeface="Bitstream Charter"/>
                <a:ea typeface="Bitstream Charter"/>
                <a:cs typeface="Bitstream Charter"/>
              </a:defRPr>
            </a:pPr>
            <a:r>
              <a:rPr kumimoji="0" sz="975" b="1" i="0" u="none" strike="noStrike" kern="1200" cap="none" spc="0" normalizeH="0" baseline="0" noProof="0">
                <a:ln>
                  <a:noFill/>
                </a:ln>
                <a:solidFill>
                  <a:srgbClr val="BFE0DA"/>
                </a:solidFill>
                <a:effectLst/>
                <a:uLnTx/>
                <a:uFillTx/>
                <a:latin typeface="Bitstream Charter"/>
                <a:ea typeface="Bitstream Charter"/>
                <a:cs typeface="Bitstream Charter"/>
              </a:rPr>
              <a:t>20 MIN PRESENTATION  +  5 MIN Q&amp;A</a:t>
            </a:r>
          </a:p>
        </p:txBody>
      </p:sp>
    </p:spTree>
    <p:extLst>
      <p:ext uri="{BB962C8B-B14F-4D97-AF65-F5344CB8AC3E}">
        <p14:creationId xmlns:p14="http://schemas.microsoft.com/office/powerpoint/2010/main" val="1893648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4" name="RESEARCH REPORT">
            <a:extLst>
              <a:ext uri="{FF2B5EF4-FFF2-40B4-BE49-F238E27FC236}">
                <a16:creationId xmlns:a16="http://schemas.microsoft.com/office/drawing/2014/main" id="{982202CF-5AC4-44BF-95D2-548A13A1A2B8}"/>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The proposal at a glance">
            <a:extLst>
              <a:ext uri="{FF2B5EF4-FFF2-40B4-BE49-F238E27FC236}">
                <a16:creationId xmlns:a16="http://schemas.microsoft.com/office/drawing/2014/main" id="{8514563E-1DC4-4CB5-9FFF-0332D6AF82F8}"/>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The proposal at a glance</a:t>
            </a:r>
          </a:p>
        </p:txBody>
      </p:sp>
      <p:sp>
        <p:nvSpPr>
          <p:cNvPr id="3" name="Rectangle 2">
            <a:extLst>
              <a:ext uri="{FF2B5EF4-FFF2-40B4-BE49-F238E27FC236}">
                <a16:creationId xmlns:a16="http://schemas.microsoft.com/office/drawing/2014/main" id="{1A82FAB9-F860-434D-BA56-F9B0A85698B9}"/>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0AD94D51-EC68-4889-AFB6-4C2B6D09615D}"/>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2   /   1:00">
            <a:extLst>
              <a:ext uri="{FF2B5EF4-FFF2-40B4-BE49-F238E27FC236}">
                <a16:creationId xmlns:a16="http://schemas.microsoft.com/office/drawing/2014/main" id="{26604C04-EE4B-4B23-B900-C60C3CCD1C3A}"/>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02   /   1:00</a:t>
            </a:r>
          </a:p>
        </p:txBody>
      </p:sp>
      <p:sp>
        <p:nvSpPr>
          <p:cNvPr id="6" name="TARGET USER">
            <a:extLst>
              <a:ext uri="{FF2B5EF4-FFF2-40B4-BE49-F238E27FC236}">
                <a16:creationId xmlns:a16="http://schemas.microsoft.com/office/drawing/2014/main" id="{BBBB9296-81FD-457D-9850-27FB8D16CA9D}"/>
              </a:ext>
            </a:extLst>
          </p:cNvPr>
          <p:cNvSpPr>
            <a:spLocks noGrp="1"/>
          </p:cNvSpPr>
          <p:nvPr/>
        </p:nvSpPr>
        <p:spPr>
          <a:xfrm>
            <a:off x="647700" y="2000250"/>
            <a:ext cx="4762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TARGET USER</a:t>
            </a:r>
          </a:p>
        </p:txBody>
      </p:sp>
      <p:sp>
        <p:nvSpPr>
          <p:cNvPr id="7" name="[A specific user group in a de">
            <a:extLst>
              <a:ext uri="{FF2B5EF4-FFF2-40B4-BE49-F238E27FC236}">
                <a16:creationId xmlns:a16="http://schemas.microsoft.com/office/drawing/2014/main" id="{53E61A5A-BBDC-43BF-896A-F1B258D525BF}"/>
              </a:ext>
            </a:extLst>
          </p:cNvPr>
          <p:cNvSpPr>
            <a:spLocks noGrp="1"/>
          </p:cNvSpPr>
          <p:nvPr/>
        </p:nvSpPr>
        <p:spPr>
          <a:xfrm>
            <a:off x="647700" y="2324100"/>
            <a:ext cx="4762500" cy="7715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[A specific user group in a defined context]</a:t>
            </a:r>
          </a:p>
        </p:txBody>
      </p:sp>
      <p:sp>
        <p:nvSpPr>
          <p:cNvPr id="8" name="OBSERVED PAIN">
            <a:extLst>
              <a:ext uri="{FF2B5EF4-FFF2-40B4-BE49-F238E27FC236}">
                <a16:creationId xmlns:a16="http://schemas.microsoft.com/office/drawing/2014/main" id="{5F30CE05-AF69-4A58-BB61-090201D27D26}"/>
              </a:ext>
            </a:extLst>
          </p:cNvPr>
          <p:cNvSpPr>
            <a:spLocks noGrp="1"/>
          </p:cNvSpPr>
          <p:nvPr/>
        </p:nvSpPr>
        <p:spPr>
          <a:xfrm>
            <a:off x="6096000" y="2000250"/>
            <a:ext cx="52387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OBSERVED PAIN</a:t>
            </a:r>
          </a:p>
        </p:txBody>
      </p:sp>
      <p:sp>
        <p:nvSpPr>
          <p:cNvPr id="9" name="[What task or need causes diff">
            <a:extLst>
              <a:ext uri="{FF2B5EF4-FFF2-40B4-BE49-F238E27FC236}">
                <a16:creationId xmlns:a16="http://schemas.microsoft.com/office/drawing/2014/main" id="{6863DFCF-6058-4402-85D2-C59D4419D50B}"/>
              </a:ext>
            </a:extLst>
          </p:cNvPr>
          <p:cNvSpPr>
            <a:spLocks noGrp="1"/>
          </p:cNvSpPr>
          <p:nvPr/>
        </p:nvSpPr>
        <p:spPr>
          <a:xfrm>
            <a:off x="6096000" y="2324100"/>
            <a:ext cx="5238750" cy="8667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[What task or need causes difficulty? State it without naming your solution.]</a:t>
            </a:r>
          </a:p>
        </p:txBody>
      </p:sp>
      <p:sp>
        <p:nvSpPr>
          <p:cNvPr id="10" name="Rectangle 9">
            <a:extLst>
              <a:ext uri="{FF2B5EF4-FFF2-40B4-BE49-F238E27FC236}">
                <a16:creationId xmlns:a16="http://schemas.microsoft.com/office/drawing/2014/main" id="{67AAD73A-7956-4F72-9FF4-F1DBB9ACC6CA}"/>
              </a:ext>
            </a:extLst>
          </p:cNvPr>
          <p:cNvSpPr>
            <a:spLocks noGrp="1"/>
          </p:cNvSpPr>
          <p:nvPr/>
        </p:nvSpPr>
        <p:spPr>
          <a:xfrm>
            <a:off x="647700" y="3476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CURRENT PROJECT DIRECTION">
            <a:extLst>
              <a:ext uri="{FF2B5EF4-FFF2-40B4-BE49-F238E27FC236}">
                <a16:creationId xmlns:a16="http://schemas.microsoft.com/office/drawing/2014/main" id="{67915E2C-F2DF-46A8-BFF2-7BF573772069}"/>
              </a:ext>
            </a:extLst>
          </p:cNvPr>
          <p:cNvSpPr>
            <a:spLocks noGrp="1"/>
          </p:cNvSpPr>
          <p:nvPr/>
        </p:nvSpPr>
        <p:spPr>
          <a:xfrm>
            <a:off x="647700" y="3800475"/>
            <a:ext cx="4762500" cy="2190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CURRENT PROJECT DIRECTION</a:t>
            </a:r>
          </a:p>
        </p:txBody>
      </p:sp>
      <p:sp>
        <p:nvSpPr>
          <p:cNvPr id="12" name="[One sentence on the service o">
            <a:extLst>
              <a:ext uri="{FF2B5EF4-FFF2-40B4-BE49-F238E27FC236}">
                <a16:creationId xmlns:a16="http://schemas.microsoft.com/office/drawing/2014/main" id="{E80E660E-2F14-47FB-BA2D-EF92556100E5}"/>
              </a:ext>
            </a:extLst>
          </p:cNvPr>
          <p:cNvSpPr>
            <a:spLocks noGrp="1"/>
          </p:cNvSpPr>
          <p:nvPr/>
        </p:nvSpPr>
        <p:spPr>
          <a:xfrm>
            <a:off x="647700" y="4181475"/>
            <a:ext cx="10477500" cy="7048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250" b="1">
                <a:solidFill>
                  <a:srgbClr val="123047"/>
                </a:solidFill>
                <a:latin typeface="Bitstream Charter"/>
                <a:ea typeface="Bitstream Charter"/>
                <a:cs typeface="Bitstream Charter"/>
              </a:defRPr>
            </a:pPr>
            <a:r>
              <a:rPr kumimoji="0" sz="2250" b="1" i="0" u="none" strike="noStrike" kern="1200" cap="none" spc="0" normalizeH="0" baseline="0" noProof="0">
                <a:ln>
                  <a:noFill/>
                </a:ln>
                <a:solidFill>
                  <a:srgbClr val="123047"/>
                </a:solidFill>
                <a:effectLst/>
                <a:uLnTx/>
                <a:uFillTx/>
                <a:latin typeface="Bitstream Charter"/>
                <a:ea typeface="Bitstream Charter"/>
                <a:cs typeface="Bitstream Charter"/>
              </a:rPr>
              <a:t>[One sentence on the service or product you intend to explore]</a:t>
            </a:r>
          </a:p>
        </p:txBody>
      </p:sp>
      <p:sp>
        <p:nvSpPr>
          <p:cNvPr id="13" name="Evidence status: [what researc">
            <a:extLst>
              <a:ext uri="{FF2B5EF4-FFF2-40B4-BE49-F238E27FC236}">
                <a16:creationId xmlns:a16="http://schemas.microsoft.com/office/drawing/2014/main" id="{29C44B60-1191-4341-9935-F6DB86677B1D}"/>
              </a:ext>
            </a:extLst>
          </p:cNvPr>
          <p:cNvSpPr>
            <a:spLocks noGrp="1"/>
          </p:cNvSpPr>
          <p:nvPr/>
        </p:nvSpPr>
        <p:spPr>
          <a:xfrm>
            <a:off x="647700" y="5486400"/>
            <a:ext cx="10477500" cy="5524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Bitstream Charter"/>
                <a:ea typeface="Bitstream Charter"/>
                <a:cs typeface="Bitstream Charter"/>
              </a:defRPr>
            </a:pPr>
            <a:r>
              <a:rPr kumimoji="0" sz="1425" b="0" i="0" u="none" strike="noStrike" kern="1200" cap="none" spc="0" normalizeH="0" baseline="0" noProof="0">
                <a:ln>
                  <a:noFill/>
                </a:ln>
                <a:solidFill>
                  <a:srgbClr val="59716E"/>
                </a:solidFill>
                <a:effectLst/>
                <a:uLnTx/>
                <a:uFillTx/>
                <a:latin typeface="Bitstream Charter"/>
                <a:ea typeface="Bitstream Charter"/>
                <a:cs typeface="Bitstream Charter"/>
              </a:rPr>
              <a:t>Evidence status: [what research supports this direction]   ·   Open question: [what you still need to learn]</a:t>
            </a:r>
          </a:p>
        </p:txBody>
      </p:sp>
    </p:spTree>
    <p:extLst>
      <p:ext uri="{BB962C8B-B14F-4D97-AF65-F5344CB8AC3E}">
        <p14:creationId xmlns:p14="http://schemas.microsoft.com/office/powerpoint/2010/main" val="9094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32" name="RESEARCH REPORT">
            <a:extLst>
              <a:ext uri="{FF2B5EF4-FFF2-40B4-BE49-F238E27FC236}">
                <a16:creationId xmlns:a16="http://schemas.microsoft.com/office/drawing/2014/main" id="{97908B30-E5FE-496E-BF29-24DDA9655380}"/>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Team strengths and field choic">
            <a:extLst>
              <a:ext uri="{FF2B5EF4-FFF2-40B4-BE49-F238E27FC236}">
                <a16:creationId xmlns:a16="http://schemas.microsoft.com/office/drawing/2014/main" id="{51B5A606-C0D7-4B9A-9D67-3D4307A10300}"/>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Team strengths and field choice</a:t>
            </a:r>
          </a:p>
        </p:txBody>
      </p:sp>
      <p:sp>
        <p:nvSpPr>
          <p:cNvPr id="3" name="Rectangle 2">
            <a:extLst>
              <a:ext uri="{FF2B5EF4-FFF2-40B4-BE49-F238E27FC236}">
                <a16:creationId xmlns:a16="http://schemas.microsoft.com/office/drawing/2014/main" id="{65A3A35F-BF28-48D4-B540-2B1F74BC0DEB}"/>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522849DD-A7B3-4BFD-B18F-8ED2B5D6B4ED}"/>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3   /   1:30">
            <a:extLst>
              <a:ext uri="{FF2B5EF4-FFF2-40B4-BE49-F238E27FC236}">
                <a16:creationId xmlns:a16="http://schemas.microsoft.com/office/drawing/2014/main" id="{89315771-CF51-46A4-827A-4EAA271B7371}"/>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03   /   1:30</a:t>
            </a:r>
          </a:p>
        </p:txBody>
      </p:sp>
      <p:sp>
        <p:nvSpPr>
          <p:cNvPr id="6" name="MEMBER">
            <a:extLst>
              <a:ext uri="{FF2B5EF4-FFF2-40B4-BE49-F238E27FC236}">
                <a16:creationId xmlns:a16="http://schemas.microsoft.com/office/drawing/2014/main" id="{A171F676-0A53-4EB1-BE7D-B387934A8711}"/>
              </a:ext>
            </a:extLst>
          </p:cNvPr>
          <p:cNvSpPr>
            <a:spLocks noGrp="1"/>
          </p:cNvSpPr>
          <p:nvPr/>
        </p:nvSpPr>
        <p:spPr>
          <a:xfrm>
            <a:off x="647700" y="1905000"/>
            <a:ext cx="2333625"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MEMBER</a:t>
            </a:r>
          </a:p>
        </p:txBody>
      </p:sp>
      <p:sp>
        <p:nvSpPr>
          <p:cNvPr id="7" name="RELEVANT EXPERIENCE">
            <a:extLst>
              <a:ext uri="{FF2B5EF4-FFF2-40B4-BE49-F238E27FC236}">
                <a16:creationId xmlns:a16="http://schemas.microsoft.com/office/drawing/2014/main" id="{D02A56C3-EC93-49BA-91C1-81D460150769}"/>
              </a:ext>
            </a:extLst>
          </p:cNvPr>
          <p:cNvSpPr>
            <a:spLocks noGrp="1"/>
          </p:cNvSpPr>
          <p:nvPr/>
        </p:nvSpPr>
        <p:spPr>
          <a:xfrm>
            <a:off x="3000375" y="1905000"/>
            <a:ext cx="3286125"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RELEVANT EXPERIENCE</a:t>
            </a:r>
          </a:p>
        </p:txBody>
      </p:sp>
      <p:sp>
        <p:nvSpPr>
          <p:cNvPr id="8" name="ACCESS / CONTRIBUTION">
            <a:extLst>
              <a:ext uri="{FF2B5EF4-FFF2-40B4-BE49-F238E27FC236}">
                <a16:creationId xmlns:a16="http://schemas.microsoft.com/office/drawing/2014/main" id="{3695C468-AB73-4D1B-BD6A-5FC5AB3B34A2}"/>
              </a:ext>
            </a:extLst>
          </p:cNvPr>
          <p:cNvSpPr>
            <a:spLocks noGrp="1"/>
          </p:cNvSpPr>
          <p:nvPr/>
        </p:nvSpPr>
        <p:spPr>
          <a:xfrm>
            <a:off x="6715125" y="1905000"/>
            <a:ext cx="4667250"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ACCESS / CONTRIBUTION</a:t>
            </a:r>
          </a:p>
        </p:txBody>
      </p:sp>
      <p:sp>
        <p:nvSpPr>
          <p:cNvPr id="9" name="Rectangle 8">
            <a:extLst>
              <a:ext uri="{FF2B5EF4-FFF2-40B4-BE49-F238E27FC236}">
                <a16:creationId xmlns:a16="http://schemas.microsoft.com/office/drawing/2014/main" id="{C92091A1-0840-4FBA-A19E-101A0926E387}"/>
              </a:ext>
            </a:extLst>
          </p:cNvPr>
          <p:cNvSpPr>
            <a:spLocks noGrp="1"/>
          </p:cNvSpPr>
          <p:nvPr/>
        </p:nvSpPr>
        <p:spPr>
          <a:xfrm>
            <a:off x="647700" y="21621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Member 1]">
            <a:extLst>
              <a:ext uri="{FF2B5EF4-FFF2-40B4-BE49-F238E27FC236}">
                <a16:creationId xmlns:a16="http://schemas.microsoft.com/office/drawing/2014/main" id="{6345197B-29E2-4AB3-857A-0FC50EBB4152}"/>
              </a:ext>
            </a:extLst>
          </p:cNvPr>
          <p:cNvSpPr>
            <a:spLocks noGrp="1"/>
          </p:cNvSpPr>
          <p:nvPr/>
        </p:nvSpPr>
        <p:spPr>
          <a:xfrm>
            <a:off x="647700" y="2238375"/>
            <a:ext cx="219075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[Member 1]</a:t>
            </a:r>
          </a:p>
        </p:txBody>
      </p:sp>
      <p:sp>
        <p:nvSpPr>
          <p:cNvPr id="11" name="[Skills / lived experience]">
            <a:extLst>
              <a:ext uri="{FF2B5EF4-FFF2-40B4-BE49-F238E27FC236}">
                <a16:creationId xmlns:a16="http://schemas.microsoft.com/office/drawing/2014/main" id="{BDB20B3F-3B3B-4684-B78D-E56F2D2645F5}"/>
              </a:ext>
            </a:extLst>
          </p:cNvPr>
          <p:cNvSpPr>
            <a:spLocks noGrp="1"/>
          </p:cNvSpPr>
          <p:nvPr/>
        </p:nvSpPr>
        <p:spPr>
          <a:xfrm>
            <a:off x="3000375" y="2238375"/>
            <a:ext cx="32385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[Skills / lived experience]</a:t>
            </a:r>
          </a:p>
        </p:txBody>
      </p:sp>
      <p:sp>
        <p:nvSpPr>
          <p:cNvPr id="12" name="[Users, domain access, method,">
            <a:extLst>
              <a:ext uri="{FF2B5EF4-FFF2-40B4-BE49-F238E27FC236}">
                <a16:creationId xmlns:a16="http://schemas.microsoft.com/office/drawing/2014/main" id="{93DE3932-841E-421F-B39F-3B4A00A652C1}"/>
              </a:ext>
            </a:extLst>
          </p:cNvPr>
          <p:cNvSpPr>
            <a:spLocks noGrp="1"/>
          </p:cNvSpPr>
          <p:nvPr/>
        </p:nvSpPr>
        <p:spPr>
          <a:xfrm>
            <a:off x="6715125" y="2238375"/>
            <a:ext cx="46482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[Users, domain access, method, making]</a:t>
            </a:r>
          </a:p>
        </p:txBody>
      </p:sp>
      <p:sp>
        <p:nvSpPr>
          <p:cNvPr id="13" name="Rectangle 12">
            <a:extLst>
              <a:ext uri="{FF2B5EF4-FFF2-40B4-BE49-F238E27FC236}">
                <a16:creationId xmlns:a16="http://schemas.microsoft.com/office/drawing/2014/main" id="{9D772237-0754-476B-B787-15441F8E3A8D}"/>
              </a:ext>
            </a:extLst>
          </p:cNvPr>
          <p:cNvSpPr>
            <a:spLocks noGrp="1"/>
          </p:cNvSpPr>
          <p:nvPr/>
        </p:nvSpPr>
        <p:spPr>
          <a:xfrm>
            <a:off x="647700" y="27241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Member 2]">
            <a:extLst>
              <a:ext uri="{FF2B5EF4-FFF2-40B4-BE49-F238E27FC236}">
                <a16:creationId xmlns:a16="http://schemas.microsoft.com/office/drawing/2014/main" id="{979D65AD-4196-41A3-B005-1A5CDAB1763F}"/>
              </a:ext>
            </a:extLst>
          </p:cNvPr>
          <p:cNvSpPr>
            <a:spLocks noGrp="1"/>
          </p:cNvSpPr>
          <p:nvPr/>
        </p:nvSpPr>
        <p:spPr>
          <a:xfrm>
            <a:off x="647700" y="2800350"/>
            <a:ext cx="219075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[Member 2]</a:t>
            </a:r>
          </a:p>
        </p:txBody>
      </p:sp>
      <p:sp>
        <p:nvSpPr>
          <p:cNvPr id="15" name="[Skills / lived experience]">
            <a:extLst>
              <a:ext uri="{FF2B5EF4-FFF2-40B4-BE49-F238E27FC236}">
                <a16:creationId xmlns:a16="http://schemas.microsoft.com/office/drawing/2014/main" id="{9B2D6F1C-961D-4047-A8B4-56CB0A475EE3}"/>
              </a:ext>
            </a:extLst>
          </p:cNvPr>
          <p:cNvSpPr>
            <a:spLocks noGrp="1"/>
          </p:cNvSpPr>
          <p:nvPr/>
        </p:nvSpPr>
        <p:spPr>
          <a:xfrm>
            <a:off x="3000375" y="2800350"/>
            <a:ext cx="32385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[Skills / lived experience]</a:t>
            </a:r>
          </a:p>
        </p:txBody>
      </p:sp>
      <p:sp>
        <p:nvSpPr>
          <p:cNvPr id="16" name="[Users, domain access, method,">
            <a:extLst>
              <a:ext uri="{FF2B5EF4-FFF2-40B4-BE49-F238E27FC236}">
                <a16:creationId xmlns:a16="http://schemas.microsoft.com/office/drawing/2014/main" id="{2180E362-7B29-4687-8322-A294C200FA67}"/>
              </a:ext>
            </a:extLst>
          </p:cNvPr>
          <p:cNvSpPr>
            <a:spLocks noGrp="1"/>
          </p:cNvSpPr>
          <p:nvPr/>
        </p:nvSpPr>
        <p:spPr>
          <a:xfrm>
            <a:off x="6715125" y="2800350"/>
            <a:ext cx="46482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[Users, domain access, method, making]</a:t>
            </a:r>
          </a:p>
        </p:txBody>
      </p:sp>
      <p:sp>
        <p:nvSpPr>
          <p:cNvPr id="17" name="Rectangle 16">
            <a:extLst>
              <a:ext uri="{FF2B5EF4-FFF2-40B4-BE49-F238E27FC236}">
                <a16:creationId xmlns:a16="http://schemas.microsoft.com/office/drawing/2014/main" id="{3C70F483-CC26-448F-BA95-383E1E83E69C}"/>
              </a:ext>
            </a:extLst>
          </p:cNvPr>
          <p:cNvSpPr>
            <a:spLocks noGrp="1"/>
          </p:cNvSpPr>
          <p:nvPr/>
        </p:nvSpPr>
        <p:spPr>
          <a:xfrm>
            <a:off x="647700" y="32861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Member 3]">
            <a:extLst>
              <a:ext uri="{FF2B5EF4-FFF2-40B4-BE49-F238E27FC236}">
                <a16:creationId xmlns:a16="http://schemas.microsoft.com/office/drawing/2014/main" id="{3EC59D5D-FAB4-4F94-A44D-3147F8A350D7}"/>
              </a:ext>
            </a:extLst>
          </p:cNvPr>
          <p:cNvSpPr>
            <a:spLocks noGrp="1"/>
          </p:cNvSpPr>
          <p:nvPr/>
        </p:nvSpPr>
        <p:spPr>
          <a:xfrm>
            <a:off x="647700" y="3362325"/>
            <a:ext cx="219075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[Member 3]</a:t>
            </a:r>
          </a:p>
        </p:txBody>
      </p:sp>
      <p:sp>
        <p:nvSpPr>
          <p:cNvPr id="19" name="[Skills / lived experience]">
            <a:extLst>
              <a:ext uri="{FF2B5EF4-FFF2-40B4-BE49-F238E27FC236}">
                <a16:creationId xmlns:a16="http://schemas.microsoft.com/office/drawing/2014/main" id="{96588379-C8AE-40D7-BF73-B6DB4622C5D3}"/>
              </a:ext>
            </a:extLst>
          </p:cNvPr>
          <p:cNvSpPr>
            <a:spLocks noGrp="1"/>
          </p:cNvSpPr>
          <p:nvPr/>
        </p:nvSpPr>
        <p:spPr>
          <a:xfrm>
            <a:off x="3000375" y="3362325"/>
            <a:ext cx="32385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[Skills / lived experience]</a:t>
            </a:r>
          </a:p>
        </p:txBody>
      </p:sp>
      <p:sp>
        <p:nvSpPr>
          <p:cNvPr id="20" name="[Users, domain access, method,">
            <a:extLst>
              <a:ext uri="{FF2B5EF4-FFF2-40B4-BE49-F238E27FC236}">
                <a16:creationId xmlns:a16="http://schemas.microsoft.com/office/drawing/2014/main" id="{B01FD6C4-EE0C-42D8-8F07-F2AB2306DF3F}"/>
              </a:ext>
            </a:extLst>
          </p:cNvPr>
          <p:cNvSpPr>
            <a:spLocks noGrp="1"/>
          </p:cNvSpPr>
          <p:nvPr/>
        </p:nvSpPr>
        <p:spPr>
          <a:xfrm>
            <a:off x="6715125" y="3362325"/>
            <a:ext cx="46482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[Users, domain access, method, making]</a:t>
            </a:r>
          </a:p>
        </p:txBody>
      </p:sp>
      <p:sp>
        <p:nvSpPr>
          <p:cNvPr id="21" name="Rectangle 20">
            <a:extLst>
              <a:ext uri="{FF2B5EF4-FFF2-40B4-BE49-F238E27FC236}">
                <a16:creationId xmlns:a16="http://schemas.microsoft.com/office/drawing/2014/main" id="{4CAF3B0A-6EFE-4A4B-AE2B-18C836CF880A}"/>
              </a:ext>
            </a:extLst>
          </p:cNvPr>
          <p:cNvSpPr>
            <a:spLocks noGrp="1"/>
          </p:cNvSpPr>
          <p:nvPr/>
        </p:nvSpPr>
        <p:spPr>
          <a:xfrm>
            <a:off x="647700" y="38481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Member 4]">
            <a:extLst>
              <a:ext uri="{FF2B5EF4-FFF2-40B4-BE49-F238E27FC236}">
                <a16:creationId xmlns:a16="http://schemas.microsoft.com/office/drawing/2014/main" id="{60588D23-DA0F-45DF-A9D5-2F5E14FE1E3C}"/>
              </a:ext>
            </a:extLst>
          </p:cNvPr>
          <p:cNvSpPr>
            <a:spLocks noGrp="1"/>
          </p:cNvSpPr>
          <p:nvPr/>
        </p:nvSpPr>
        <p:spPr>
          <a:xfrm>
            <a:off x="647700" y="3924300"/>
            <a:ext cx="219075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[Member 4]</a:t>
            </a:r>
          </a:p>
        </p:txBody>
      </p:sp>
      <p:sp>
        <p:nvSpPr>
          <p:cNvPr id="23" name="[Skills / lived experience]">
            <a:extLst>
              <a:ext uri="{FF2B5EF4-FFF2-40B4-BE49-F238E27FC236}">
                <a16:creationId xmlns:a16="http://schemas.microsoft.com/office/drawing/2014/main" id="{E64C9D74-D0B1-4A64-96CA-9520283EC5A5}"/>
              </a:ext>
            </a:extLst>
          </p:cNvPr>
          <p:cNvSpPr>
            <a:spLocks noGrp="1"/>
          </p:cNvSpPr>
          <p:nvPr/>
        </p:nvSpPr>
        <p:spPr>
          <a:xfrm>
            <a:off x="3000375" y="3924300"/>
            <a:ext cx="32385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[Skills / lived experience]</a:t>
            </a:r>
          </a:p>
        </p:txBody>
      </p:sp>
      <p:sp>
        <p:nvSpPr>
          <p:cNvPr id="24" name="[Users, domain access, method,">
            <a:extLst>
              <a:ext uri="{FF2B5EF4-FFF2-40B4-BE49-F238E27FC236}">
                <a16:creationId xmlns:a16="http://schemas.microsoft.com/office/drawing/2014/main" id="{13208BE0-4256-49B8-BD23-41026FF69CF5}"/>
              </a:ext>
            </a:extLst>
          </p:cNvPr>
          <p:cNvSpPr>
            <a:spLocks noGrp="1"/>
          </p:cNvSpPr>
          <p:nvPr/>
        </p:nvSpPr>
        <p:spPr>
          <a:xfrm>
            <a:off x="6715125" y="3924300"/>
            <a:ext cx="46482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[Users, domain access, method, making]</a:t>
            </a:r>
          </a:p>
        </p:txBody>
      </p:sp>
      <p:sp>
        <p:nvSpPr>
          <p:cNvPr id="25" name="Rectangle 24">
            <a:extLst>
              <a:ext uri="{FF2B5EF4-FFF2-40B4-BE49-F238E27FC236}">
                <a16:creationId xmlns:a16="http://schemas.microsoft.com/office/drawing/2014/main" id="{B72BE158-F064-47EF-AFA6-A2DBA4C66796}"/>
              </a:ext>
            </a:extLst>
          </p:cNvPr>
          <p:cNvSpPr>
            <a:spLocks noGrp="1"/>
          </p:cNvSpPr>
          <p:nvPr/>
        </p:nvSpPr>
        <p:spPr>
          <a:xfrm>
            <a:off x="647700" y="44100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6" name="[Member 5]">
            <a:extLst>
              <a:ext uri="{FF2B5EF4-FFF2-40B4-BE49-F238E27FC236}">
                <a16:creationId xmlns:a16="http://schemas.microsoft.com/office/drawing/2014/main" id="{EE1E7991-913F-457F-A5EE-81F58EA96FA3}"/>
              </a:ext>
            </a:extLst>
          </p:cNvPr>
          <p:cNvSpPr>
            <a:spLocks noGrp="1"/>
          </p:cNvSpPr>
          <p:nvPr/>
        </p:nvSpPr>
        <p:spPr>
          <a:xfrm>
            <a:off x="647700" y="4486275"/>
            <a:ext cx="219075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[Member 5]</a:t>
            </a:r>
          </a:p>
        </p:txBody>
      </p:sp>
      <p:sp>
        <p:nvSpPr>
          <p:cNvPr id="27" name="[Skills / lived experience]">
            <a:extLst>
              <a:ext uri="{FF2B5EF4-FFF2-40B4-BE49-F238E27FC236}">
                <a16:creationId xmlns:a16="http://schemas.microsoft.com/office/drawing/2014/main" id="{DC74D289-B8D2-4D38-801B-0826CC2C7B37}"/>
              </a:ext>
            </a:extLst>
          </p:cNvPr>
          <p:cNvSpPr>
            <a:spLocks noGrp="1"/>
          </p:cNvSpPr>
          <p:nvPr/>
        </p:nvSpPr>
        <p:spPr>
          <a:xfrm>
            <a:off x="3000375" y="4486275"/>
            <a:ext cx="32385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[Skills / lived experience]</a:t>
            </a:r>
          </a:p>
        </p:txBody>
      </p:sp>
      <p:sp>
        <p:nvSpPr>
          <p:cNvPr id="28" name="[Users, domain access, method,">
            <a:extLst>
              <a:ext uri="{FF2B5EF4-FFF2-40B4-BE49-F238E27FC236}">
                <a16:creationId xmlns:a16="http://schemas.microsoft.com/office/drawing/2014/main" id="{807F1384-A52E-4057-86BD-0A20FD567901}"/>
              </a:ext>
            </a:extLst>
          </p:cNvPr>
          <p:cNvSpPr>
            <a:spLocks noGrp="1"/>
          </p:cNvSpPr>
          <p:nvPr/>
        </p:nvSpPr>
        <p:spPr>
          <a:xfrm>
            <a:off x="6715125" y="4486275"/>
            <a:ext cx="4648200" cy="4095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[Users, domain access, method, making]</a:t>
            </a:r>
          </a:p>
        </p:txBody>
      </p:sp>
      <p:sp>
        <p:nvSpPr>
          <p:cNvPr id="29" name="Rectangle 28">
            <a:extLst>
              <a:ext uri="{FF2B5EF4-FFF2-40B4-BE49-F238E27FC236}">
                <a16:creationId xmlns:a16="http://schemas.microsoft.com/office/drawing/2014/main" id="{68160C0A-058D-40C5-B3E1-C372C7A80DF7}"/>
              </a:ext>
            </a:extLst>
          </p:cNvPr>
          <p:cNvSpPr>
            <a:spLocks noGrp="1"/>
          </p:cNvSpPr>
          <p:nvPr/>
        </p:nvSpPr>
        <p:spPr>
          <a:xfrm>
            <a:off x="647700" y="50292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30" name="FIELD SELECTED">
            <a:extLst>
              <a:ext uri="{FF2B5EF4-FFF2-40B4-BE49-F238E27FC236}">
                <a16:creationId xmlns:a16="http://schemas.microsoft.com/office/drawing/2014/main" id="{00A07C19-CE5F-471B-ABEC-85E3F3ADBB2A}"/>
              </a:ext>
            </a:extLst>
          </p:cNvPr>
          <p:cNvSpPr>
            <a:spLocks noGrp="1"/>
          </p:cNvSpPr>
          <p:nvPr/>
        </p:nvSpPr>
        <p:spPr>
          <a:xfrm>
            <a:off x="647700" y="5314950"/>
            <a:ext cx="20002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FIELD SELECTED</a:t>
            </a:r>
          </a:p>
        </p:txBody>
      </p:sp>
      <p:sp>
        <p:nvSpPr>
          <p:cNvPr id="31" name="[Field] because [team fit] and">
            <a:extLst>
              <a:ext uri="{FF2B5EF4-FFF2-40B4-BE49-F238E27FC236}">
                <a16:creationId xmlns:a16="http://schemas.microsoft.com/office/drawing/2014/main" id="{94CA914D-2FB4-456B-9CF4-0E3A183393FB}"/>
              </a:ext>
            </a:extLst>
          </p:cNvPr>
          <p:cNvSpPr>
            <a:spLocks noGrp="1"/>
          </p:cNvSpPr>
          <p:nvPr/>
        </p:nvSpPr>
        <p:spPr>
          <a:xfrm>
            <a:off x="2667000" y="5257800"/>
            <a:ext cx="8715375" cy="609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1">
                <a:solidFill>
                  <a:srgbClr val="163449"/>
                </a:solidFill>
                <a:latin typeface="Bitstream Charter"/>
                <a:ea typeface="Bitstream Charter"/>
                <a:cs typeface="Bitstream Charter"/>
              </a:defRPr>
            </a:pPr>
            <a:r>
              <a:rPr kumimoji="0" sz="1725" b="1" i="0" u="none" strike="noStrike" kern="1200" cap="none" spc="0" normalizeH="0" baseline="0" noProof="0">
                <a:ln>
                  <a:noFill/>
                </a:ln>
                <a:solidFill>
                  <a:srgbClr val="163449"/>
                </a:solidFill>
                <a:effectLst/>
                <a:uLnTx/>
                <a:uFillTx/>
                <a:latin typeface="Bitstream Charter"/>
                <a:ea typeface="Bitstream Charter"/>
                <a:cs typeface="Bitstream Charter"/>
              </a:rPr>
              <a:t>[Field] because [team fit] and [evidence of an unmet need]</a:t>
            </a:r>
          </a:p>
        </p:txBody>
      </p:sp>
    </p:spTree>
    <p:extLst>
      <p:ext uri="{BB962C8B-B14F-4D97-AF65-F5344CB8AC3E}">
        <p14:creationId xmlns:p14="http://schemas.microsoft.com/office/powerpoint/2010/main" val="14983258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5" name="RESEARCH REPORT">
            <a:extLst>
              <a:ext uri="{FF2B5EF4-FFF2-40B4-BE49-F238E27FC236}">
                <a16:creationId xmlns:a16="http://schemas.microsoft.com/office/drawing/2014/main" id="{898BE185-FA93-48BA-8D2C-952259CAB777}"/>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Problem space and target user">
            <a:extLst>
              <a:ext uri="{FF2B5EF4-FFF2-40B4-BE49-F238E27FC236}">
                <a16:creationId xmlns:a16="http://schemas.microsoft.com/office/drawing/2014/main" id="{D80C7136-3E8E-44E8-8FBC-9536994CE852}"/>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Problem space and target user</a:t>
            </a:r>
          </a:p>
        </p:txBody>
      </p:sp>
      <p:sp>
        <p:nvSpPr>
          <p:cNvPr id="3" name="Rectangle 2">
            <a:extLst>
              <a:ext uri="{FF2B5EF4-FFF2-40B4-BE49-F238E27FC236}">
                <a16:creationId xmlns:a16="http://schemas.microsoft.com/office/drawing/2014/main" id="{474C168B-4375-4676-939B-37F73D04971D}"/>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B92B27D2-AAC7-42AE-966C-87E7CA6E4C33}"/>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4   /   1:30">
            <a:extLst>
              <a:ext uri="{FF2B5EF4-FFF2-40B4-BE49-F238E27FC236}">
                <a16:creationId xmlns:a16="http://schemas.microsoft.com/office/drawing/2014/main" id="{F209ACFB-BB7A-451F-A3AC-603D967F7070}"/>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04   /   1:30</a:t>
            </a:r>
          </a:p>
        </p:txBody>
      </p:sp>
      <p:sp>
        <p:nvSpPr>
          <p:cNvPr id="6" name="USER AND SETTING">
            <a:extLst>
              <a:ext uri="{FF2B5EF4-FFF2-40B4-BE49-F238E27FC236}">
                <a16:creationId xmlns:a16="http://schemas.microsoft.com/office/drawing/2014/main" id="{084BFAC9-6157-489D-8B62-23A95CD083D1}"/>
              </a:ext>
            </a:extLst>
          </p:cNvPr>
          <p:cNvSpPr>
            <a:spLocks noGrp="1"/>
          </p:cNvSpPr>
          <p:nvPr/>
        </p:nvSpPr>
        <p:spPr>
          <a:xfrm>
            <a:off x="647700" y="20002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USER AND SETTING</a:t>
            </a:r>
          </a:p>
        </p:txBody>
      </p:sp>
      <p:sp>
        <p:nvSpPr>
          <p:cNvPr id="7" name="[Who faces the problem, and wh">
            <a:extLst>
              <a:ext uri="{FF2B5EF4-FFF2-40B4-BE49-F238E27FC236}">
                <a16:creationId xmlns:a16="http://schemas.microsoft.com/office/drawing/2014/main" id="{DD331786-BB2F-493A-BA0C-A911FFE993AB}"/>
              </a:ext>
            </a:extLst>
          </p:cNvPr>
          <p:cNvSpPr>
            <a:spLocks noGrp="1"/>
          </p:cNvSpPr>
          <p:nvPr/>
        </p:nvSpPr>
        <p:spPr>
          <a:xfrm>
            <a:off x="647700" y="2324100"/>
            <a:ext cx="4953000"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Bitstream Charter"/>
                <a:ea typeface="Bitstream Charter"/>
                <a:cs typeface="Bitstream Charter"/>
              </a:defRPr>
            </a:pPr>
            <a:r>
              <a:rPr kumimoji="0" sz="1875" b="0" i="0" u="none" strike="noStrike" kern="1200" cap="none" spc="0" normalizeH="0" baseline="0" noProof="0">
                <a:ln>
                  <a:noFill/>
                </a:ln>
                <a:solidFill>
                  <a:srgbClr val="163449"/>
                </a:solidFill>
                <a:effectLst/>
                <a:uLnTx/>
                <a:uFillTx/>
                <a:latin typeface="Bitstream Charter"/>
                <a:ea typeface="Bitstream Charter"/>
                <a:cs typeface="Bitstream Charter"/>
              </a:rPr>
              <a:t>[Who faces the problem, and when does it arise?]</a:t>
            </a:r>
          </a:p>
        </p:txBody>
      </p:sp>
      <p:sp>
        <p:nvSpPr>
          <p:cNvPr id="8" name="JOB TO BE DONE">
            <a:extLst>
              <a:ext uri="{FF2B5EF4-FFF2-40B4-BE49-F238E27FC236}">
                <a16:creationId xmlns:a16="http://schemas.microsoft.com/office/drawing/2014/main" id="{9717EC8F-58C1-4DBB-8734-E640B138970A}"/>
              </a:ext>
            </a:extLst>
          </p:cNvPr>
          <p:cNvSpPr>
            <a:spLocks noGrp="1"/>
          </p:cNvSpPr>
          <p:nvPr/>
        </p:nvSpPr>
        <p:spPr>
          <a:xfrm>
            <a:off x="6286500" y="2000250"/>
            <a:ext cx="50482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JOB TO BE DONE</a:t>
            </a:r>
          </a:p>
        </p:txBody>
      </p:sp>
      <p:sp>
        <p:nvSpPr>
          <p:cNvPr id="9" name="[What is the person trying to ">
            <a:extLst>
              <a:ext uri="{FF2B5EF4-FFF2-40B4-BE49-F238E27FC236}">
                <a16:creationId xmlns:a16="http://schemas.microsoft.com/office/drawing/2014/main" id="{9EDBF401-7C6F-4EFD-95B8-5B1CF378E3B4}"/>
              </a:ext>
            </a:extLst>
          </p:cNvPr>
          <p:cNvSpPr>
            <a:spLocks noGrp="1"/>
          </p:cNvSpPr>
          <p:nvPr/>
        </p:nvSpPr>
        <p:spPr>
          <a:xfrm>
            <a:off x="6286500" y="2324100"/>
            <a:ext cx="5048250"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Bitstream Charter"/>
                <a:ea typeface="Bitstream Charter"/>
                <a:cs typeface="Bitstream Charter"/>
              </a:defRPr>
            </a:pPr>
            <a:r>
              <a:rPr kumimoji="0" sz="1875" b="0" i="0" u="none" strike="noStrike" kern="1200" cap="none" spc="0" normalizeH="0" baseline="0" noProof="0">
                <a:ln>
                  <a:noFill/>
                </a:ln>
                <a:solidFill>
                  <a:srgbClr val="163449"/>
                </a:solidFill>
                <a:effectLst/>
                <a:uLnTx/>
                <a:uFillTx/>
                <a:latin typeface="Bitstream Charter"/>
                <a:ea typeface="Bitstream Charter"/>
                <a:cs typeface="Bitstream Charter"/>
              </a:rPr>
              <a:t>[What is the person trying to accomplish?]</a:t>
            </a:r>
          </a:p>
        </p:txBody>
      </p:sp>
      <p:sp>
        <p:nvSpPr>
          <p:cNvPr id="10" name="Rectangle 9">
            <a:extLst>
              <a:ext uri="{FF2B5EF4-FFF2-40B4-BE49-F238E27FC236}">
                <a16:creationId xmlns:a16="http://schemas.microsoft.com/office/drawing/2014/main" id="{04523195-8516-42D1-8735-B0FD9A10B4A1}"/>
              </a:ext>
            </a:extLst>
          </p:cNvPr>
          <p:cNvSpPr>
            <a:spLocks noGrp="1"/>
          </p:cNvSpPr>
          <p:nvPr/>
        </p:nvSpPr>
        <p:spPr>
          <a:xfrm>
            <a:off x="647700" y="35242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CURRENT WORKAROUND">
            <a:extLst>
              <a:ext uri="{FF2B5EF4-FFF2-40B4-BE49-F238E27FC236}">
                <a16:creationId xmlns:a16="http://schemas.microsoft.com/office/drawing/2014/main" id="{5EE34D27-D410-43C0-93ED-6809315A0F16}"/>
              </a:ext>
            </a:extLst>
          </p:cNvPr>
          <p:cNvSpPr>
            <a:spLocks noGrp="1"/>
          </p:cNvSpPr>
          <p:nvPr/>
        </p:nvSpPr>
        <p:spPr>
          <a:xfrm>
            <a:off x="647700" y="38290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CURRENT WORKAROUND</a:t>
            </a:r>
          </a:p>
        </p:txBody>
      </p:sp>
      <p:sp>
        <p:nvSpPr>
          <p:cNvPr id="12" name="[How do people handle it now, ">
            <a:extLst>
              <a:ext uri="{FF2B5EF4-FFF2-40B4-BE49-F238E27FC236}">
                <a16:creationId xmlns:a16="http://schemas.microsoft.com/office/drawing/2014/main" id="{A7331703-DD3B-4C07-B633-96C40E88D4A0}"/>
              </a:ext>
            </a:extLst>
          </p:cNvPr>
          <p:cNvSpPr>
            <a:spLocks noGrp="1"/>
          </p:cNvSpPr>
          <p:nvPr/>
        </p:nvSpPr>
        <p:spPr>
          <a:xfrm>
            <a:off x="647700" y="4152900"/>
            <a:ext cx="4953000"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Bitstream Charter"/>
                <a:ea typeface="Bitstream Charter"/>
                <a:cs typeface="Bitstream Charter"/>
              </a:defRPr>
            </a:pPr>
            <a:r>
              <a:rPr kumimoji="0" sz="1875" b="0" i="0" u="none" strike="noStrike" kern="1200" cap="none" spc="0" normalizeH="0" baseline="0" noProof="0">
                <a:ln>
                  <a:noFill/>
                </a:ln>
                <a:solidFill>
                  <a:srgbClr val="163449"/>
                </a:solidFill>
                <a:effectLst/>
                <a:uLnTx/>
                <a:uFillTx/>
                <a:latin typeface="Bitstream Charter"/>
                <a:ea typeface="Bitstream Charter"/>
                <a:cs typeface="Bitstream Charter"/>
              </a:rPr>
              <a:t>[How do people handle it now, including other services?]</a:t>
            </a:r>
          </a:p>
        </p:txBody>
      </p:sp>
      <p:sp>
        <p:nvSpPr>
          <p:cNvPr id="13" name="WHY IT MATTERS">
            <a:extLst>
              <a:ext uri="{FF2B5EF4-FFF2-40B4-BE49-F238E27FC236}">
                <a16:creationId xmlns:a16="http://schemas.microsoft.com/office/drawing/2014/main" id="{B9D2E69E-65A0-4590-81B0-8F7DC79F4844}"/>
              </a:ext>
            </a:extLst>
          </p:cNvPr>
          <p:cNvSpPr>
            <a:spLocks noGrp="1"/>
          </p:cNvSpPr>
          <p:nvPr/>
        </p:nvSpPr>
        <p:spPr>
          <a:xfrm>
            <a:off x="6286500" y="3829050"/>
            <a:ext cx="50482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WHY IT MATTERS</a:t>
            </a:r>
          </a:p>
        </p:txBody>
      </p:sp>
      <p:sp>
        <p:nvSpPr>
          <p:cNvPr id="14" name="[Consequence for the user, wit">
            <a:extLst>
              <a:ext uri="{FF2B5EF4-FFF2-40B4-BE49-F238E27FC236}">
                <a16:creationId xmlns:a16="http://schemas.microsoft.com/office/drawing/2014/main" id="{85A52F12-6A1C-4335-8559-864102674F7B}"/>
              </a:ext>
            </a:extLst>
          </p:cNvPr>
          <p:cNvSpPr>
            <a:spLocks noGrp="1"/>
          </p:cNvSpPr>
          <p:nvPr/>
        </p:nvSpPr>
        <p:spPr>
          <a:xfrm>
            <a:off x="6286500" y="4152900"/>
            <a:ext cx="5048250"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0">
                <a:solidFill>
                  <a:srgbClr val="163449"/>
                </a:solidFill>
                <a:latin typeface="Bitstream Charter"/>
                <a:ea typeface="Bitstream Charter"/>
                <a:cs typeface="Bitstream Charter"/>
              </a:defRPr>
            </a:pPr>
            <a:r>
              <a:rPr kumimoji="0" sz="1875" b="0" i="0" u="none" strike="noStrike" kern="1200" cap="none" spc="0" normalizeH="0" baseline="0" noProof="0">
                <a:ln>
                  <a:noFill/>
                </a:ln>
                <a:solidFill>
                  <a:srgbClr val="163449"/>
                </a:solidFill>
                <a:effectLst/>
                <a:uLnTx/>
                <a:uFillTx/>
                <a:latin typeface="Bitstream Charter"/>
                <a:ea typeface="Bitstream Charter"/>
                <a:cs typeface="Bitstream Charter"/>
              </a:rPr>
              <a:t>[Consequence for the user, with a source or observation]</a:t>
            </a:r>
          </a:p>
        </p:txBody>
      </p:sp>
    </p:spTree>
    <p:extLst>
      <p:ext uri="{BB962C8B-B14F-4D97-AF65-F5344CB8AC3E}">
        <p14:creationId xmlns:p14="http://schemas.microsoft.com/office/powerpoint/2010/main" val="983212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9" name="RESEARCH REPORT">
            <a:extLst>
              <a:ext uri="{FF2B5EF4-FFF2-40B4-BE49-F238E27FC236}">
                <a16:creationId xmlns:a16="http://schemas.microsoft.com/office/drawing/2014/main" id="{84D1B801-5C62-431A-9F75-DFB24414DAC2}"/>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Research questions and methods">
            <a:extLst>
              <a:ext uri="{FF2B5EF4-FFF2-40B4-BE49-F238E27FC236}">
                <a16:creationId xmlns:a16="http://schemas.microsoft.com/office/drawing/2014/main" id="{0585A44B-153D-4F59-A34F-5C8B6498B771}"/>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Research questions and methods</a:t>
            </a:r>
          </a:p>
        </p:txBody>
      </p:sp>
      <p:sp>
        <p:nvSpPr>
          <p:cNvPr id="3" name="Rectangle 2">
            <a:extLst>
              <a:ext uri="{FF2B5EF4-FFF2-40B4-BE49-F238E27FC236}">
                <a16:creationId xmlns:a16="http://schemas.microsoft.com/office/drawing/2014/main" id="{49C586FC-392E-4702-939C-6C68B9B2C4C0}"/>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FFF44A8D-8999-45FD-A2F0-3391C8597939}"/>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5   /   1:30">
            <a:extLst>
              <a:ext uri="{FF2B5EF4-FFF2-40B4-BE49-F238E27FC236}">
                <a16:creationId xmlns:a16="http://schemas.microsoft.com/office/drawing/2014/main" id="{64A9C06F-93D1-4990-9DB9-717842858BD7}"/>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05   /   1:30</a:t>
            </a:r>
          </a:p>
        </p:txBody>
      </p:sp>
      <p:sp>
        <p:nvSpPr>
          <p:cNvPr id="6" name="QUESTION">
            <a:extLst>
              <a:ext uri="{FF2B5EF4-FFF2-40B4-BE49-F238E27FC236}">
                <a16:creationId xmlns:a16="http://schemas.microsoft.com/office/drawing/2014/main" id="{1BF41095-8220-4E87-AEAF-B7E2E7A54A9B}"/>
              </a:ext>
            </a:extLst>
          </p:cNvPr>
          <p:cNvSpPr>
            <a:spLocks noGrp="1"/>
          </p:cNvSpPr>
          <p:nvPr/>
        </p:nvSpPr>
        <p:spPr>
          <a:xfrm>
            <a:off x="647700" y="1952625"/>
            <a:ext cx="45720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QUESTION</a:t>
            </a:r>
          </a:p>
        </p:txBody>
      </p:sp>
      <p:sp>
        <p:nvSpPr>
          <p:cNvPr id="7" name="METHOD AND WHY IT FITS">
            <a:extLst>
              <a:ext uri="{FF2B5EF4-FFF2-40B4-BE49-F238E27FC236}">
                <a16:creationId xmlns:a16="http://schemas.microsoft.com/office/drawing/2014/main" id="{E1CA43D0-6805-4A86-8122-2324129D1C16}"/>
              </a:ext>
            </a:extLst>
          </p:cNvPr>
          <p:cNvSpPr>
            <a:spLocks noGrp="1"/>
          </p:cNvSpPr>
          <p:nvPr/>
        </p:nvSpPr>
        <p:spPr>
          <a:xfrm>
            <a:off x="5762625" y="1952625"/>
            <a:ext cx="538162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METHOD AND WHY IT FITS</a:t>
            </a:r>
          </a:p>
        </p:txBody>
      </p:sp>
      <p:sp>
        <p:nvSpPr>
          <p:cNvPr id="8" name="Rectangle 7">
            <a:extLst>
              <a:ext uri="{FF2B5EF4-FFF2-40B4-BE49-F238E27FC236}">
                <a16:creationId xmlns:a16="http://schemas.microsoft.com/office/drawing/2014/main" id="{9555C6F0-896B-4A33-9374-3DFF099D5F8F}"/>
              </a:ext>
            </a:extLst>
          </p:cNvPr>
          <p:cNvSpPr>
            <a:spLocks noGrp="1"/>
          </p:cNvSpPr>
          <p:nvPr/>
        </p:nvSpPr>
        <p:spPr>
          <a:xfrm>
            <a:off x="647700" y="22193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What do users currently do?]">
            <a:extLst>
              <a:ext uri="{FF2B5EF4-FFF2-40B4-BE49-F238E27FC236}">
                <a16:creationId xmlns:a16="http://schemas.microsoft.com/office/drawing/2014/main" id="{8505DC98-90D4-4344-A9FD-10FEAB03C2EB}"/>
              </a:ext>
            </a:extLst>
          </p:cNvPr>
          <p:cNvSpPr>
            <a:spLocks noGrp="1"/>
          </p:cNvSpPr>
          <p:nvPr/>
        </p:nvSpPr>
        <p:spPr>
          <a:xfrm>
            <a:off x="647700" y="2324100"/>
            <a:ext cx="4667250"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[What do users currently do?]</a:t>
            </a:r>
          </a:p>
        </p:txBody>
      </p:sp>
      <p:sp>
        <p:nvSpPr>
          <p:cNvPr id="10" name="[Observation / contextual inte">
            <a:extLst>
              <a:ext uri="{FF2B5EF4-FFF2-40B4-BE49-F238E27FC236}">
                <a16:creationId xmlns:a16="http://schemas.microsoft.com/office/drawing/2014/main" id="{EBBC6C96-907A-4473-807F-21F8364EB024}"/>
              </a:ext>
            </a:extLst>
          </p:cNvPr>
          <p:cNvSpPr>
            <a:spLocks noGrp="1"/>
          </p:cNvSpPr>
          <p:nvPr/>
        </p:nvSpPr>
        <p:spPr>
          <a:xfrm>
            <a:off x="5762625" y="2324100"/>
            <a:ext cx="547687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[Observation / contextual interview / task walk-through]</a:t>
            </a:r>
          </a:p>
        </p:txBody>
      </p:sp>
      <p:sp>
        <p:nvSpPr>
          <p:cNvPr id="11" name="Rectangle 10">
            <a:extLst>
              <a:ext uri="{FF2B5EF4-FFF2-40B4-BE49-F238E27FC236}">
                <a16:creationId xmlns:a16="http://schemas.microsoft.com/office/drawing/2014/main" id="{A9DD5F0C-AED4-401D-8618-C640E2E0DB27}"/>
              </a:ext>
            </a:extLst>
          </p:cNvPr>
          <p:cNvSpPr>
            <a:spLocks noGrp="1"/>
          </p:cNvSpPr>
          <p:nvPr/>
        </p:nvSpPr>
        <p:spPr>
          <a:xfrm>
            <a:off x="647700" y="32194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2" name="[Where does friction occur?]">
            <a:extLst>
              <a:ext uri="{FF2B5EF4-FFF2-40B4-BE49-F238E27FC236}">
                <a16:creationId xmlns:a16="http://schemas.microsoft.com/office/drawing/2014/main" id="{408814A8-7867-437E-8EC0-539376DA8197}"/>
              </a:ext>
            </a:extLst>
          </p:cNvPr>
          <p:cNvSpPr>
            <a:spLocks noGrp="1"/>
          </p:cNvSpPr>
          <p:nvPr/>
        </p:nvSpPr>
        <p:spPr>
          <a:xfrm>
            <a:off x="647700" y="3324225"/>
            <a:ext cx="4667250"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[Where does friction occur?]</a:t>
            </a:r>
          </a:p>
        </p:txBody>
      </p:sp>
      <p:sp>
        <p:nvSpPr>
          <p:cNvPr id="13" name="[Interview / journey mapping /">
            <a:extLst>
              <a:ext uri="{FF2B5EF4-FFF2-40B4-BE49-F238E27FC236}">
                <a16:creationId xmlns:a16="http://schemas.microsoft.com/office/drawing/2014/main" id="{A908A9B6-B8B0-4331-BB77-D2E60C1496A6}"/>
              </a:ext>
            </a:extLst>
          </p:cNvPr>
          <p:cNvSpPr>
            <a:spLocks noGrp="1"/>
          </p:cNvSpPr>
          <p:nvPr/>
        </p:nvSpPr>
        <p:spPr>
          <a:xfrm>
            <a:off x="5762625" y="3324225"/>
            <a:ext cx="547687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[Interview / journey mapping / usability task]</a:t>
            </a:r>
          </a:p>
        </p:txBody>
      </p:sp>
      <p:sp>
        <p:nvSpPr>
          <p:cNvPr id="14" name="Rectangle 13">
            <a:extLst>
              <a:ext uri="{FF2B5EF4-FFF2-40B4-BE49-F238E27FC236}">
                <a16:creationId xmlns:a16="http://schemas.microsoft.com/office/drawing/2014/main" id="{8C48CA28-09BF-4E43-9DF5-C3C714AF6B54}"/>
              </a:ext>
            </a:extLst>
          </p:cNvPr>
          <p:cNvSpPr>
            <a:spLocks noGrp="1"/>
          </p:cNvSpPr>
          <p:nvPr/>
        </p:nvSpPr>
        <p:spPr>
          <a:xfrm>
            <a:off x="647700" y="42195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5" name="[How common or urgent is it?]">
            <a:extLst>
              <a:ext uri="{FF2B5EF4-FFF2-40B4-BE49-F238E27FC236}">
                <a16:creationId xmlns:a16="http://schemas.microsoft.com/office/drawing/2014/main" id="{2CAD3D97-C6F4-40A7-899D-B531B9B49341}"/>
              </a:ext>
            </a:extLst>
          </p:cNvPr>
          <p:cNvSpPr>
            <a:spLocks noGrp="1"/>
          </p:cNvSpPr>
          <p:nvPr/>
        </p:nvSpPr>
        <p:spPr>
          <a:xfrm>
            <a:off x="647700" y="4324350"/>
            <a:ext cx="4667250"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[How common or urgent is it?]</a:t>
            </a:r>
          </a:p>
        </p:txBody>
      </p:sp>
      <p:sp>
        <p:nvSpPr>
          <p:cNvPr id="16" name="[Survey / secondary data, with">
            <a:extLst>
              <a:ext uri="{FF2B5EF4-FFF2-40B4-BE49-F238E27FC236}">
                <a16:creationId xmlns:a16="http://schemas.microsoft.com/office/drawing/2014/main" id="{DFEB0DDD-8FCF-423C-81E0-3632935D47CE}"/>
              </a:ext>
            </a:extLst>
          </p:cNvPr>
          <p:cNvSpPr>
            <a:spLocks noGrp="1"/>
          </p:cNvSpPr>
          <p:nvPr/>
        </p:nvSpPr>
        <p:spPr>
          <a:xfrm>
            <a:off x="5762625" y="4324350"/>
            <a:ext cx="547687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[Survey / secondary data, with limits noted]</a:t>
            </a:r>
          </a:p>
        </p:txBody>
      </p:sp>
      <p:sp>
        <p:nvSpPr>
          <p:cNvPr id="17" name="Rectangle 16">
            <a:extLst>
              <a:ext uri="{FF2B5EF4-FFF2-40B4-BE49-F238E27FC236}">
                <a16:creationId xmlns:a16="http://schemas.microsoft.com/office/drawing/2014/main" id="{EA2BA837-1565-46BB-8AE9-B282CB0E0A12}"/>
              </a:ext>
            </a:extLst>
          </p:cNvPr>
          <p:cNvSpPr>
            <a:spLocks noGrp="1"/>
          </p:cNvSpPr>
          <p:nvPr/>
        </p:nvSpPr>
        <p:spPr>
          <a:xfrm>
            <a:off x="647700" y="52578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RESEARCH PERIOD  [dates]     ·">
            <a:extLst>
              <a:ext uri="{FF2B5EF4-FFF2-40B4-BE49-F238E27FC236}">
                <a16:creationId xmlns:a16="http://schemas.microsoft.com/office/drawing/2014/main" id="{82DB2B85-1DEB-484C-8DDC-DE9B57774FFE}"/>
              </a:ext>
            </a:extLst>
          </p:cNvPr>
          <p:cNvSpPr>
            <a:spLocks noGrp="1"/>
          </p:cNvSpPr>
          <p:nvPr/>
        </p:nvSpPr>
        <p:spPr>
          <a:xfrm>
            <a:off x="647700" y="5524500"/>
            <a:ext cx="10715625" cy="533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Bitstream Charter"/>
                <a:ea typeface="Bitstream Charter"/>
                <a:cs typeface="Bitstream Charter"/>
              </a:defRPr>
            </a:pPr>
            <a:r>
              <a:rPr kumimoji="0" sz="1425" b="0" i="0" u="none" strike="noStrike" kern="1200" cap="none" spc="0" normalizeH="0" baseline="0" noProof="0">
                <a:ln>
                  <a:noFill/>
                </a:ln>
                <a:solidFill>
                  <a:srgbClr val="59716E"/>
                </a:solidFill>
                <a:effectLst/>
                <a:uLnTx/>
                <a:uFillTx/>
                <a:latin typeface="Bitstream Charter"/>
                <a:ea typeface="Bitstream Charter"/>
                <a:cs typeface="Bitstream Charter"/>
              </a:rPr>
              <a:t>RESEARCH PERIOD  [dates]     ·     DECISION TO INFORM  [which project choice depends on the results]</a:t>
            </a:r>
          </a:p>
        </p:txBody>
      </p:sp>
    </p:spTree>
    <p:extLst>
      <p:ext uri="{BB962C8B-B14F-4D97-AF65-F5344CB8AC3E}">
        <p14:creationId xmlns:p14="http://schemas.microsoft.com/office/powerpoint/2010/main" val="2972326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5" name="RESEARCH REPORT">
            <a:extLst>
              <a:ext uri="{FF2B5EF4-FFF2-40B4-BE49-F238E27FC236}">
                <a16:creationId xmlns:a16="http://schemas.microsoft.com/office/drawing/2014/main" id="{F28188CD-8458-492F-8FFF-CAB7F548D32C}"/>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Participants, recruitment and ">
            <a:extLst>
              <a:ext uri="{FF2B5EF4-FFF2-40B4-BE49-F238E27FC236}">
                <a16:creationId xmlns:a16="http://schemas.microsoft.com/office/drawing/2014/main" id="{59E8D2A6-1258-439D-8CCB-D95DA1154B3C}"/>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Participants, recruitment and limits</a:t>
            </a:r>
          </a:p>
        </p:txBody>
      </p:sp>
      <p:sp>
        <p:nvSpPr>
          <p:cNvPr id="3" name="Rectangle 2">
            <a:extLst>
              <a:ext uri="{FF2B5EF4-FFF2-40B4-BE49-F238E27FC236}">
                <a16:creationId xmlns:a16="http://schemas.microsoft.com/office/drawing/2014/main" id="{283AF754-39FE-4B5C-AF1A-C80BD2B2FDDE}"/>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AB1734B9-24E1-4D54-8697-E0C0284EB36B}"/>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6   /   1:00">
            <a:extLst>
              <a:ext uri="{FF2B5EF4-FFF2-40B4-BE49-F238E27FC236}">
                <a16:creationId xmlns:a16="http://schemas.microsoft.com/office/drawing/2014/main" id="{4384D32C-B2AA-4D8A-BEF8-06FF018BA684}"/>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06   /   1:00</a:t>
            </a:r>
          </a:p>
        </p:txBody>
      </p:sp>
      <p:sp>
        <p:nvSpPr>
          <p:cNvPr id="6" name="SAMPLE">
            <a:extLst>
              <a:ext uri="{FF2B5EF4-FFF2-40B4-BE49-F238E27FC236}">
                <a16:creationId xmlns:a16="http://schemas.microsoft.com/office/drawing/2014/main" id="{B52168FF-F38F-40C4-B046-F261BAE4E619}"/>
              </a:ext>
            </a:extLst>
          </p:cNvPr>
          <p:cNvSpPr>
            <a:spLocks noGrp="1"/>
          </p:cNvSpPr>
          <p:nvPr/>
        </p:nvSpPr>
        <p:spPr>
          <a:xfrm>
            <a:off x="647700" y="20002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SAMPLE</a:t>
            </a:r>
          </a:p>
        </p:txBody>
      </p:sp>
      <p:sp>
        <p:nvSpPr>
          <p:cNvPr id="7" name="[n = __ users; relevant roles,">
            <a:extLst>
              <a:ext uri="{FF2B5EF4-FFF2-40B4-BE49-F238E27FC236}">
                <a16:creationId xmlns:a16="http://schemas.microsoft.com/office/drawing/2014/main" id="{A336ADD7-1DEF-48B5-B0F9-7AEC1C0A2468}"/>
              </a:ext>
            </a:extLst>
          </p:cNvPr>
          <p:cNvSpPr>
            <a:spLocks noGrp="1"/>
          </p:cNvSpPr>
          <p:nvPr/>
        </p:nvSpPr>
        <p:spPr>
          <a:xfrm>
            <a:off x="647700" y="2324100"/>
            <a:ext cx="495300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[n = __ users; relevant roles, context and recruitment channel]</a:t>
            </a:r>
          </a:p>
        </p:txBody>
      </p:sp>
      <p:sp>
        <p:nvSpPr>
          <p:cNvPr id="8" name="WHAT THEY DID">
            <a:extLst>
              <a:ext uri="{FF2B5EF4-FFF2-40B4-BE49-F238E27FC236}">
                <a16:creationId xmlns:a16="http://schemas.microsoft.com/office/drawing/2014/main" id="{B1CC499B-898E-4A63-A96A-4BE02C0DCAD6}"/>
              </a:ext>
            </a:extLst>
          </p:cNvPr>
          <p:cNvSpPr>
            <a:spLocks noGrp="1"/>
          </p:cNvSpPr>
          <p:nvPr/>
        </p:nvSpPr>
        <p:spPr>
          <a:xfrm>
            <a:off x="6286500" y="200025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WHAT THEY DID</a:t>
            </a:r>
          </a:p>
        </p:txBody>
      </p:sp>
      <p:sp>
        <p:nvSpPr>
          <p:cNvPr id="9" name="[Interview / observe / survey ">
            <a:extLst>
              <a:ext uri="{FF2B5EF4-FFF2-40B4-BE49-F238E27FC236}">
                <a16:creationId xmlns:a16="http://schemas.microsoft.com/office/drawing/2014/main" id="{5C46D135-0AA3-4B4E-B956-7E9A097C2A5B}"/>
              </a:ext>
            </a:extLst>
          </p:cNvPr>
          <p:cNvSpPr>
            <a:spLocks noGrp="1"/>
          </p:cNvSpPr>
          <p:nvPr/>
        </p:nvSpPr>
        <p:spPr>
          <a:xfrm>
            <a:off x="6286500" y="2324100"/>
            <a:ext cx="495300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[Interview / observe / survey / task test; dates and duration]</a:t>
            </a:r>
          </a:p>
        </p:txBody>
      </p:sp>
      <p:sp>
        <p:nvSpPr>
          <p:cNvPr id="10" name="Rectangle 9">
            <a:extLst>
              <a:ext uri="{FF2B5EF4-FFF2-40B4-BE49-F238E27FC236}">
                <a16:creationId xmlns:a16="http://schemas.microsoft.com/office/drawing/2014/main" id="{4B96879D-3A67-47CC-819D-1DE10ABE26BE}"/>
              </a:ext>
            </a:extLst>
          </p:cNvPr>
          <p:cNvSpPr>
            <a:spLocks noGrp="1"/>
          </p:cNvSpPr>
          <p:nvPr/>
        </p:nvSpPr>
        <p:spPr>
          <a:xfrm>
            <a:off x="647700" y="36671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COVERAGE AND BIAS">
            <a:extLst>
              <a:ext uri="{FF2B5EF4-FFF2-40B4-BE49-F238E27FC236}">
                <a16:creationId xmlns:a16="http://schemas.microsoft.com/office/drawing/2014/main" id="{AE714BFD-B095-469E-8314-9ECD5109AE39}"/>
              </a:ext>
            </a:extLst>
          </p:cNvPr>
          <p:cNvSpPr>
            <a:spLocks noGrp="1"/>
          </p:cNvSpPr>
          <p:nvPr/>
        </p:nvSpPr>
        <p:spPr>
          <a:xfrm>
            <a:off x="647700" y="396240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COVERAGE AND BIAS</a:t>
            </a:r>
          </a:p>
        </p:txBody>
      </p:sp>
      <p:sp>
        <p:nvSpPr>
          <p:cNvPr id="12" name="[Who is missing? Convenience s">
            <a:extLst>
              <a:ext uri="{FF2B5EF4-FFF2-40B4-BE49-F238E27FC236}">
                <a16:creationId xmlns:a16="http://schemas.microsoft.com/office/drawing/2014/main" id="{AFB7BC68-5AD2-4D84-B6D4-7E938205B08A}"/>
              </a:ext>
            </a:extLst>
          </p:cNvPr>
          <p:cNvSpPr>
            <a:spLocks noGrp="1"/>
          </p:cNvSpPr>
          <p:nvPr/>
        </p:nvSpPr>
        <p:spPr>
          <a:xfrm>
            <a:off x="647700" y="4286250"/>
            <a:ext cx="4953000" cy="1009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[Who is missing? Convenience sample, self-selection or other limits]</a:t>
            </a:r>
          </a:p>
        </p:txBody>
      </p:sp>
      <p:sp>
        <p:nvSpPr>
          <p:cNvPr id="13" name="ETHICS">
            <a:extLst>
              <a:ext uri="{FF2B5EF4-FFF2-40B4-BE49-F238E27FC236}">
                <a16:creationId xmlns:a16="http://schemas.microsoft.com/office/drawing/2014/main" id="{1FE06424-2107-4C51-B211-13D4009362A2}"/>
              </a:ext>
            </a:extLst>
          </p:cNvPr>
          <p:cNvSpPr>
            <a:spLocks noGrp="1"/>
          </p:cNvSpPr>
          <p:nvPr/>
        </p:nvSpPr>
        <p:spPr>
          <a:xfrm>
            <a:off x="6286500" y="3962400"/>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ETHICS</a:t>
            </a:r>
          </a:p>
        </p:txBody>
      </p:sp>
      <p:sp>
        <p:nvSpPr>
          <p:cNvPr id="14" name="[Consent, anonymization and sa">
            <a:extLst>
              <a:ext uri="{FF2B5EF4-FFF2-40B4-BE49-F238E27FC236}">
                <a16:creationId xmlns:a16="http://schemas.microsoft.com/office/drawing/2014/main" id="{DB1A4488-5072-46E8-94DA-07EE27822078}"/>
              </a:ext>
            </a:extLst>
          </p:cNvPr>
          <p:cNvSpPr>
            <a:spLocks noGrp="1"/>
          </p:cNvSpPr>
          <p:nvPr/>
        </p:nvSpPr>
        <p:spPr>
          <a:xfrm>
            <a:off x="6286500" y="4286250"/>
            <a:ext cx="4953000" cy="1009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[Consent, anonymization and safe handling of quotes or recordings]</a:t>
            </a:r>
          </a:p>
        </p:txBody>
      </p:sp>
    </p:spTree>
    <p:extLst>
      <p:ext uri="{BB962C8B-B14F-4D97-AF65-F5344CB8AC3E}">
        <p14:creationId xmlns:p14="http://schemas.microsoft.com/office/powerpoint/2010/main" val="21128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2" name="RESEARCH REPORT">
            <a:extLst>
              <a:ext uri="{FF2B5EF4-FFF2-40B4-BE49-F238E27FC236}">
                <a16:creationId xmlns:a16="http://schemas.microsoft.com/office/drawing/2014/main" id="{A8C51200-26FD-402E-A075-733976784DED}"/>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Existing evidence and alternat">
            <a:extLst>
              <a:ext uri="{FF2B5EF4-FFF2-40B4-BE49-F238E27FC236}">
                <a16:creationId xmlns:a16="http://schemas.microsoft.com/office/drawing/2014/main" id="{BE2223F6-B640-4092-92E9-B1A95D4A7653}"/>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Existing evidence and alternatives</a:t>
            </a:r>
          </a:p>
        </p:txBody>
      </p:sp>
      <p:sp>
        <p:nvSpPr>
          <p:cNvPr id="3" name="Rectangle 2">
            <a:extLst>
              <a:ext uri="{FF2B5EF4-FFF2-40B4-BE49-F238E27FC236}">
                <a16:creationId xmlns:a16="http://schemas.microsoft.com/office/drawing/2014/main" id="{74716023-8E2C-4D02-9F51-BC69AEDDFF86}"/>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3DA31D0C-31EB-43B5-B500-94A3E8D3C9DF}"/>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7   /   1:30">
            <a:extLst>
              <a:ext uri="{FF2B5EF4-FFF2-40B4-BE49-F238E27FC236}">
                <a16:creationId xmlns:a16="http://schemas.microsoft.com/office/drawing/2014/main" id="{9DEA293C-E873-44DC-8E40-602F7459928A}"/>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07   /   1:30</a:t>
            </a:r>
          </a:p>
        </p:txBody>
      </p:sp>
      <p:sp>
        <p:nvSpPr>
          <p:cNvPr id="6" name="SIGNAL">
            <a:extLst>
              <a:ext uri="{FF2B5EF4-FFF2-40B4-BE49-F238E27FC236}">
                <a16:creationId xmlns:a16="http://schemas.microsoft.com/office/drawing/2014/main" id="{C916A65C-3DE5-4D71-9177-374834FD8F63}"/>
              </a:ext>
            </a:extLst>
          </p:cNvPr>
          <p:cNvSpPr>
            <a:spLocks noGrp="1"/>
          </p:cNvSpPr>
          <p:nvPr/>
        </p:nvSpPr>
        <p:spPr>
          <a:xfrm>
            <a:off x="647700" y="1885950"/>
            <a:ext cx="2857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SIGNAL</a:t>
            </a:r>
          </a:p>
        </p:txBody>
      </p:sp>
      <p:sp>
        <p:nvSpPr>
          <p:cNvPr id="7" name="SOURCE / DATE">
            <a:extLst>
              <a:ext uri="{FF2B5EF4-FFF2-40B4-BE49-F238E27FC236}">
                <a16:creationId xmlns:a16="http://schemas.microsoft.com/office/drawing/2014/main" id="{897914A3-C148-46B5-973E-F6ADF93519A7}"/>
              </a:ext>
            </a:extLst>
          </p:cNvPr>
          <p:cNvSpPr>
            <a:spLocks noGrp="1"/>
          </p:cNvSpPr>
          <p:nvPr/>
        </p:nvSpPr>
        <p:spPr>
          <a:xfrm>
            <a:off x="3905250" y="1885950"/>
            <a:ext cx="3238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SOURCE / DATE</a:t>
            </a:r>
          </a:p>
        </p:txBody>
      </p:sp>
      <p:sp>
        <p:nvSpPr>
          <p:cNvPr id="8" name="WHAT IT MEANS FOR OUR QUESTION">
            <a:extLst>
              <a:ext uri="{FF2B5EF4-FFF2-40B4-BE49-F238E27FC236}">
                <a16:creationId xmlns:a16="http://schemas.microsoft.com/office/drawing/2014/main" id="{DD702E10-ECD0-4885-B444-EB8469BF7D4F}"/>
              </a:ext>
            </a:extLst>
          </p:cNvPr>
          <p:cNvSpPr>
            <a:spLocks noGrp="1"/>
          </p:cNvSpPr>
          <p:nvPr/>
        </p:nvSpPr>
        <p:spPr>
          <a:xfrm>
            <a:off x="7572375" y="1885950"/>
            <a:ext cx="385762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WHAT IT MEANS FOR OUR QUESTION</a:t>
            </a:r>
          </a:p>
        </p:txBody>
      </p:sp>
      <p:sp>
        <p:nvSpPr>
          <p:cNvPr id="9" name="Rectangle 8">
            <a:extLst>
              <a:ext uri="{FF2B5EF4-FFF2-40B4-BE49-F238E27FC236}">
                <a16:creationId xmlns:a16="http://schemas.microsoft.com/office/drawing/2014/main" id="{5AAF5266-40E2-4552-A6AC-CF3D60855187}"/>
              </a:ext>
            </a:extLst>
          </p:cNvPr>
          <p:cNvSpPr>
            <a:spLocks noGrp="1"/>
          </p:cNvSpPr>
          <p:nvPr/>
        </p:nvSpPr>
        <p:spPr>
          <a:xfrm>
            <a:off x="647700" y="22288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Relevant trend or statistic]">
            <a:extLst>
              <a:ext uri="{FF2B5EF4-FFF2-40B4-BE49-F238E27FC236}">
                <a16:creationId xmlns:a16="http://schemas.microsoft.com/office/drawing/2014/main" id="{7C71A626-8B4A-40D8-A27F-D8E6FF7E249D}"/>
              </a:ext>
            </a:extLst>
          </p:cNvPr>
          <p:cNvSpPr>
            <a:spLocks noGrp="1"/>
          </p:cNvSpPr>
          <p:nvPr/>
        </p:nvSpPr>
        <p:spPr>
          <a:xfrm>
            <a:off x="647700" y="2324100"/>
            <a:ext cx="295275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[Relevant trend or statistic]</a:t>
            </a:r>
          </a:p>
        </p:txBody>
      </p:sp>
      <p:sp>
        <p:nvSpPr>
          <p:cNvPr id="11" name="[Publisher, year, link]">
            <a:extLst>
              <a:ext uri="{FF2B5EF4-FFF2-40B4-BE49-F238E27FC236}">
                <a16:creationId xmlns:a16="http://schemas.microsoft.com/office/drawing/2014/main" id="{1A0675CE-9F45-4D83-9F19-9898568FE070}"/>
              </a:ext>
            </a:extLst>
          </p:cNvPr>
          <p:cNvSpPr>
            <a:spLocks noGrp="1"/>
          </p:cNvSpPr>
          <p:nvPr/>
        </p:nvSpPr>
        <p:spPr>
          <a:xfrm>
            <a:off x="3905250" y="2324100"/>
            <a:ext cx="3190875"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[Publisher, year, link]</a:t>
            </a:r>
          </a:p>
        </p:txBody>
      </p:sp>
      <p:sp>
        <p:nvSpPr>
          <p:cNvPr id="12" name="[Interpretation and limit]">
            <a:extLst>
              <a:ext uri="{FF2B5EF4-FFF2-40B4-BE49-F238E27FC236}">
                <a16:creationId xmlns:a16="http://schemas.microsoft.com/office/drawing/2014/main" id="{A5BE8E5C-463A-40B4-AEDD-519D9EAEAE66}"/>
              </a:ext>
            </a:extLst>
          </p:cNvPr>
          <p:cNvSpPr>
            <a:spLocks noGrp="1"/>
          </p:cNvSpPr>
          <p:nvPr/>
        </p:nvSpPr>
        <p:spPr>
          <a:xfrm>
            <a:off x="7572375" y="2324100"/>
            <a:ext cx="381000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[Interpretation and limit]</a:t>
            </a:r>
          </a:p>
        </p:txBody>
      </p:sp>
      <p:sp>
        <p:nvSpPr>
          <p:cNvPr id="13" name="Rectangle 12">
            <a:extLst>
              <a:ext uri="{FF2B5EF4-FFF2-40B4-BE49-F238E27FC236}">
                <a16:creationId xmlns:a16="http://schemas.microsoft.com/office/drawing/2014/main" id="{CA4FD72E-384E-479E-A6E1-596F5873A86E}"/>
              </a:ext>
            </a:extLst>
          </p:cNvPr>
          <p:cNvSpPr>
            <a:spLocks noGrp="1"/>
          </p:cNvSpPr>
          <p:nvPr/>
        </p:nvSpPr>
        <p:spPr>
          <a:xfrm>
            <a:off x="647700" y="33432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Existing service or competito">
            <a:extLst>
              <a:ext uri="{FF2B5EF4-FFF2-40B4-BE49-F238E27FC236}">
                <a16:creationId xmlns:a16="http://schemas.microsoft.com/office/drawing/2014/main" id="{CD7CA7DD-F102-4078-8820-F608DE8197E4}"/>
              </a:ext>
            </a:extLst>
          </p:cNvPr>
          <p:cNvSpPr>
            <a:spLocks noGrp="1"/>
          </p:cNvSpPr>
          <p:nvPr/>
        </p:nvSpPr>
        <p:spPr>
          <a:xfrm>
            <a:off x="647700" y="3438525"/>
            <a:ext cx="295275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[Existing service or competitor]</a:t>
            </a:r>
          </a:p>
        </p:txBody>
      </p:sp>
      <p:sp>
        <p:nvSpPr>
          <p:cNvPr id="15" name="[Site / observation, date]">
            <a:extLst>
              <a:ext uri="{FF2B5EF4-FFF2-40B4-BE49-F238E27FC236}">
                <a16:creationId xmlns:a16="http://schemas.microsoft.com/office/drawing/2014/main" id="{DC3A35D2-AC5E-4B32-89EA-1ED1B7E8B107}"/>
              </a:ext>
            </a:extLst>
          </p:cNvPr>
          <p:cNvSpPr>
            <a:spLocks noGrp="1"/>
          </p:cNvSpPr>
          <p:nvPr/>
        </p:nvSpPr>
        <p:spPr>
          <a:xfrm>
            <a:off x="3905250" y="3438525"/>
            <a:ext cx="3190875"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[Site / observation, date]</a:t>
            </a:r>
          </a:p>
        </p:txBody>
      </p:sp>
      <p:sp>
        <p:nvSpPr>
          <p:cNvPr id="16" name="[What it solves and leaves ope">
            <a:extLst>
              <a:ext uri="{FF2B5EF4-FFF2-40B4-BE49-F238E27FC236}">
                <a16:creationId xmlns:a16="http://schemas.microsoft.com/office/drawing/2014/main" id="{EC9DDCFE-BA89-43C3-9417-C9652C423B2E}"/>
              </a:ext>
            </a:extLst>
          </p:cNvPr>
          <p:cNvSpPr>
            <a:spLocks noGrp="1"/>
          </p:cNvSpPr>
          <p:nvPr/>
        </p:nvSpPr>
        <p:spPr>
          <a:xfrm>
            <a:off x="7572375" y="3438525"/>
            <a:ext cx="381000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[What it solves and leaves open]</a:t>
            </a:r>
          </a:p>
        </p:txBody>
      </p:sp>
      <p:sp>
        <p:nvSpPr>
          <p:cNvPr id="17" name="Rectangle 16">
            <a:extLst>
              <a:ext uri="{FF2B5EF4-FFF2-40B4-BE49-F238E27FC236}">
                <a16:creationId xmlns:a16="http://schemas.microsoft.com/office/drawing/2014/main" id="{EA3EB34E-B875-4E9E-A85B-98C91795E2CF}"/>
              </a:ext>
            </a:extLst>
          </p:cNvPr>
          <p:cNvSpPr>
            <a:spLocks noGrp="1"/>
          </p:cNvSpPr>
          <p:nvPr/>
        </p:nvSpPr>
        <p:spPr>
          <a:xfrm>
            <a:off x="647700" y="44577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Search interest or category s">
            <a:extLst>
              <a:ext uri="{FF2B5EF4-FFF2-40B4-BE49-F238E27FC236}">
                <a16:creationId xmlns:a16="http://schemas.microsoft.com/office/drawing/2014/main" id="{9AC6C78B-BD21-4DCB-844C-C1E6570D1799}"/>
              </a:ext>
            </a:extLst>
          </p:cNvPr>
          <p:cNvSpPr>
            <a:spLocks noGrp="1"/>
          </p:cNvSpPr>
          <p:nvPr/>
        </p:nvSpPr>
        <p:spPr>
          <a:xfrm>
            <a:off x="647700" y="4552950"/>
            <a:ext cx="295275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[Search interest or category signal]</a:t>
            </a:r>
          </a:p>
        </p:txBody>
      </p:sp>
      <p:sp>
        <p:nvSpPr>
          <p:cNvPr id="19" name="[Google Trends, geography, dat">
            <a:extLst>
              <a:ext uri="{FF2B5EF4-FFF2-40B4-BE49-F238E27FC236}">
                <a16:creationId xmlns:a16="http://schemas.microsoft.com/office/drawing/2014/main" id="{910E4CC2-DDF4-4132-A9F0-BBC6F2F87BAD}"/>
              </a:ext>
            </a:extLst>
          </p:cNvPr>
          <p:cNvSpPr>
            <a:spLocks noGrp="1"/>
          </p:cNvSpPr>
          <p:nvPr/>
        </p:nvSpPr>
        <p:spPr>
          <a:xfrm>
            <a:off x="3905250" y="4552950"/>
            <a:ext cx="3190875"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[Google Trends, geography, dates]</a:t>
            </a:r>
          </a:p>
        </p:txBody>
      </p:sp>
      <p:sp>
        <p:nvSpPr>
          <p:cNvPr id="20" name="[Relative interest, not market">
            <a:extLst>
              <a:ext uri="{FF2B5EF4-FFF2-40B4-BE49-F238E27FC236}">
                <a16:creationId xmlns:a16="http://schemas.microsoft.com/office/drawing/2014/main" id="{DAFBC1D6-C787-45E7-92DF-C1229B530FD2}"/>
              </a:ext>
            </a:extLst>
          </p:cNvPr>
          <p:cNvSpPr>
            <a:spLocks noGrp="1"/>
          </p:cNvSpPr>
          <p:nvPr/>
        </p:nvSpPr>
        <p:spPr>
          <a:xfrm>
            <a:off x="7572375" y="4552950"/>
            <a:ext cx="381000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[Relative interest, not market size]</a:t>
            </a:r>
          </a:p>
        </p:txBody>
      </p:sp>
      <p:sp>
        <p:nvSpPr>
          <p:cNvPr id="21" name="Rectangle 20">
            <a:extLst>
              <a:ext uri="{FF2B5EF4-FFF2-40B4-BE49-F238E27FC236}">
                <a16:creationId xmlns:a16="http://schemas.microsoft.com/office/drawing/2014/main" id="{2E3389DD-AF56-4537-B726-F435754EA2F5}"/>
              </a:ext>
            </a:extLst>
          </p:cNvPr>
          <p:cNvSpPr>
            <a:spLocks noGrp="1"/>
          </p:cNvSpPr>
          <p:nvPr/>
        </p:nvSpPr>
        <p:spPr>
          <a:xfrm>
            <a:off x="647700" y="56673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213547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1" name="RESEARCH REPORT">
            <a:extLst>
              <a:ext uri="{FF2B5EF4-FFF2-40B4-BE49-F238E27FC236}">
                <a16:creationId xmlns:a16="http://schemas.microsoft.com/office/drawing/2014/main" id="{E0552D4E-BE1E-4CA6-B2EC-E1E87B3B2886}"/>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Research findings">
            <a:extLst>
              <a:ext uri="{FF2B5EF4-FFF2-40B4-BE49-F238E27FC236}">
                <a16:creationId xmlns:a16="http://schemas.microsoft.com/office/drawing/2014/main" id="{33480E94-1A9E-4746-AE6B-CC1D96D7D2C1}"/>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Research findings</a:t>
            </a:r>
          </a:p>
        </p:txBody>
      </p:sp>
      <p:sp>
        <p:nvSpPr>
          <p:cNvPr id="3" name="Rectangle 2">
            <a:extLst>
              <a:ext uri="{FF2B5EF4-FFF2-40B4-BE49-F238E27FC236}">
                <a16:creationId xmlns:a16="http://schemas.microsoft.com/office/drawing/2014/main" id="{F9CA0C0B-AF13-44C6-B345-3B6023D66444}"/>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55715D9A-97DA-4CEA-8089-9E9D4760201A}"/>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8   /   2:00">
            <a:extLst>
              <a:ext uri="{FF2B5EF4-FFF2-40B4-BE49-F238E27FC236}">
                <a16:creationId xmlns:a16="http://schemas.microsoft.com/office/drawing/2014/main" id="{C230F1CB-D3EF-4006-89B8-58A2365AA800}"/>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08   /   2:00</a:t>
            </a:r>
          </a:p>
        </p:txBody>
      </p:sp>
      <p:sp>
        <p:nvSpPr>
          <p:cNvPr id="6" name="01">
            <a:extLst>
              <a:ext uri="{FF2B5EF4-FFF2-40B4-BE49-F238E27FC236}">
                <a16:creationId xmlns:a16="http://schemas.microsoft.com/office/drawing/2014/main" id="{E8FDF71A-D376-446F-A1DB-7A1046940512}"/>
              </a:ext>
            </a:extLst>
          </p:cNvPr>
          <p:cNvSpPr>
            <a:spLocks noGrp="1"/>
          </p:cNvSpPr>
          <p:nvPr/>
        </p:nvSpPr>
        <p:spPr>
          <a:xfrm>
            <a:off x="647700" y="1924050"/>
            <a:ext cx="704850"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75" b="1">
                <a:solidFill>
                  <a:srgbClr val="C96D4B"/>
                </a:solidFill>
                <a:latin typeface="Bitstream Charter"/>
                <a:ea typeface="Bitstream Charter"/>
                <a:cs typeface="Bitstream Charter"/>
              </a:defRPr>
            </a:pPr>
            <a:r>
              <a:rPr kumimoji="0" sz="2175" b="1" i="0" u="none" strike="noStrike" kern="1200" cap="none" spc="0" normalizeH="0" baseline="0" noProof="0">
                <a:ln>
                  <a:noFill/>
                </a:ln>
                <a:solidFill>
                  <a:srgbClr val="C96D4B"/>
                </a:solidFill>
                <a:effectLst/>
                <a:uLnTx/>
                <a:uFillTx/>
                <a:latin typeface="Bitstream Charter"/>
                <a:ea typeface="Bitstream Charter"/>
                <a:cs typeface="Bitstream Charter"/>
              </a:rPr>
              <a:t>01</a:t>
            </a:r>
          </a:p>
        </p:txBody>
      </p:sp>
      <p:sp>
        <p:nvSpPr>
          <p:cNvPr id="7" name="[Finding 1: a specific behavio">
            <a:extLst>
              <a:ext uri="{FF2B5EF4-FFF2-40B4-BE49-F238E27FC236}">
                <a16:creationId xmlns:a16="http://schemas.microsoft.com/office/drawing/2014/main" id="{BE61D262-0D2A-47CA-BFA2-7EA6AB6B12D9}"/>
              </a:ext>
            </a:extLst>
          </p:cNvPr>
          <p:cNvSpPr>
            <a:spLocks noGrp="1"/>
          </p:cNvSpPr>
          <p:nvPr/>
        </p:nvSpPr>
        <p:spPr>
          <a:xfrm>
            <a:off x="1476375" y="1924050"/>
            <a:ext cx="6667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1">
                <a:solidFill>
                  <a:srgbClr val="163449"/>
                </a:solidFill>
                <a:latin typeface="Bitstream Charter"/>
                <a:ea typeface="Bitstream Charter"/>
                <a:cs typeface="Bitstream Charter"/>
              </a:defRPr>
            </a:pPr>
            <a:r>
              <a:rPr kumimoji="0" sz="1875" b="1" i="0" u="none" strike="noStrike" kern="1200" cap="none" spc="0" normalizeH="0" baseline="0" noProof="0">
                <a:ln>
                  <a:noFill/>
                </a:ln>
                <a:solidFill>
                  <a:srgbClr val="163449"/>
                </a:solidFill>
                <a:effectLst/>
                <a:uLnTx/>
                <a:uFillTx/>
                <a:latin typeface="Bitstream Charter"/>
                <a:ea typeface="Bitstream Charter"/>
                <a:cs typeface="Bitstream Charter"/>
              </a:rPr>
              <a:t>[Finding 1: a specific behavior or unmet need]</a:t>
            </a:r>
          </a:p>
        </p:txBody>
      </p:sp>
      <p:sp>
        <p:nvSpPr>
          <p:cNvPr id="8" name="EVIDENCE">
            <a:extLst>
              <a:ext uri="{FF2B5EF4-FFF2-40B4-BE49-F238E27FC236}">
                <a16:creationId xmlns:a16="http://schemas.microsoft.com/office/drawing/2014/main" id="{21715C9F-41C3-4F08-ACA4-E25E6FA45040}"/>
              </a:ext>
            </a:extLst>
          </p:cNvPr>
          <p:cNvSpPr>
            <a:spLocks noGrp="1"/>
          </p:cNvSpPr>
          <p:nvPr/>
        </p:nvSpPr>
        <p:spPr>
          <a:xfrm>
            <a:off x="1476375" y="2447925"/>
            <a:ext cx="109537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13756E"/>
                </a:solidFill>
                <a:latin typeface="Bitstream Charter"/>
                <a:ea typeface="Bitstream Charter"/>
                <a:cs typeface="Bitstream Charter"/>
              </a:defRPr>
            </a:pPr>
            <a:r>
              <a:rPr kumimoji="0" sz="975" b="1" i="0" u="none" strike="noStrike" kern="1200" cap="none" spc="0" normalizeH="0" baseline="0" noProof="0">
                <a:ln>
                  <a:noFill/>
                </a:ln>
                <a:solidFill>
                  <a:srgbClr val="13756E"/>
                </a:solidFill>
                <a:effectLst/>
                <a:uLnTx/>
                <a:uFillTx/>
                <a:latin typeface="Bitstream Charter"/>
                <a:ea typeface="Bitstream Charter"/>
                <a:cs typeface="Bitstream Charter"/>
              </a:rPr>
              <a:t>EVIDENCE</a:t>
            </a:r>
          </a:p>
        </p:txBody>
      </p:sp>
      <p:sp>
        <p:nvSpPr>
          <p:cNvPr id="9" name="[Quote / observation / count w">
            <a:extLst>
              <a:ext uri="{FF2B5EF4-FFF2-40B4-BE49-F238E27FC236}">
                <a16:creationId xmlns:a16="http://schemas.microsoft.com/office/drawing/2014/main" id="{41F8B207-C37F-4397-9DB3-232F58B349C6}"/>
              </a:ext>
            </a:extLst>
          </p:cNvPr>
          <p:cNvSpPr>
            <a:spLocks noGrp="1"/>
          </p:cNvSpPr>
          <p:nvPr/>
        </p:nvSpPr>
        <p:spPr>
          <a:xfrm>
            <a:off x="2600325" y="2438400"/>
            <a:ext cx="8572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Bitstream Charter"/>
                <a:ea typeface="Bitstream Charter"/>
                <a:cs typeface="Bitstream Charter"/>
              </a:defRPr>
            </a:pPr>
            <a:r>
              <a:rPr kumimoji="0" sz="1425" b="0" i="0" u="none" strike="noStrike" kern="1200" cap="none" spc="0" normalizeH="0" baseline="0" noProof="0">
                <a:ln>
                  <a:noFill/>
                </a:ln>
                <a:solidFill>
                  <a:srgbClr val="59716E"/>
                </a:solidFill>
                <a:effectLst/>
                <a:uLnTx/>
                <a:uFillTx/>
                <a:latin typeface="Bitstream Charter"/>
                <a:ea typeface="Bitstream Charter"/>
                <a:cs typeface="Bitstream Charter"/>
              </a:rPr>
              <a:t>[Quote / observation / count with participant or source ID]</a:t>
            </a:r>
          </a:p>
        </p:txBody>
      </p:sp>
      <p:sp>
        <p:nvSpPr>
          <p:cNvPr id="10" name="Rectangle 9">
            <a:extLst>
              <a:ext uri="{FF2B5EF4-FFF2-40B4-BE49-F238E27FC236}">
                <a16:creationId xmlns:a16="http://schemas.microsoft.com/office/drawing/2014/main" id="{1F9138B7-282B-429C-849B-AABA4240F3AA}"/>
              </a:ext>
            </a:extLst>
          </p:cNvPr>
          <p:cNvSpPr>
            <a:spLocks noGrp="1"/>
          </p:cNvSpPr>
          <p:nvPr/>
        </p:nvSpPr>
        <p:spPr>
          <a:xfrm>
            <a:off x="647700" y="30575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02">
            <a:extLst>
              <a:ext uri="{FF2B5EF4-FFF2-40B4-BE49-F238E27FC236}">
                <a16:creationId xmlns:a16="http://schemas.microsoft.com/office/drawing/2014/main" id="{67A62D5F-5B21-4B1C-8261-A1E3FD93D3FE}"/>
              </a:ext>
            </a:extLst>
          </p:cNvPr>
          <p:cNvSpPr>
            <a:spLocks noGrp="1"/>
          </p:cNvSpPr>
          <p:nvPr/>
        </p:nvSpPr>
        <p:spPr>
          <a:xfrm>
            <a:off x="647700" y="3181350"/>
            <a:ext cx="704850"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75" b="1">
                <a:solidFill>
                  <a:srgbClr val="C96D4B"/>
                </a:solidFill>
                <a:latin typeface="Bitstream Charter"/>
                <a:ea typeface="Bitstream Charter"/>
                <a:cs typeface="Bitstream Charter"/>
              </a:defRPr>
            </a:pPr>
            <a:r>
              <a:rPr kumimoji="0" sz="2175" b="1" i="0" u="none" strike="noStrike" kern="1200" cap="none" spc="0" normalizeH="0" baseline="0" noProof="0">
                <a:ln>
                  <a:noFill/>
                </a:ln>
                <a:solidFill>
                  <a:srgbClr val="C96D4B"/>
                </a:solidFill>
                <a:effectLst/>
                <a:uLnTx/>
                <a:uFillTx/>
                <a:latin typeface="Bitstream Charter"/>
                <a:ea typeface="Bitstream Charter"/>
                <a:cs typeface="Bitstream Charter"/>
              </a:rPr>
              <a:t>02</a:t>
            </a:r>
          </a:p>
        </p:txBody>
      </p:sp>
      <p:sp>
        <p:nvSpPr>
          <p:cNvPr id="12" name="[Finding 2: a specific behavio">
            <a:extLst>
              <a:ext uri="{FF2B5EF4-FFF2-40B4-BE49-F238E27FC236}">
                <a16:creationId xmlns:a16="http://schemas.microsoft.com/office/drawing/2014/main" id="{7DDC7619-7D25-4A1B-B18A-56FCCA7F190D}"/>
              </a:ext>
            </a:extLst>
          </p:cNvPr>
          <p:cNvSpPr>
            <a:spLocks noGrp="1"/>
          </p:cNvSpPr>
          <p:nvPr/>
        </p:nvSpPr>
        <p:spPr>
          <a:xfrm>
            <a:off x="1476375" y="3181350"/>
            <a:ext cx="6667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1">
                <a:solidFill>
                  <a:srgbClr val="163449"/>
                </a:solidFill>
                <a:latin typeface="Bitstream Charter"/>
                <a:ea typeface="Bitstream Charter"/>
                <a:cs typeface="Bitstream Charter"/>
              </a:defRPr>
            </a:pPr>
            <a:r>
              <a:rPr kumimoji="0" sz="1875" b="1" i="0" u="none" strike="noStrike" kern="1200" cap="none" spc="0" normalizeH="0" baseline="0" noProof="0">
                <a:ln>
                  <a:noFill/>
                </a:ln>
                <a:solidFill>
                  <a:srgbClr val="163449"/>
                </a:solidFill>
                <a:effectLst/>
                <a:uLnTx/>
                <a:uFillTx/>
                <a:latin typeface="Bitstream Charter"/>
                <a:ea typeface="Bitstream Charter"/>
                <a:cs typeface="Bitstream Charter"/>
              </a:rPr>
              <a:t>[Finding 2: a specific behavior or unmet need]</a:t>
            </a:r>
          </a:p>
        </p:txBody>
      </p:sp>
      <p:sp>
        <p:nvSpPr>
          <p:cNvPr id="13" name="EVIDENCE">
            <a:extLst>
              <a:ext uri="{FF2B5EF4-FFF2-40B4-BE49-F238E27FC236}">
                <a16:creationId xmlns:a16="http://schemas.microsoft.com/office/drawing/2014/main" id="{88D2FCA0-7D9F-42C8-ADB2-AD643B527DE8}"/>
              </a:ext>
            </a:extLst>
          </p:cNvPr>
          <p:cNvSpPr>
            <a:spLocks noGrp="1"/>
          </p:cNvSpPr>
          <p:nvPr/>
        </p:nvSpPr>
        <p:spPr>
          <a:xfrm>
            <a:off x="1476375" y="3705225"/>
            <a:ext cx="109537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13756E"/>
                </a:solidFill>
                <a:latin typeface="Bitstream Charter"/>
                <a:ea typeface="Bitstream Charter"/>
                <a:cs typeface="Bitstream Charter"/>
              </a:defRPr>
            </a:pPr>
            <a:r>
              <a:rPr kumimoji="0" sz="975" b="1" i="0" u="none" strike="noStrike" kern="1200" cap="none" spc="0" normalizeH="0" baseline="0" noProof="0">
                <a:ln>
                  <a:noFill/>
                </a:ln>
                <a:solidFill>
                  <a:srgbClr val="13756E"/>
                </a:solidFill>
                <a:effectLst/>
                <a:uLnTx/>
                <a:uFillTx/>
                <a:latin typeface="Bitstream Charter"/>
                <a:ea typeface="Bitstream Charter"/>
                <a:cs typeface="Bitstream Charter"/>
              </a:rPr>
              <a:t>EVIDENCE</a:t>
            </a:r>
          </a:p>
        </p:txBody>
      </p:sp>
      <p:sp>
        <p:nvSpPr>
          <p:cNvPr id="14" name="[Quote / observation / count w">
            <a:extLst>
              <a:ext uri="{FF2B5EF4-FFF2-40B4-BE49-F238E27FC236}">
                <a16:creationId xmlns:a16="http://schemas.microsoft.com/office/drawing/2014/main" id="{733C0764-0007-433D-B9E6-8D7E76CA244B}"/>
              </a:ext>
            </a:extLst>
          </p:cNvPr>
          <p:cNvSpPr>
            <a:spLocks noGrp="1"/>
          </p:cNvSpPr>
          <p:nvPr/>
        </p:nvSpPr>
        <p:spPr>
          <a:xfrm>
            <a:off x="2600325" y="3695700"/>
            <a:ext cx="8572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Bitstream Charter"/>
                <a:ea typeface="Bitstream Charter"/>
                <a:cs typeface="Bitstream Charter"/>
              </a:defRPr>
            </a:pPr>
            <a:r>
              <a:rPr kumimoji="0" sz="1425" b="0" i="0" u="none" strike="noStrike" kern="1200" cap="none" spc="0" normalizeH="0" baseline="0" noProof="0">
                <a:ln>
                  <a:noFill/>
                </a:ln>
                <a:solidFill>
                  <a:srgbClr val="59716E"/>
                </a:solidFill>
                <a:effectLst/>
                <a:uLnTx/>
                <a:uFillTx/>
                <a:latin typeface="Bitstream Charter"/>
                <a:ea typeface="Bitstream Charter"/>
                <a:cs typeface="Bitstream Charter"/>
              </a:rPr>
              <a:t>[Quote / observation / count with participant or source ID]</a:t>
            </a:r>
          </a:p>
        </p:txBody>
      </p:sp>
      <p:sp>
        <p:nvSpPr>
          <p:cNvPr id="15" name="Rectangle 14">
            <a:extLst>
              <a:ext uri="{FF2B5EF4-FFF2-40B4-BE49-F238E27FC236}">
                <a16:creationId xmlns:a16="http://schemas.microsoft.com/office/drawing/2014/main" id="{F0861E9A-6B21-4B81-A1DA-0E08540906EB}"/>
              </a:ext>
            </a:extLst>
          </p:cNvPr>
          <p:cNvSpPr>
            <a:spLocks noGrp="1"/>
          </p:cNvSpPr>
          <p:nvPr/>
        </p:nvSpPr>
        <p:spPr>
          <a:xfrm>
            <a:off x="647700" y="43148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6" name="03">
            <a:extLst>
              <a:ext uri="{FF2B5EF4-FFF2-40B4-BE49-F238E27FC236}">
                <a16:creationId xmlns:a16="http://schemas.microsoft.com/office/drawing/2014/main" id="{5233201F-05C0-4D61-AF87-51BC9BC27D1B}"/>
              </a:ext>
            </a:extLst>
          </p:cNvPr>
          <p:cNvSpPr>
            <a:spLocks noGrp="1"/>
          </p:cNvSpPr>
          <p:nvPr/>
        </p:nvSpPr>
        <p:spPr>
          <a:xfrm>
            <a:off x="647700" y="4438650"/>
            <a:ext cx="704850"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75" b="1">
                <a:solidFill>
                  <a:srgbClr val="C96D4B"/>
                </a:solidFill>
                <a:latin typeface="Bitstream Charter"/>
                <a:ea typeface="Bitstream Charter"/>
                <a:cs typeface="Bitstream Charter"/>
              </a:defRPr>
            </a:pPr>
            <a:r>
              <a:rPr kumimoji="0" sz="2175" b="1" i="0" u="none" strike="noStrike" kern="1200" cap="none" spc="0" normalizeH="0" baseline="0" noProof="0">
                <a:ln>
                  <a:noFill/>
                </a:ln>
                <a:solidFill>
                  <a:srgbClr val="C96D4B"/>
                </a:solidFill>
                <a:effectLst/>
                <a:uLnTx/>
                <a:uFillTx/>
                <a:latin typeface="Bitstream Charter"/>
                <a:ea typeface="Bitstream Charter"/>
                <a:cs typeface="Bitstream Charter"/>
              </a:rPr>
              <a:t>03</a:t>
            </a:r>
          </a:p>
        </p:txBody>
      </p:sp>
      <p:sp>
        <p:nvSpPr>
          <p:cNvPr id="17" name="[Finding 3: a specific behavio">
            <a:extLst>
              <a:ext uri="{FF2B5EF4-FFF2-40B4-BE49-F238E27FC236}">
                <a16:creationId xmlns:a16="http://schemas.microsoft.com/office/drawing/2014/main" id="{FEEF0928-8718-46D0-B962-F3CD8B78236F}"/>
              </a:ext>
            </a:extLst>
          </p:cNvPr>
          <p:cNvSpPr>
            <a:spLocks noGrp="1"/>
          </p:cNvSpPr>
          <p:nvPr/>
        </p:nvSpPr>
        <p:spPr>
          <a:xfrm>
            <a:off x="1476375" y="4438650"/>
            <a:ext cx="6667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875" b="1">
                <a:solidFill>
                  <a:srgbClr val="163449"/>
                </a:solidFill>
                <a:latin typeface="Bitstream Charter"/>
                <a:ea typeface="Bitstream Charter"/>
                <a:cs typeface="Bitstream Charter"/>
              </a:defRPr>
            </a:pPr>
            <a:r>
              <a:rPr kumimoji="0" sz="1875" b="1" i="0" u="none" strike="noStrike" kern="1200" cap="none" spc="0" normalizeH="0" baseline="0" noProof="0">
                <a:ln>
                  <a:noFill/>
                </a:ln>
                <a:solidFill>
                  <a:srgbClr val="163449"/>
                </a:solidFill>
                <a:effectLst/>
                <a:uLnTx/>
                <a:uFillTx/>
                <a:latin typeface="Bitstream Charter"/>
                <a:ea typeface="Bitstream Charter"/>
                <a:cs typeface="Bitstream Charter"/>
              </a:rPr>
              <a:t>[Finding 3: a specific behavior or unmet need]</a:t>
            </a:r>
          </a:p>
        </p:txBody>
      </p:sp>
      <p:sp>
        <p:nvSpPr>
          <p:cNvPr id="18" name="EVIDENCE">
            <a:extLst>
              <a:ext uri="{FF2B5EF4-FFF2-40B4-BE49-F238E27FC236}">
                <a16:creationId xmlns:a16="http://schemas.microsoft.com/office/drawing/2014/main" id="{199787C7-1B4B-48E8-8A0F-C213D46A5D2F}"/>
              </a:ext>
            </a:extLst>
          </p:cNvPr>
          <p:cNvSpPr>
            <a:spLocks noGrp="1"/>
          </p:cNvSpPr>
          <p:nvPr/>
        </p:nvSpPr>
        <p:spPr>
          <a:xfrm>
            <a:off x="1476375" y="4962525"/>
            <a:ext cx="1095375"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75" b="1">
                <a:solidFill>
                  <a:srgbClr val="13756E"/>
                </a:solidFill>
                <a:latin typeface="Bitstream Charter"/>
                <a:ea typeface="Bitstream Charter"/>
                <a:cs typeface="Bitstream Charter"/>
              </a:defRPr>
            </a:pPr>
            <a:r>
              <a:rPr kumimoji="0" sz="975" b="1" i="0" u="none" strike="noStrike" kern="1200" cap="none" spc="0" normalizeH="0" baseline="0" noProof="0">
                <a:ln>
                  <a:noFill/>
                </a:ln>
                <a:solidFill>
                  <a:srgbClr val="13756E"/>
                </a:solidFill>
                <a:effectLst/>
                <a:uLnTx/>
                <a:uFillTx/>
                <a:latin typeface="Bitstream Charter"/>
                <a:ea typeface="Bitstream Charter"/>
                <a:cs typeface="Bitstream Charter"/>
              </a:rPr>
              <a:t>EVIDENCE</a:t>
            </a:r>
          </a:p>
        </p:txBody>
      </p:sp>
      <p:sp>
        <p:nvSpPr>
          <p:cNvPr id="19" name="[Quote / observation / count w">
            <a:extLst>
              <a:ext uri="{FF2B5EF4-FFF2-40B4-BE49-F238E27FC236}">
                <a16:creationId xmlns:a16="http://schemas.microsoft.com/office/drawing/2014/main" id="{B9895E8B-D92D-4CFD-9F7D-132D1654AF60}"/>
              </a:ext>
            </a:extLst>
          </p:cNvPr>
          <p:cNvSpPr>
            <a:spLocks noGrp="1"/>
          </p:cNvSpPr>
          <p:nvPr/>
        </p:nvSpPr>
        <p:spPr>
          <a:xfrm>
            <a:off x="2600325" y="4953000"/>
            <a:ext cx="857250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Bitstream Charter"/>
                <a:ea typeface="Bitstream Charter"/>
                <a:cs typeface="Bitstream Charter"/>
              </a:defRPr>
            </a:pPr>
            <a:r>
              <a:rPr kumimoji="0" sz="1425" b="0" i="0" u="none" strike="noStrike" kern="1200" cap="none" spc="0" normalizeH="0" baseline="0" noProof="0">
                <a:ln>
                  <a:noFill/>
                </a:ln>
                <a:solidFill>
                  <a:srgbClr val="59716E"/>
                </a:solidFill>
                <a:effectLst/>
                <a:uLnTx/>
                <a:uFillTx/>
                <a:latin typeface="Bitstream Charter"/>
                <a:ea typeface="Bitstream Charter"/>
                <a:cs typeface="Bitstream Charter"/>
              </a:rPr>
              <a:t>[Quote / observation / count with participant or source ID]</a:t>
            </a:r>
          </a:p>
        </p:txBody>
      </p:sp>
      <p:sp>
        <p:nvSpPr>
          <p:cNvPr id="20" name="Rectangle 19">
            <a:extLst>
              <a:ext uri="{FF2B5EF4-FFF2-40B4-BE49-F238E27FC236}">
                <a16:creationId xmlns:a16="http://schemas.microsoft.com/office/drawing/2014/main" id="{B012E23F-F732-4A82-AD94-9D3877B55FEE}"/>
              </a:ext>
            </a:extLst>
          </p:cNvPr>
          <p:cNvSpPr>
            <a:spLocks noGrp="1"/>
          </p:cNvSpPr>
          <p:nvPr/>
        </p:nvSpPr>
        <p:spPr>
          <a:xfrm>
            <a:off x="647700" y="55721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111528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7" name="RESEARCH REPORT">
            <a:extLst>
              <a:ext uri="{FF2B5EF4-FFF2-40B4-BE49-F238E27FC236}">
                <a16:creationId xmlns:a16="http://schemas.microsoft.com/office/drawing/2014/main" id="{9BC45F22-1779-4E20-BE6D-134468522B76}"/>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Evidence-based persona">
            <a:extLst>
              <a:ext uri="{FF2B5EF4-FFF2-40B4-BE49-F238E27FC236}">
                <a16:creationId xmlns:a16="http://schemas.microsoft.com/office/drawing/2014/main" id="{EC0AB2F3-F1DC-479C-AF05-43AD9B0D18B2}"/>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Evidence-based persona</a:t>
            </a:r>
          </a:p>
        </p:txBody>
      </p:sp>
      <p:sp>
        <p:nvSpPr>
          <p:cNvPr id="3" name="Rectangle 2">
            <a:extLst>
              <a:ext uri="{FF2B5EF4-FFF2-40B4-BE49-F238E27FC236}">
                <a16:creationId xmlns:a16="http://schemas.microsoft.com/office/drawing/2014/main" id="{B29AAC72-E75D-4D01-88A2-E429379F9EB0}"/>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484DB106-5813-4E5B-9AB6-1E2DE6CE9AB8}"/>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09   /   1:30">
            <a:extLst>
              <a:ext uri="{FF2B5EF4-FFF2-40B4-BE49-F238E27FC236}">
                <a16:creationId xmlns:a16="http://schemas.microsoft.com/office/drawing/2014/main" id="{32A162E4-B584-4A00-A2F3-FDB16311654F}"/>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09   /   1:30</a:t>
            </a:r>
          </a:p>
        </p:txBody>
      </p:sp>
      <p:sp>
        <p:nvSpPr>
          <p:cNvPr id="6" name="[Persona name / segment label]">
            <a:extLst>
              <a:ext uri="{FF2B5EF4-FFF2-40B4-BE49-F238E27FC236}">
                <a16:creationId xmlns:a16="http://schemas.microsoft.com/office/drawing/2014/main" id="{035B0335-2F90-4198-89F2-A7980B15023D}"/>
              </a:ext>
            </a:extLst>
          </p:cNvPr>
          <p:cNvSpPr>
            <a:spLocks noGrp="1"/>
          </p:cNvSpPr>
          <p:nvPr/>
        </p:nvSpPr>
        <p:spPr>
          <a:xfrm>
            <a:off x="647700" y="1990725"/>
            <a:ext cx="6667500" cy="4572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325" b="1">
                <a:solidFill>
                  <a:srgbClr val="123047"/>
                </a:solidFill>
                <a:latin typeface="Bitstream Charter"/>
                <a:ea typeface="Bitstream Charter"/>
                <a:cs typeface="Bitstream Charter"/>
              </a:defRPr>
            </a:pPr>
            <a:r>
              <a:rPr kumimoji="0" sz="2325" b="1" i="0" u="none" strike="noStrike" kern="1200" cap="none" spc="0" normalizeH="0" baseline="0" noProof="0">
                <a:ln>
                  <a:noFill/>
                </a:ln>
                <a:solidFill>
                  <a:srgbClr val="123047"/>
                </a:solidFill>
                <a:effectLst/>
                <a:uLnTx/>
                <a:uFillTx/>
                <a:latin typeface="Bitstream Charter"/>
                <a:ea typeface="Bitstream Charter"/>
                <a:cs typeface="Bitstream Charter"/>
              </a:rPr>
              <a:t>[Persona name / segment label]</a:t>
            </a:r>
          </a:p>
        </p:txBody>
      </p:sp>
      <p:sp>
        <p:nvSpPr>
          <p:cNvPr id="7" name="Based on [participants / obser">
            <a:extLst>
              <a:ext uri="{FF2B5EF4-FFF2-40B4-BE49-F238E27FC236}">
                <a16:creationId xmlns:a16="http://schemas.microsoft.com/office/drawing/2014/main" id="{1596093A-39C7-4AF3-BF79-8BC9C329687F}"/>
              </a:ext>
            </a:extLst>
          </p:cNvPr>
          <p:cNvSpPr>
            <a:spLocks noGrp="1"/>
          </p:cNvSpPr>
          <p:nvPr/>
        </p:nvSpPr>
        <p:spPr>
          <a:xfrm>
            <a:off x="647700" y="2457450"/>
            <a:ext cx="9239250" cy="361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59716E"/>
                </a:solidFill>
                <a:latin typeface="Bitstream Charter"/>
                <a:ea typeface="Bitstream Charter"/>
                <a:cs typeface="Bitstream Charter"/>
              </a:defRPr>
            </a:pPr>
            <a:r>
              <a:rPr kumimoji="0" sz="1425" b="0" i="0" u="none" strike="noStrike" kern="1200" cap="none" spc="0" normalizeH="0" baseline="0" noProof="0">
                <a:ln>
                  <a:noFill/>
                </a:ln>
                <a:solidFill>
                  <a:srgbClr val="59716E"/>
                </a:solidFill>
                <a:effectLst/>
                <a:uLnTx/>
                <a:uFillTx/>
                <a:latin typeface="Bitstream Charter"/>
                <a:ea typeface="Bitstream Charter"/>
                <a:cs typeface="Bitstream Charter"/>
              </a:rPr>
              <a:t>Based on [participants / observation IDs], not an imagined average</a:t>
            </a:r>
          </a:p>
        </p:txBody>
      </p:sp>
      <p:sp>
        <p:nvSpPr>
          <p:cNvPr id="8" name="Rectangle 7">
            <a:extLst>
              <a:ext uri="{FF2B5EF4-FFF2-40B4-BE49-F238E27FC236}">
                <a16:creationId xmlns:a16="http://schemas.microsoft.com/office/drawing/2014/main" id="{A78F6A1C-EA74-448D-8807-3386F1358B1C}"/>
              </a:ext>
            </a:extLst>
          </p:cNvPr>
          <p:cNvSpPr>
            <a:spLocks noGrp="1"/>
          </p:cNvSpPr>
          <p:nvPr/>
        </p:nvSpPr>
        <p:spPr>
          <a:xfrm>
            <a:off x="647700" y="30289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GOAL">
            <a:extLst>
              <a:ext uri="{FF2B5EF4-FFF2-40B4-BE49-F238E27FC236}">
                <a16:creationId xmlns:a16="http://schemas.microsoft.com/office/drawing/2014/main" id="{CCB3083E-CF98-4231-8733-8B0308AFBB0A}"/>
              </a:ext>
            </a:extLst>
          </p:cNvPr>
          <p:cNvSpPr>
            <a:spLocks noGrp="1"/>
          </p:cNvSpPr>
          <p:nvPr/>
        </p:nvSpPr>
        <p:spPr>
          <a:xfrm>
            <a:off x="647700" y="3343275"/>
            <a:ext cx="4619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GOAL</a:t>
            </a:r>
          </a:p>
        </p:txBody>
      </p:sp>
      <p:sp>
        <p:nvSpPr>
          <p:cNvPr id="10" name="[What they need to accomplish]">
            <a:extLst>
              <a:ext uri="{FF2B5EF4-FFF2-40B4-BE49-F238E27FC236}">
                <a16:creationId xmlns:a16="http://schemas.microsoft.com/office/drawing/2014/main" id="{42EF950F-22FD-47E4-9598-2F908E3F965B}"/>
              </a:ext>
            </a:extLst>
          </p:cNvPr>
          <p:cNvSpPr>
            <a:spLocks noGrp="1"/>
          </p:cNvSpPr>
          <p:nvPr/>
        </p:nvSpPr>
        <p:spPr>
          <a:xfrm>
            <a:off x="647700" y="3667125"/>
            <a:ext cx="4619625" cy="7810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[What they need to accomplish]</a:t>
            </a:r>
          </a:p>
        </p:txBody>
      </p:sp>
      <p:sp>
        <p:nvSpPr>
          <p:cNvPr id="11" name="CONTEXT AND BEHAVIOR">
            <a:extLst>
              <a:ext uri="{FF2B5EF4-FFF2-40B4-BE49-F238E27FC236}">
                <a16:creationId xmlns:a16="http://schemas.microsoft.com/office/drawing/2014/main" id="{CCAC55F0-B874-4316-AF62-E8156C60774B}"/>
              </a:ext>
            </a:extLst>
          </p:cNvPr>
          <p:cNvSpPr>
            <a:spLocks noGrp="1"/>
          </p:cNvSpPr>
          <p:nvPr/>
        </p:nvSpPr>
        <p:spPr>
          <a:xfrm>
            <a:off x="6334125" y="3343275"/>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CONTEXT AND BEHAVIOR</a:t>
            </a:r>
          </a:p>
        </p:txBody>
      </p:sp>
      <p:sp>
        <p:nvSpPr>
          <p:cNvPr id="12" name="[Where, how and with what cons">
            <a:extLst>
              <a:ext uri="{FF2B5EF4-FFF2-40B4-BE49-F238E27FC236}">
                <a16:creationId xmlns:a16="http://schemas.microsoft.com/office/drawing/2014/main" id="{A58364D3-D811-44C7-9D2A-8AD22204A8C7}"/>
              </a:ext>
            </a:extLst>
          </p:cNvPr>
          <p:cNvSpPr>
            <a:spLocks noGrp="1"/>
          </p:cNvSpPr>
          <p:nvPr/>
        </p:nvSpPr>
        <p:spPr>
          <a:xfrm>
            <a:off x="6334125" y="3667125"/>
            <a:ext cx="4953000" cy="7810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[Where, how and with what constraints]</a:t>
            </a:r>
          </a:p>
        </p:txBody>
      </p:sp>
      <p:sp>
        <p:nvSpPr>
          <p:cNvPr id="13" name="PAIN AND CURRENT WORKAROUND">
            <a:extLst>
              <a:ext uri="{FF2B5EF4-FFF2-40B4-BE49-F238E27FC236}">
                <a16:creationId xmlns:a16="http://schemas.microsoft.com/office/drawing/2014/main" id="{B246C298-CC04-4A91-83C6-190CA11FE378}"/>
              </a:ext>
            </a:extLst>
          </p:cNvPr>
          <p:cNvSpPr>
            <a:spLocks noGrp="1"/>
          </p:cNvSpPr>
          <p:nvPr/>
        </p:nvSpPr>
        <p:spPr>
          <a:xfrm>
            <a:off x="647700" y="4829175"/>
            <a:ext cx="4619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PAIN AND CURRENT WORKAROUND</a:t>
            </a:r>
          </a:p>
        </p:txBody>
      </p:sp>
      <p:sp>
        <p:nvSpPr>
          <p:cNvPr id="14" name="[Evidence-linked frustration a">
            <a:extLst>
              <a:ext uri="{FF2B5EF4-FFF2-40B4-BE49-F238E27FC236}">
                <a16:creationId xmlns:a16="http://schemas.microsoft.com/office/drawing/2014/main" id="{72F724E9-65D9-45AD-B1AA-0B87594E0409}"/>
              </a:ext>
            </a:extLst>
          </p:cNvPr>
          <p:cNvSpPr>
            <a:spLocks noGrp="1"/>
          </p:cNvSpPr>
          <p:nvPr/>
        </p:nvSpPr>
        <p:spPr>
          <a:xfrm>
            <a:off x="647700" y="5153025"/>
            <a:ext cx="4619625" cy="8096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[Evidence-linked frustration and response]</a:t>
            </a:r>
          </a:p>
        </p:txBody>
      </p:sp>
      <p:sp>
        <p:nvSpPr>
          <p:cNvPr id="15" name="DESIGN IMPLICATION">
            <a:extLst>
              <a:ext uri="{FF2B5EF4-FFF2-40B4-BE49-F238E27FC236}">
                <a16:creationId xmlns:a16="http://schemas.microsoft.com/office/drawing/2014/main" id="{2E3C6031-3811-4ADF-B0DA-E0AEE27C1BB1}"/>
              </a:ext>
            </a:extLst>
          </p:cNvPr>
          <p:cNvSpPr>
            <a:spLocks noGrp="1"/>
          </p:cNvSpPr>
          <p:nvPr/>
        </p:nvSpPr>
        <p:spPr>
          <a:xfrm>
            <a:off x="6334125" y="4829175"/>
            <a:ext cx="4953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DESIGN IMPLICATION</a:t>
            </a:r>
          </a:p>
        </p:txBody>
      </p:sp>
      <p:sp>
        <p:nvSpPr>
          <p:cNvPr id="16" name="[Opportunity implied by the re">
            <a:extLst>
              <a:ext uri="{FF2B5EF4-FFF2-40B4-BE49-F238E27FC236}">
                <a16:creationId xmlns:a16="http://schemas.microsoft.com/office/drawing/2014/main" id="{26CACACE-5E9B-49A1-94E6-F3982C8EA5DC}"/>
              </a:ext>
            </a:extLst>
          </p:cNvPr>
          <p:cNvSpPr>
            <a:spLocks noGrp="1"/>
          </p:cNvSpPr>
          <p:nvPr/>
        </p:nvSpPr>
        <p:spPr>
          <a:xfrm>
            <a:off x="6334125" y="5153025"/>
            <a:ext cx="4953000" cy="8096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[Opportunity implied by the research]</a:t>
            </a:r>
          </a:p>
        </p:txBody>
      </p:sp>
    </p:spTree>
    <p:extLst>
      <p:ext uri="{BB962C8B-B14F-4D97-AF65-F5344CB8AC3E}">
        <p14:creationId xmlns:p14="http://schemas.microsoft.com/office/powerpoint/2010/main" val="1188574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6" name="RESEARCH REPORT">
            <a:extLst>
              <a:ext uri="{FF2B5EF4-FFF2-40B4-BE49-F238E27FC236}">
                <a16:creationId xmlns:a16="http://schemas.microsoft.com/office/drawing/2014/main" id="{18BF59F5-4F58-4783-AFB5-6266D2B330AB}"/>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Scenario and customer journey">
            <a:extLst>
              <a:ext uri="{FF2B5EF4-FFF2-40B4-BE49-F238E27FC236}">
                <a16:creationId xmlns:a16="http://schemas.microsoft.com/office/drawing/2014/main" id="{DB572956-D861-4AF5-AB98-459863BD17E4}"/>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Scenario and customer journey</a:t>
            </a:r>
          </a:p>
        </p:txBody>
      </p:sp>
      <p:sp>
        <p:nvSpPr>
          <p:cNvPr id="3" name="Rectangle 2">
            <a:extLst>
              <a:ext uri="{FF2B5EF4-FFF2-40B4-BE49-F238E27FC236}">
                <a16:creationId xmlns:a16="http://schemas.microsoft.com/office/drawing/2014/main" id="{43241C5C-0FF9-420B-A768-3B7DA85C1F7E}"/>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8B641B89-D389-40BE-8D7B-F654D9A54AE8}"/>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10   /   2:00">
            <a:extLst>
              <a:ext uri="{FF2B5EF4-FFF2-40B4-BE49-F238E27FC236}">
                <a16:creationId xmlns:a16="http://schemas.microsoft.com/office/drawing/2014/main" id="{90022D84-3BF4-472D-871E-9E386FDE5412}"/>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10   /   2:00</a:t>
            </a:r>
          </a:p>
        </p:txBody>
      </p:sp>
      <p:sp>
        <p:nvSpPr>
          <p:cNvPr id="6" name="SCENARIO  [Persona] tries to [">
            <a:extLst>
              <a:ext uri="{FF2B5EF4-FFF2-40B4-BE49-F238E27FC236}">
                <a16:creationId xmlns:a16="http://schemas.microsoft.com/office/drawing/2014/main" id="{B590C72C-A614-4E48-98A4-D73B097DFBBF}"/>
              </a:ext>
            </a:extLst>
          </p:cNvPr>
          <p:cNvSpPr>
            <a:spLocks noGrp="1"/>
          </p:cNvSpPr>
          <p:nvPr/>
        </p:nvSpPr>
        <p:spPr>
          <a:xfrm>
            <a:off x="647700" y="1857375"/>
            <a:ext cx="10668000" cy="5238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1">
                <a:solidFill>
                  <a:srgbClr val="123047"/>
                </a:solidFill>
                <a:latin typeface="Bitstream Charter"/>
                <a:ea typeface="Bitstream Charter"/>
                <a:cs typeface="Bitstream Charter"/>
              </a:defRPr>
            </a:pPr>
            <a:r>
              <a:rPr kumimoji="0" sz="1725" b="1" i="0" u="none" strike="noStrike" kern="1200" cap="none" spc="0" normalizeH="0" baseline="0" noProof="0">
                <a:ln>
                  <a:noFill/>
                </a:ln>
                <a:solidFill>
                  <a:srgbClr val="123047"/>
                </a:solidFill>
                <a:effectLst/>
                <a:uLnTx/>
                <a:uFillTx/>
                <a:latin typeface="Bitstream Charter"/>
                <a:ea typeface="Bitstream Charter"/>
                <a:cs typeface="Bitstream Charter"/>
              </a:rPr>
              <a:t>SCENARIO  [Persona] tries to [goal] when [trigger / setting]</a:t>
            </a:r>
          </a:p>
        </p:txBody>
      </p:sp>
      <p:sp>
        <p:nvSpPr>
          <p:cNvPr id="7" name="TRIGGER">
            <a:extLst>
              <a:ext uri="{FF2B5EF4-FFF2-40B4-BE49-F238E27FC236}">
                <a16:creationId xmlns:a16="http://schemas.microsoft.com/office/drawing/2014/main" id="{B288C5D3-020E-4E82-A0A4-33E7B9270017}"/>
              </a:ext>
            </a:extLst>
          </p:cNvPr>
          <p:cNvSpPr>
            <a:spLocks noGrp="1"/>
          </p:cNvSpPr>
          <p:nvPr/>
        </p:nvSpPr>
        <p:spPr>
          <a:xfrm>
            <a:off x="647700"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TRIGGER</a:t>
            </a:r>
          </a:p>
        </p:txBody>
      </p:sp>
      <p:sp>
        <p:nvSpPr>
          <p:cNvPr id="8" name="Rectangle 7">
            <a:extLst>
              <a:ext uri="{FF2B5EF4-FFF2-40B4-BE49-F238E27FC236}">
                <a16:creationId xmlns:a16="http://schemas.microsoft.com/office/drawing/2014/main" id="{A7A6BD91-A172-42D8-8FCA-DFDB694543E7}"/>
              </a:ext>
            </a:extLst>
          </p:cNvPr>
          <p:cNvSpPr>
            <a:spLocks noGrp="1"/>
          </p:cNvSpPr>
          <p:nvPr/>
        </p:nvSpPr>
        <p:spPr>
          <a:xfrm>
            <a:off x="647700"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Action&#10;[What the user does]">
            <a:extLst>
              <a:ext uri="{FF2B5EF4-FFF2-40B4-BE49-F238E27FC236}">
                <a16:creationId xmlns:a16="http://schemas.microsoft.com/office/drawing/2014/main" id="{6736FB05-C7F0-4C39-9044-E9BC65B60028}"/>
              </a:ext>
            </a:extLst>
          </p:cNvPr>
          <p:cNvSpPr>
            <a:spLocks noGrp="1"/>
          </p:cNvSpPr>
          <p:nvPr/>
        </p:nvSpPr>
        <p:spPr>
          <a:xfrm>
            <a:off x="647700" y="3114675"/>
            <a:ext cx="2428875"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[What the user does]</a:t>
            </a:r>
          </a:p>
        </p:txBody>
      </p:sp>
      <p:sp>
        <p:nvSpPr>
          <p:cNvPr id="10" name="Pain / feeling&#10;[Moment and sou">
            <a:extLst>
              <a:ext uri="{FF2B5EF4-FFF2-40B4-BE49-F238E27FC236}">
                <a16:creationId xmlns:a16="http://schemas.microsoft.com/office/drawing/2014/main" id="{EB8D0497-6546-43FB-B6D2-86D1B087CDD1}"/>
              </a:ext>
            </a:extLst>
          </p:cNvPr>
          <p:cNvSpPr>
            <a:spLocks noGrp="1"/>
          </p:cNvSpPr>
          <p:nvPr/>
        </p:nvSpPr>
        <p:spPr>
          <a:xfrm>
            <a:off x="647700"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Pain / feeling</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[Moment and source ID]</a:t>
            </a:r>
          </a:p>
        </p:txBody>
      </p:sp>
      <p:sp>
        <p:nvSpPr>
          <p:cNvPr id="11" name="SEARCH">
            <a:extLst>
              <a:ext uri="{FF2B5EF4-FFF2-40B4-BE49-F238E27FC236}">
                <a16:creationId xmlns:a16="http://schemas.microsoft.com/office/drawing/2014/main" id="{69BEDB25-3BC7-48E7-B62F-C0F273005B15}"/>
              </a:ext>
            </a:extLst>
          </p:cNvPr>
          <p:cNvSpPr>
            <a:spLocks noGrp="1"/>
          </p:cNvSpPr>
          <p:nvPr/>
        </p:nvSpPr>
        <p:spPr>
          <a:xfrm>
            <a:off x="3381375"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SEARCH</a:t>
            </a:r>
          </a:p>
        </p:txBody>
      </p:sp>
      <p:sp>
        <p:nvSpPr>
          <p:cNvPr id="12" name="Rectangle 11">
            <a:extLst>
              <a:ext uri="{FF2B5EF4-FFF2-40B4-BE49-F238E27FC236}">
                <a16:creationId xmlns:a16="http://schemas.microsoft.com/office/drawing/2014/main" id="{32247520-315E-488E-AC84-79D15153C37E}"/>
              </a:ext>
            </a:extLst>
          </p:cNvPr>
          <p:cNvSpPr>
            <a:spLocks noGrp="1"/>
          </p:cNvSpPr>
          <p:nvPr/>
        </p:nvSpPr>
        <p:spPr>
          <a:xfrm>
            <a:off x="3381375"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3" name="Action&#10;[What the user does]">
            <a:extLst>
              <a:ext uri="{FF2B5EF4-FFF2-40B4-BE49-F238E27FC236}">
                <a16:creationId xmlns:a16="http://schemas.microsoft.com/office/drawing/2014/main" id="{A15C77AF-72D8-492F-B6CF-487436A81F77}"/>
              </a:ext>
            </a:extLst>
          </p:cNvPr>
          <p:cNvSpPr>
            <a:spLocks noGrp="1"/>
          </p:cNvSpPr>
          <p:nvPr/>
        </p:nvSpPr>
        <p:spPr>
          <a:xfrm>
            <a:off x="3381375" y="3114675"/>
            <a:ext cx="2428875"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[What the user does]</a:t>
            </a:r>
          </a:p>
        </p:txBody>
      </p:sp>
      <p:sp>
        <p:nvSpPr>
          <p:cNvPr id="14" name="Pain / feeling&#10;[Moment and sou">
            <a:extLst>
              <a:ext uri="{FF2B5EF4-FFF2-40B4-BE49-F238E27FC236}">
                <a16:creationId xmlns:a16="http://schemas.microsoft.com/office/drawing/2014/main" id="{37117713-7E69-4F80-8A1D-8F9D4DA8FE90}"/>
              </a:ext>
            </a:extLst>
          </p:cNvPr>
          <p:cNvSpPr>
            <a:spLocks noGrp="1"/>
          </p:cNvSpPr>
          <p:nvPr/>
        </p:nvSpPr>
        <p:spPr>
          <a:xfrm>
            <a:off x="3381375"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Pain / feeling</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[Moment and source ID]</a:t>
            </a:r>
          </a:p>
        </p:txBody>
      </p:sp>
      <p:sp>
        <p:nvSpPr>
          <p:cNvPr id="15" name="ATTEMPT">
            <a:extLst>
              <a:ext uri="{FF2B5EF4-FFF2-40B4-BE49-F238E27FC236}">
                <a16:creationId xmlns:a16="http://schemas.microsoft.com/office/drawing/2014/main" id="{23EEF503-FE2C-44CC-8B13-3D4B9FDC6597}"/>
              </a:ext>
            </a:extLst>
          </p:cNvPr>
          <p:cNvSpPr>
            <a:spLocks noGrp="1"/>
          </p:cNvSpPr>
          <p:nvPr/>
        </p:nvSpPr>
        <p:spPr>
          <a:xfrm>
            <a:off x="6115050"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ATTEMPT</a:t>
            </a:r>
          </a:p>
        </p:txBody>
      </p:sp>
      <p:sp>
        <p:nvSpPr>
          <p:cNvPr id="16" name="Rectangle 15">
            <a:extLst>
              <a:ext uri="{FF2B5EF4-FFF2-40B4-BE49-F238E27FC236}">
                <a16:creationId xmlns:a16="http://schemas.microsoft.com/office/drawing/2014/main" id="{D369C5B5-6A4E-43ED-B363-52D1DC9A6ED9}"/>
              </a:ext>
            </a:extLst>
          </p:cNvPr>
          <p:cNvSpPr>
            <a:spLocks noGrp="1"/>
          </p:cNvSpPr>
          <p:nvPr/>
        </p:nvSpPr>
        <p:spPr>
          <a:xfrm>
            <a:off x="6115050"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7" name="Action&#10;[What the user does]">
            <a:extLst>
              <a:ext uri="{FF2B5EF4-FFF2-40B4-BE49-F238E27FC236}">
                <a16:creationId xmlns:a16="http://schemas.microsoft.com/office/drawing/2014/main" id="{6E5D8096-6F13-4B39-87E3-F9E17396286B}"/>
              </a:ext>
            </a:extLst>
          </p:cNvPr>
          <p:cNvSpPr>
            <a:spLocks noGrp="1"/>
          </p:cNvSpPr>
          <p:nvPr/>
        </p:nvSpPr>
        <p:spPr>
          <a:xfrm>
            <a:off x="6115050" y="3114675"/>
            <a:ext cx="2428875"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[What the user does]</a:t>
            </a:r>
          </a:p>
        </p:txBody>
      </p:sp>
      <p:sp>
        <p:nvSpPr>
          <p:cNvPr id="18" name="Pain / feeling&#10;[Moment and sou">
            <a:extLst>
              <a:ext uri="{FF2B5EF4-FFF2-40B4-BE49-F238E27FC236}">
                <a16:creationId xmlns:a16="http://schemas.microsoft.com/office/drawing/2014/main" id="{1E7D8F90-474B-44CD-917D-5D2820AE7915}"/>
              </a:ext>
            </a:extLst>
          </p:cNvPr>
          <p:cNvSpPr>
            <a:spLocks noGrp="1"/>
          </p:cNvSpPr>
          <p:nvPr/>
        </p:nvSpPr>
        <p:spPr>
          <a:xfrm>
            <a:off x="6115050"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Pain / feeling</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[Moment and source ID]</a:t>
            </a:r>
          </a:p>
        </p:txBody>
      </p:sp>
      <p:sp>
        <p:nvSpPr>
          <p:cNvPr id="19" name="OUTCOME">
            <a:extLst>
              <a:ext uri="{FF2B5EF4-FFF2-40B4-BE49-F238E27FC236}">
                <a16:creationId xmlns:a16="http://schemas.microsoft.com/office/drawing/2014/main" id="{CECA0EE2-FAFC-42B7-AB56-39693BB79A50}"/>
              </a:ext>
            </a:extLst>
          </p:cNvPr>
          <p:cNvSpPr>
            <a:spLocks noGrp="1"/>
          </p:cNvSpPr>
          <p:nvPr/>
        </p:nvSpPr>
        <p:spPr>
          <a:xfrm>
            <a:off x="8848725" y="2552700"/>
            <a:ext cx="2505075"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OUTCOME</a:t>
            </a:r>
          </a:p>
        </p:txBody>
      </p:sp>
      <p:sp>
        <p:nvSpPr>
          <p:cNvPr id="20" name="Rectangle 19">
            <a:extLst>
              <a:ext uri="{FF2B5EF4-FFF2-40B4-BE49-F238E27FC236}">
                <a16:creationId xmlns:a16="http://schemas.microsoft.com/office/drawing/2014/main" id="{56E03082-18B9-4462-931A-8EED3530FABC}"/>
              </a:ext>
            </a:extLst>
          </p:cNvPr>
          <p:cNvSpPr>
            <a:spLocks noGrp="1"/>
          </p:cNvSpPr>
          <p:nvPr/>
        </p:nvSpPr>
        <p:spPr>
          <a:xfrm>
            <a:off x="8848725" y="2895600"/>
            <a:ext cx="2428875" cy="19050"/>
          </a:xfrm>
          <a:prstGeom prst="rect">
            <a:avLst/>
          </a:prstGeom>
          <a:solidFill>
            <a:srgbClr val="13756E"/>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1" name="Action&#10;[What the user does]">
            <a:extLst>
              <a:ext uri="{FF2B5EF4-FFF2-40B4-BE49-F238E27FC236}">
                <a16:creationId xmlns:a16="http://schemas.microsoft.com/office/drawing/2014/main" id="{D2700AD5-B4D1-49FB-A13E-846A1570A9DE}"/>
              </a:ext>
            </a:extLst>
          </p:cNvPr>
          <p:cNvSpPr>
            <a:spLocks noGrp="1"/>
          </p:cNvSpPr>
          <p:nvPr/>
        </p:nvSpPr>
        <p:spPr>
          <a:xfrm>
            <a:off x="8848725" y="3114675"/>
            <a:ext cx="2428875"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Action</a:t>
            </a:r>
          </a:p>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[What the user does]</a:t>
            </a:r>
          </a:p>
        </p:txBody>
      </p:sp>
      <p:sp>
        <p:nvSpPr>
          <p:cNvPr id="22" name="Pain / feeling&#10;[Moment and sou">
            <a:extLst>
              <a:ext uri="{FF2B5EF4-FFF2-40B4-BE49-F238E27FC236}">
                <a16:creationId xmlns:a16="http://schemas.microsoft.com/office/drawing/2014/main" id="{33398897-9D73-4C54-BBED-11EA9CD2D290}"/>
              </a:ext>
            </a:extLst>
          </p:cNvPr>
          <p:cNvSpPr>
            <a:spLocks noGrp="1"/>
          </p:cNvSpPr>
          <p:nvPr/>
        </p:nvSpPr>
        <p:spPr>
          <a:xfrm>
            <a:off x="8848725" y="4248150"/>
            <a:ext cx="2428875" cy="9429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Pain / feeling</a:t>
            </a:r>
          </a:p>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163449"/>
                </a:solidFill>
                <a:latin typeface="Bitstream Charter"/>
                <a:ea typeface="Bitstream Charter"/>
                <a:cs typeface="Bitstream Charter"/>
              </a:defRPr>
            </a:pPr>
            <a:r>
              <a:rPr kumimoji="0" sz="1425" b="0" i="0" u="none" strike="noStrike" kern="1200" cap="none" spc="0" normalizeH="0" baseline="0" noProof="0">
                <a:ln>
                  <a:noFill/>
                </a:ln>
                <a:solidFill>
                  <a:srgbClr val="163449"/>
                </a:solidFill>
                <a:effectLst/>
                <a:uLnTx/>
                <a:uFillTx/>
                <a:latin typeface="Bitstream Charter"/>
                <a:ea typeface="Bitstream Charter"/>
                <a:cs typeface="Bitstream Charter"/>
              </a:rPr>
              <a:t>[Moment and source ID]</a:t>
            </a:r>
          </a:p>
        </p:txBody>
      </p:sp>
      <p:sp>
        <p:nvSpPr>
          <p:cNvPr id="23" name="Rectangle 22">
            <a:extLst>
              <a:ext uri="{FF2B5EF4-FFF2-40B4-BE49-F238E27FC236}">
                <a16:creationId xmlns:a16="http://schemas.microsoft.com/office/drawing/2014/main" id="{FC62E571-0EDB-4A42-9769-E2F314D4A9F5}"/>
              </a:ext>
            </a:extLst>
          </p:cNvPr>
          <p:cNvSpPr>
            <a:spLocks noGrp="1"/>
          </p:cNvSpPr>
          <p:nvPr/>
        </p:nvSpPr>
        <p:spPr>
          <a:xfrm>
            <a:off x="647700" y="54387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4" name="HIGHEST-LEVERAGE TOUCHPOINT">
            <a:extLst>
              <a:ext uri="{FF2B5EF4-FFF2-40B4-BE49-F238E27FC236}">
                <a16:creationId xmlns:a16="http://schemas.microsoft.com/office/drawing/2014/main" id="{B00CCBE5-4C6F-438C-8755-B1E060DA226C}"/>
              </a:ext>
            </a:extLst>
          </p:cNvPr>
          <p:cNvSpPr>
            <a:spLocks noGrp="1"/>
          </p:cNvSpPr>
          <p:nvPr/>
        </p:nvSpPr>
        <p:spPr>
          <a:xfrm>
            <a:off x="647700" y="5629275"/>
            <a:ext cx="37147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HIGHEST-LEVERAGE TOUCHPOINT</a:t>
            </a:r>
          </a:p>
        </p:txBody>
      </p:sp>
      <p:sp>
        <p:nvSpPr>
          <p:cNvPr id="25" name="[Where a new or improved servi">
            <a:extLst>
              <a:ext uri="{FF2B5EF4-FFF2-40B4-BE49-F238E27FC236}">
                <a16:creationId xmlns:a16="http://schemas.microsoft.com/office/drawing/2014/main" id="{F17264AD-9992-45B1-9B80-B18B80CC30C9}"/>
              </a:ext>
            </a:extLst>
          </p:cNvPr>
          <p:cNvSpPr>
            <a:spLocks noGrp="1"/>
          </p:cNvSpPr>
          <p:nvPr/>
        </p:nvSpPr>
        <p:spPr>
          <a:xfrm>
            <a:off x="4333875" y="5581650"/>
            <a:ext cx="7000875" cy="5429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1">
                <a:solidFill>
                  <a:srgbClr val="163449"/>
                </a:solidFill>
                <a:latin typeface="Bitstream Charter"/>
                <a:ea typeface="Bitstream Charter"/>
                <a:cs typeface="Bitstream Charter"/>
              </a:defRPr>
            </a:pPr>
            <a:r>
              <a:rPr kumimoji="0" sz="1575" b="1" i="0" u="none" strike="noStrike" kern="1200" cap="none" spc="0" normalizeH="0" baseline="0" noProof="0">
                <a:ln>
                  <a:noFill/>
                </a:ln>
                <a:solidFill>
                  <a:srgbClr val="163449"/>
                </a:solidFill>
                <a:effectLst/>
                <a:uLnTx/>
                <a:uFillTx/>
                <a:latin typeface="Bitstream Charter"/>
                <a:ea typeface="Bitstream Charter"/>
                <a:cs typeface="Bitstream Charter"/>
              </a:rPr>
              <a:t>[Where a new or improved service could change the experience]</a:t>
            </a:r>
          </a:p>
        </p:txBody>
      </p:sp>
    </p:spTree>
    <p:extLst>
      <p:ext uri="{BB962C8B-B14F-4D97-AF65-F5344CB8AC3E}">
        <p14:creationId xmlns:p14="http://schemas.microsoft.com/office/powerpoint/2010/main" val="1835199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4" name="RESEARCH REPORT">
            <a:extLst>
              <a:ext uri="{FF2B5EF4-FFF2-40B4-BE49-F238E27FC236}">
                <a16:creationId xmlns:a16="http://schemas.microsoft.com/office/drawing/2014/main" id="{58CD8FD5-C91C-46A6-8867-DD7215F112B2}"/>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Pain points and opportunity ch">
            <a:extLst>
              <a:ext uri="{FF2B5EF4-FFF2-40B4-BE49-F238E27FC236}">
                <a16:creationId xmlns:a16="http://schemas.microsoft.com/office/drawing/2014/main" id="{81C52E79-F5F3-4ABE-9468-467CFA866A1B}"/>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Pain points and opportunity choice</a:t>
            </a:r>
          </a:p>
        </p:txBody>
      </p:sp>
      <p:sp>
        <p:nvSpPr>
          <p:cNvPr id="3" name="Rectangle 2">
            <a:extLst>
              <a:ext uri="{FF2B5EF4-FFF2-40B4-BE49-F238E27FC236}">
                <a16:creationId xmlns:a16="http://schemas.microsoft.com/office/drawing/2014/main" id="{80F45AED-5150-455A-B924-A94008B11C36}"/>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461A6291-6B43-4634-B2C9-01451CAC382F}"/>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11   /   1:30">
            <a:extLst>
              <a:ext uri="{FF2B5EF4-FFF2-40B4-BE49-F238E27FC236}">
                <a16:creationId xmlns:a16="http://schemas.microsoft.com/office/drawing/2014/main" id="{7E6F97B3-9D3A-43EF-9D70-5205A66D175B}"/>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11   /   1:30</a:t>
            </a:r>
          </a:p>
        </p:txBody>
      </p:sp>
      <p:sp>
        <p:nvSpPr>
          <p:cNvPr id="6" name="PAIN POINT">
            <a:extLst>
              <a:ext uri="{FF2B5EF4-FFF2-40B4-BE49-F238E27FC236}">
                <a16:creationId xmlns:a16="http://schemas.microsoft.com/office/drawing/2014/main" id="{9D999157-277D-4A90-9BC3-4BC99DDD5DCF}"/>
              </a:ext>
            </a:extLst>
          </p:cNvPr>
          <p:cNvSpPr>
            <a:spLocks noGrp="1"/>
          </p:cNvSpPr>
          <p:nvPr/>
        </p:nvSpPr>
        <p:spPr>
          <a:xfrm>
            <a:off x="647700" y="1933575"/>
            <a:ext cx="3857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PAIN POINT</a:t>
            </a:r>
          </a:p>
        </p:txBody>
      </p:sp>
      <p:sp>
        <p:nvSpPr>
          <p:cNvPr id="7" name="RESEARCH BASIS">
            <a:extLst>
              <a:ext uri="{FF2B5EF4-FFF2-40B4-BE49-F238E27FC236}">
                <a16:creationId xmlns:a16="http://schemas.microsoft.com/office/drawing/2014/main" id="{30F1490D-612A-49F6-8D70-9512B4EE0425}"/>
              </a:ext>
            </a:extLst>
          </p:cNvPr>
          <p:cNvSpPr>
            <a:spLocks noGrp="1"/>
          </p:cNvSpPr>
          <p:nvPr/>
        </p:nvSpPr>
        <p:spPr>
          <a:xfrm>
            <a:off x="4667250" y="1933575"/>
            <a:ext cx="338137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BASIS</a:t>
            </a:r>
          </a:p>
        </p:txBody>
      </p:sp>
      <p:sp>
        <p:nvSpPr>
          <p:cNvPr id="8" name="OPPORTUNITY">
            <a:extLst>
              <a:ext uri="{FF2B5EF4-FFF2-40B4-BE49-F238E27FC236}">
                <a16:creationId xmlns:a16="http://schemas.microsoft.com/office/drawing/2014/main" id="{E72E0EF6-B6A5-454B-8CC6-EE64C5A2EE69}"/>
              </a:ext>
            </a:extLst>
          </p:cNvPr>
          <p:cNvSpPr>
            <a:spLocks noGrp="1"/>
          </p:cNvSpPr>
          <p:nvPr/>
        </p:nvSpPr>
        <p:spPr>
          <a:xfrm>
            <a:off x="8305800" y="1933575"/>
            <a:ext cx="3095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OPPORTUNITY</a:t>
            </a:r>
          </a:p>
        </p:txBody>
      </p:sp>
      <p:sp>
        <p:nvSpPr>
          <p:cNvPr id="9" name="Rectangle 8">
            <a:extLst>
              <a:ext uri="{FF2B5EF4-FFF2-40B4-BE49-F238E27FC236}">
                <a16:creationId xmlns:a16="http://schemas.microsoft.com/office/drawing/2014/main" id="{57D1D9B3-C166-4493-9C68-F309D67D1C61}"/>
              </a:ext>
            </a:extLst>
          </p:cNvPr>
          <p:cNvSpPr>
            <a:spLocks noGrp="1"/>
          </p:cNvSpPr>
          <p:nvPr/>
        </p:nvSpPr>
        <p:spPr>
          <a:xfrm>
            <a:off x="647700" y="22479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Pain 1]">
            <a:extLst>
              <a:ext uri="{FF2B5EF4-FFF2-40B4-BE49-F238E27FC236}">
                <a16:creationId xmlns:a16="http://schemas.microsoft.com/office/drawing/2014/main" id="{B1213639-02DE-4D4C-B3D5-B15F2831D803}"/>
              </a:ext>
            </a:extLst>
          </p:cNvPr>
          <p:cNvSpPr>
            <a:spLocks noGrp="1"/>
          </p:cNvSpPr>
          <p:nvPr/>
        </p:nvSpPr>
        <p:spPr>
          <a:xfrm>
            <a:off x="647700" y="2352675"/>
            <a:ext cx="3762375"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[Pain 1]</a:t>
            </a:r>
          </a:p>
        </p:txBody>
      </p:sp>
      <p:sp>
        <p:nvSpPr>
          <p:cNvPr id="11" name="[Frequency / severity / quote ">
            <a:extLst>
              <a:ext uri="{FF2B5EF4-FFF2-40B4-BE49-F238E27FC236}">
                <a16:creationId xmlns:a16="http://schemas.microsoft.com/office/drawing/2014/main" id="{C191CB91-177F-4928-941C-4DA0809C3028}"/>
              </a:ext>
            </a:extLst>
          </p:cNvPr>
          <p:cNvSpPr>
            <a:spLocks noGrp="1"/>
          </p:cNvSpPr>
          <p:nvPr/>
        </p:nvSpPr>
        <p:spPr>
          <a:xfrm>
            <a:off x="4667250" y="2352675"/>
            <a:ext cx="3333750"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[Frequency / severity / quote ID]</a:t>
            </a:r>
          </a:p>
        </p:txBody>
      </p:sp>
      <p:sp>
        <p:nvSpPr>
          <p:cNvPr id="12" name="[Possible intervention]">
            <a:extLst>
              <a:ext uri="{FF2B5EF4-FFF2-40B4-BE49-F238E27FC236}">
                <a16:creationId xmlns:a16="http://schemas.microsoft.com/office/drawing/2014/main" id="{5190E694-7860-4AEE-95D7-7221248FA12D}"/>
              </a:ext>
            </a:extLst>
          </p:cNvPr>
          <p:cNvSpPr>
            <a:spLocks noGrp="1"/>
          </p:cNvSpPr>
          <p:nvPr/>
        </p:nvSpPr>
        <p:spPr>
          <a:xfrm>
            <a:off x="8305800" y="2352675"/>
            <a:ext cx="3095625"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[Possible intervention]</a:t>
            </a:r>
          </a:p>
        </p:txBody>
      </p:sp>
      <p:sp>
        <p:nvSpPr>
          <p:cNvPr id="13" name="Rectangle 12">
            <a:extLst>
              <a:ext uri="{FF2B5EF4-FFF2-40B4-BE49-F238E27FC236}">
                <a16:creationId xmlns:a16="http://schemas.microsoft.com/office/drawing/2014/main" id="{2AB1454A-843D-4B0B-BA7D-1EE11D11E60C}"/>
              </a:ext>
            </a:extLst>
          </p:cNvPr>
          <p:cNvSpPr>
            <a:spLocks noGrp="1"/>
          </p:cNvSpPr>
          <p:nvPr/>
        </p:nvSpPr>
        <p:spPr>
          <a:xfrm>
            <a:off x="647700" y="32670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Pain 2]">
            <a:extLst>
              <a:ext uri="{FF2B5EF4-FFF2-40B4-BE49-F238E27FC236}">
                <a16:creationId xmlns:a16="http://schemas.microsoft.com/office/drawing/2014/main" id="{1645AAF4-4D50-4774-A113-13A1A1682310}"/>
              </a:ext>
            </a:extLst>
          </p:cNvPr>
          <p:cNvSpPr>
            <a:spLocks noGrp="1"/>
          </p:cNvSpPr>
          <p:nvPr/>
        </p:nvSpPr>
        <p:spPr>
          <a:xfrm>
            <a:off x="647700" y="3371850"/>
            <a:ext cx="3762375"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[Pain 2]</a:t>
            </a:r>
          </a:p>
        </p:txBody>
      </p:sp>
      <p:sp>
        <p:nvSpPr>
          <p:cNvPr id="15" name="[Frequency / severity / quote ">
            <a:extLst>
              <a:ext uri="{FF2B5EF4-FFF2-40B4-BE49-F238E27FC236}">
                <a16:creationId xmlns:a16="http://schemas.microsoft.com/office/drawing/2014/main" id="{E3612FA1-CBDC-4E86-99C3-A07149F68402}"/>
              </a:ext>
            </a:extLst>
          </p:cNvPr>
          <p:cNvSpPr>
            <a:spLocks noGrp="1"/>
          </p:cNvSpPr>
          <p:nvPr/>
        </p:nvSpPr>
        <p:spPr>
          <a:xfrm>
            <a:off x="4667250" y="3371850"/>
            <a:ext cx="3333750"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[Frequency / severity / quote ID]</a:t>
            </a:r>
          </a:p>
        </p:txBody>
      </p:sp>
      <p:sp>
        <p:nvSpPr>
          <p:cNvPr id="16" name="[Possible intervention]">
            <a:extLst>
              <a:ext uri="{FF2B5EF4-FFF2-40B4-BE49-F238E27FC236}">
                <a16:creationId xmlns:a16="http://schemas.microsoft.com/office/drawing/2014/main" id="{046EA285-F0E6-447E-9C1F-3070AE44C454}"/>
              </a:ext>
            </a:extLst>
          </p:cNvPr>
          <p:cNvSpPr>
            <a:spLocks noGrp="1"/>
          </p:cNvSpPr>
          <p:nvPr/>
        </p:nvSpPr>
        <p:spPr>
          <a:xfrm>
            <a:off x="8305800" y="3371850"/>
            <a:ext cx="3095625"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[Possible intervention]</a:t>
            </a:r>
          </a:p>
        </p:txBody>
      </p:sp>
      <p:sp>
        <p:nvSpPr>
          <p:cNvPr id="17" name="Rectangle 16">
            <a:extLst>
              <a:ext uri="{FF2B5EF4-FFF2-40B4-BE49-F238E27FC236}">
                <a16:creationId xmlns:a16="http://schemas.microsoft.com/office/drawing/2014/main" id="{DB39658E-82C4-4CF8-BAE9-A16153A2E8C3}"/>
              </a:ext>
            </a:extLst>
          </p:cNvPr>
          <p:cNvSpPr>
            <a:spLocks noGrp="1"/>
          </p:cNvSpPr>
          <p:nvPr/>
        </p:nvSpPr>
        <p:spPr>
          <a:xfrm>
            <a:off x="647700" y="42862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Pain 3]">
            <a:extLst>
              <a:ext uri="{FF2B5EF4-FFF2-40B4-BE49-F238E27FC236}">
                <a16:creationId xmlns:a16="http://schemas.microsoft.com/office/drawing/2014/main" id="{5AA49765-8B20-427F-84AB-0A9AFEF069C7}"/>
              </a:ext>
            </a:extLst>
          </p:cNvPr>
          <p:cNvSpPr>
            <a:spLocks noGrp="1"/>
          </p:cNvSpPr>
          <p:nvPr/>
        </p:nvSpPr>
        <p:spPr>
          <a:xfrm>
            <a:off x="647700" y="4391025"/>
            <a:ext cx="3762375"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[Pain 3]</a:t>
            </a:r>
          </a:p>
        </p:txBody>
      </p:sp>
      <p:sp>
        <p:nvSpPr>
          <p:cNvPr id="19" name="[Frequency / severity / quote ">
            <a:extLst>
              <a:ext uri="{FF2B5EF4-FFF2-40B4-BE49-F238E27FC236}">
                <a16:creationId xmlns:a16="http://schemas.microsoft.com/office/drawing/2014/main" id="{F0592759-A633-4622-B841-5FB261682014}"/>
              </a:ext>
            </a:extLst>
          </p:cNvPr>
          <p:cNvSpPr>
            <a:spLocks noGrp="1"/>
          </p:cNvSpPr>
          <p:nvPr/>
        </p:nvSpPr>
        <p:spPr>
          <a:xfrm>
            <a:off x="4667250" y="4391025"/>
            <a:ext cx="3333750"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[Frequency / severity / quote ID]</a:t>
            </a:r>
          </a:p>
        </p:txBody>
      </p:sp>
      <p:sp>
        <p:nvSpPr>
          <p:cNvPr id="20" name="[Possible intervention]">
            <a:extLst>
              <a:ext uri="{FF2B5EF4-FFF2-40B4-BE49-F238E27FC236}">
                <a16:creationId xmlns:a16="http://schemas.microsoft.com/office/drawing/2014/main" id="{2106B45F-3BAC-49B2-9B42-3907E4C7FD2F}"/>
              </a:ext>
            </a:extLst>
          </p:cNvPr>
          <p:cNvSpPr>
            <a:spLocks noGrp="1"/>
          </p:cNvSpPr>
          <p:nvPr/>
        </p:nvSpPr>
        <p:spPr>
          <a:xfrm>
            <a:off x="8305800" y="4391025"/>
            <a:ext cx="3095625" cy="7429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[Possible intervention]</a:t>
            </a:r>
          </a:p>
        </p:txBody>
      </p:sp>
      <p:sp>
        <p:nvSpPr>
          <p:cNvPr id="21" name="Rectangle 20">
            <a:extLst>
              <a:ext uri="{FF2B5EF4-FFF2-40B4-BE49-F238E27FC236}">
                <a16:creationId xmlns:a16="http://schemas.microsoft.com/office/drawing/2014/main" id="{73264191-52C8-4A46-AF37-24EDE911F017}"/>
              </a:ext>
            </a:extLst>
          </p:cNvPr>
          <p:cNvSpPr>
            <a:spLocks noGrp="1"/>
          </p:cNvSpPr>
          <p:nvPr/>
        </p:nvSpPr>
        <p:spPr>
          <a:xfrm>
            <a:off x="647700" y="54387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PRIORITY RULE">
            <a:extLst>
              <a:ext uri="{FF2B5EF4-FFF2-40B4-BE49-F238E27FC236}">
                <a16:creationId xmlns:a16="http://schemas.microsoft.com/office/drawing/2014/main" id="{FC46CE70-C49D-4915-83D1-90853B579383}"/>
              </a:ext>
            </a:extLst>
          </p:cNvPr>
          <p:cNvSpPr>
            <a:spLocks noGrp="1"/>
          </p:cNvSpPr>
          <p:nvPr/>
        </p:nvSpPr>
        <p:spPr>
          <a:xfrm>
            <a:off x="647700" y="5686425"/>
            <a:ext cx="1619250" cy="209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PRIORITY RULE</a:t>
            </a:r>
          </a:p>
        </p:txBody>
      </p:sp>
      <p:sp>
        <p:nvSpPr>
          <p:cNvPr id="23" name="[User impact] + [strength of e">
            <a:extLst>
              <a:ext uri="{FF2B5EF4-FFF2-40B4-BE49-F238E27FC236}">
                <a16:creationId xmlns:a16="http://schemas.microsoft.com/office/drawing/2014/main" id="{D7874CE5-DCD4-49D0-B50B-6D2123314DD6}"/>
              </a:ext>
            </a:extLst>
          </p:cNvPr>
          <p:cNvSpPr>
            <a:spLocks noGrp="1"/>
          </p:cNvSpPr>
          <p:nvPr/>
        </p:nvSpPr>
        <p:spPr>
          <a:xfrm>
            <a:off x="2390775" y="5619750"/>
            <a:ext cx="8953500" cy="5048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[User impact] + [strength of evidence] + [team feasibility / business potential]</a:t>
            </a:r>
          </a:p>
        </p:txBody>
      </p:sp>
    </p:spTree>
    <p:extLst>
      <p:ext uri="{BB962C8B-B14F-4D97-AF65-F5344CB8AC3E}">
        <p14:creationId xmlns:p14="http://schemas.microsoft.com/office/powerpoint/2010/main" val="11528273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5" name="RESEARCH REPORT">
            <a:extLst>
              <a:ext uri="{FF2B5EF4-FFF2-40B4-BE49-F238E27FC236}">
                <a16:creationId xmlns:a16="http://schemas.microsoft.com/office/drawing/2014/main" id="{605EAA7A-5596-48B3-AAF8-B918A60ACD63}"/>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Proposed service direction">
            <a:extLst>
              <a:ext uri="{FF2B5EF4-FFF2-40B4-BE49-F238E27FC236}">
                <a16:creationId xmlns:a16="http://schemas.microsoft.com/office/drawing/2014/main" id="{3CD0527D-217A-4E36-A1F3-F9E5306ECBAE}"/>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Proposed service direction</a:t>
            </a:r>
          </a:p>
        </p:txBody>
      </p:sp>
      <p:sp>
        <p:nvSpPr>
          <p:cNvPr id="3" name="Rectangle 2">
            <a:extLst>
              <a:ext uri="{FF2B5EF4-FFF2-40B4-BE49-F238E27FC236}">
                <a16:creationId xmlns:a16="http://schemas.microsoft.com/office/drawing/2014/main" id="{3BE301D5-2249-4196-8FC0-512524129A7B}"/>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07F75F46-DA62-4E29-A518-BB9D4D95516F}"/>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12   /   1:30">
            <a:extLst>
              <a:ext uri="{FF2B5EF4-FFF2-40B4-BE49-F238E27FC236}">
                <a16:creationId xmlns:a16="http://schemas.microsoft.com/office/drawing/2014/main" id="{1DF6A942-048F-4E11-B797-51B100EDDE0B}"/>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12   /   1:30</a:t>
            </a:r>
          </a:p>
        </p:txBody>
      </p:sp>
      <p:sp>
        <p:nvSpPr>
          <p:cNvPr id="6" name="WE PROPOSE">
            <a:extLst>
              <a:ext uri="{FF2B5EF4-FFF2-40B4-BE49-F238E27FC236}">
                <a16:creationId xmlns:a16="http://schemas.microsoft.com/office/drawing/2014/main" id="{3F9FB1C4-CF0B-4EA9-935E-E86E1721A3F4}"/>
              </a:ext>
            </a:extLst>
          </p:cNvPr>
          <p:cNvSpPr>
            <a:spLocks noGrp="1"/>
          </p:cNvSpPr>
          <p:nvPr/>
        </p:nvSpPr>
        <p:spPr>
          <a:xfrm>
            <a:off x="647700" y="1962150"/>
            <a:ext cx="2286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WE PROPOSE</a:t>
            </a:r>
          </a:p>
        </p:txBody>
      </p:sp>
      <p:sp>
        <p:nvSpPr>
          <p:cNvPr id="7" name="[Service / product idea in one">
            <a:extLst>
              <a:ext uri="{FF2B5EF4-FFF2-40B4-BE49-F238E27FC236}">
                <a16:creationId xmlns:a16="http://schemas.microsoft.com/office/drawing/2014/main" id="{7BABEE82-8807-4F3C-B203-018D2717C246}"/>
              </a:ext>
            </a:extLst>
          </p:cNvPr>
          <p:cNvSpPr>
            <a:spLocks noGrp="1"/>
          </p:cNvSpPr>
          <p:nvPr/>
        </p:nvSpPr>
        <p:spPr>
          <a:xfrm>
            <a:off x="647700" y="2352675"/>
            <a:ext cx="10191750" cy="8191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325" b="1">
                <a:solidFill>
                  <a:srgbClr val="123047"/>
                </a:solidFill>
                <a:latin typeface="Bitstream Charter"/>
                <a:ea typeface="Bitstream Charter"/>
                <a:cs typeface="Bitstream Charter"/>
              </a:defRPr>
            </a:pPr>
            <a:r>
              <a:rPr kumimoji="0" sz="2325" b="1" i="0" u="none" strike="noStrike" kern="1200" cap="none" spc="0" normalizeH="0" baseline="0" noProof="0">
                <a:ln>
                  <a:noFill/>
                </a:ln>
                <a:solidFill>
                  <a:srgbClr val="123047"/>
                </a:solidFill>
                <a:effectLst/>
                <a:uLnTx/>
                <a:uFillTx/>
                <a:latin typeface="Bitstream Charter"/>
                <a:ea typeface="Bitstream Charter"/>
                <a:cs typeface="Bitstream Charter"/>
              </a:rPr>
              <a:t>[Service / product idea in one plain sentence]</a:t>
            </a:r>
          </a:p>
        </p:txBody>
      </p:sp>
      <p:sp>
        <p:nvSpPr>
          <p:cNvPr id="8" name="Rectangle 7">
            <a:extLst>
              <a:ext uri="{FF2B5EF4-FFF2-40B4-BE49-F238E27FC236}">
                <a16:creationId xmlns:a16="http://schemas.microsoft.com/office/drawing/2014/main" id="{D8D49551-0760-48BE-A384-EB5371FF439B}"/>
              </a:ext>
            </a:extLst>
          </p:cNvPr>
          <p:cNvSpPr>
            <a:spLocks noGrp="1"/>
          </p:cNvSpPr>
          <p:nvPr/>
        </p:nvSpPr>
        <p:spPr>
          <a:xfrm>
            <a:off x="647700" y="3476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FIRST USE CASE">
            <a:extLst>
              <a:ext uri="{FF2B5EF4-FFF2-40B4-BE49-F238E27FC236}">
                <a16:creationId xmlns:a16="http://schemas.microsoft.com/office/drawing/2014/main" id="{E53E735D-16A7-4EE9-9D63-92A6A0D5E37A}"/>
              </a:ext>
            </a:extLst>
          </p:cNvPr>
          <p:cNvSpPr>
            <a:spLocks noGrp="1"/>
          </p:cNvSpPr>
          <p:nvPr/>
        </p:nvSpPr>
        <p:spPr>
          <a:xfrm>
            <a:off x="647700" y="3848100"/>
            <a:ext cx="5143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FIRST USE CASE</a:t>
            </a:r>
          </a:p>
        </p:txBody>
      </p:sp>
      <p:sp>
        <p:nvSpPr>
          <p:cNvPr id="10" name="[What user does; in which cont">
            <a:extLst>
              <a:ext uri="{FF2B5EF4-FFF2-40B4-BE49-F238E27FC236}">
                <a16:creationId xmlns:a16="http://schemas.microsoft.com/office/drawing/2014/main" id="{2316D494-A684-4458-9AAC-844165DDCE94}"/>
              </a:ext>
            </a:extLst>
          </p:cNvPr>
          <p:cNvSpPr>
            <a:spLocks noGrp="1"/>
          </p:cNvSpPr>
          <p:nvPr/>
        </p:nvSpPr>
        <p:spPr>
          <a:xfrm>
            <a:off x="647700" y="4171950"/>
            <a:ext cx="5143500"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[What user does; in which context; expected benefit]</a:t>
            </a:r>
          </a:p>
        </p:txBody>
      </p:sp>
      <p:sp>
        <p:nvSpPr>
          <p:cNvPr id="11" name="MAIN TOUCHPOINTS">
            <a:extLst>
              <a:ext uri="{FF2B5EF4-FFF2-40B4-BE49-F238E27FC236}">
                <a16:creationId xmlns:a16="http://schemas.microsoft.com/office/drawing/2014/main" id="{3DEBCAF8-0390-413E-8F5E-B5146CD6F19F}"/>
              </a:ext>
            </a:extLst>
          </p:cNvPr>
          <p:cNvSpPr>
            <a:spLocks noGrp="1"/>
          </p:cNvSpPr>
          <p:nvPr/>
        </p:nvSpPr>
        <p:spPr>
          <a:xfrm>
            <a:off x="6334125" y="38481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MAIN TOUCHPOINTS</a:t>
            </a:r>
          </a:p>
        </p:txBody>
      </p:sp>
      <p:sp>
        <p:nvSpPr>
          <p:cNvPr id="12" name="[Physical, human and / or soft">
            <a:extLst>
              <a:ext uri="{FF2B5EF4-FFF2-40B4-BE49-F238E27FC236}">
                <a16:creationId xmlns:a16="http://schemas.microsoft.com/office/drawing/2014/main" id="{392F7211-1BFE-420F-97B1-F20DC2378EAC}"/>
              </a:ext>
            </a:extLst>
          </p:cNvPr>
          <p:cNvSpPr>
            <a:spLocks noGrp="1"/>
          </p:cNvSpPr>
          <p:nvPr/>
        </p:nvSpPr>
        <p:spPr>
          <a:xfrm>
            <a:off x="6334125" y="4171950"/>
            <a:ext cx="5000625" cy="952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[Physical, human and / or software interactions]</a:t>
            </a:r>
          </a:p>
        </p:txBody>
      </p:sp>
      <p:sp>
        <p:nvSpPr>
          <p:cNvPr id="13" name="SCOPE NOW">
            <a:extLst>
              <a:ext uri="{FF2B5EF4-FFF2-40B4-BE49-F238E27FC236}">
                <a16:creationId xmlns:a16="http://schemas.microsoft.com/office/drawing/2014/main" id="{46DBA62F-932F-4965-AF9D-EFAF4A43423B}"/>
              </a:ext>
            </a:extLst>
          </p:cNvPr>
          <p:cNvSpPr>
            <a:spLocks noGrp="1"/>
          </p:cNvSpPr>
          <p:nvPr/>
        </p:nvSpPr>
        <p:spPr>
          <a:xfrm>
            <a:off x="647700" y="5553075"/>
            <a:ext cx="1428750" cy="2190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SCOPE NOW</a:t>
            </a:r>
          </a:p>
        </p:txBody>
      </p:sp>
      <p:sp>
        <p:nvSpPr>
          <p:cNvPr id="14" name="[PoC, prototype or MVP]  ·  [w">
            <a:extLst>
              <a:ext uri="{FF2B5EF4-FFF2-40B4-BE49-F238E27FC236}">
                <a16:creationId xmlns:a16="http://schemas.microsoft.com/office/drawing/2014/main" id="{24F53747-D2B6-4E62-A4D8-67F59EA76E9D}"/>
              </a:ext>
            </a:extLst>
          </p:cNvPr>
          <p:cNvSpPr>
            <a:spLocks noGrp="1"/>
          </p:cNvSpPr>
          <p:nvPr/>
        </p:nvSpPr>
        <p:spPr>
          <a:xfrm>
            <a:off x="2209800" y="5505450"/>
            <a:ext cx="9124950" cy="5905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[PoC, prototype or MVP]  ·  [what this stage must prove]</a:t>
            </a:r>
          </a:p>
        </p:txBody>
      </p:sp>
    </p:spTree>
    <p:extLst>
      <p:ext uri="{BB962C8B-B14F-4D97-AF65-F5344CB8AC3E}">
        <p14:creationId xmlns:p14="http://schemas.microsoft.com/office/powerpoint/2010/main" val="637825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17" name="RESEARCH REPORT">
            <a:extLst>
              <a:ext uri="{FF2B5EF4-FFF2-40B4-BE49-F238E27FC236}">
                <a16:creationId xmlns:a16="http://schemas.microsoft.com/office/drawing/2014/main" id="{23F6D149-9B31-4ED4-A184-FE58C1F504A9}"/>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User value and sustainable bus">
            <a:extLst>
              <a:ext uri="{FF2B5EF4-FFF2-40B4-BE49-F238E27FC236}">
                <a16:creationId xmlns:a16="http://schemas.microsoft.com/office/drawing/2014/main" id="{85A31074-6E34-4B9E-8B9A-86B6E79B3B7F}"/>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User value and sustainable business value</a:t>
            </a:r>
          </a:p>
        </p:txBody>
      </p:sp>
      <p:sp>
        <p:nvSpPr>
          <p:cNvPr id="3" name="Rectangle 2">
            <a:extLst>
              <a:ext uri="{FF2B5EF4-FFF2-40B4-BE49-F238E27FC236}">
                <a16:creationId xmlns:a16="http://schemas.microsoft.com/office/drawing/2014/main" id="{5DBEA0F9-4C2D-4D29-83BA-8DEB5AF060BD}"/>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1682FC29-C7F3-449D-91AA-A4FFA29436C0}"/>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13   /   1:30">
            <a:extLst>
              <a:ext uri="{FF2B5EF4-FFF2-40B4-BE49-F238E27FC236}">
                <a16:creationId xmlns:a16="http://schemas.microsoft.com/office/drawing/2014/main" id="{11179692-13AF-43FE-947E-F38B026FEC29}"/>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13   /   1:30</a:t>
            </a:r>
          </a:p>
        </p:txBody>
      </p:sp>
      <p:sp>
        <p:nvSpPr>
          <p:cNvPr id="6" name="VALUE FOR THE USER">
            <a:extLst>
              <a:ext uri="{FF2B5EF4-FFF2-40B4-BE49-F238E27FC236}">
                <a16:creationId xmlns:a16="http://schemas.microsoft.com/office/drawing/2014/main" id="{524593F1-A87A-431A-A346-A031AB0A180B}"/>
              </a:ext>
            </a:extLst>
          </p:cNvPr>
          <p:cNvSpPr>
            <a:spLocks noGrp="1"/>
          </p:cNvSpPr>
          <p:nvPr/>
        </p:nvSpPr>
        <p:spPr>
          <a:xfrm>
            <a:off x="647700" y="1981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VALUE FOR THE USER</a:t>
            </a:r>
          </a:p>
        </p:txBody>
      </p:sp>
      <p:sp>
        <p:nvSpPr>
          <p:cNvPr id="7" name="[Time, effort, confidence, acc">
            <a:extLst>
              <a:ext uri="{FF2B5EF4-FFF2-40B4-BE49-F238E27FC236}">
                <a16:creationId xmlns:a16="http://schemas.microsoft.com/office/drawing/2014/main" id="{683FE5F7-2609-4769-A2FB-E42CE7ECAB9C}"/>
              </a:ext>
            </a:extLst>
          </p:cNvPr>
          <p:cNvSpPr>
            <a:spLocks noGrp="1"/>
          </p:cNvSpPr>
          <p:nvPr/>
        </p:nvSpPr>
        <p:spPr>
          <a:xfrm>
            <a:off x="647700" y="2305050"/>
            <a:ext cx="5000625" cy="8191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[Time, effort, confidence, access or another outcome; how to measure it]</a:t>
            </a:r>
          </a:p>
        </p:txBody>
      </p:sp>
      <p:sp>
        <p:nvSpPr>
          <p:cNvPr id="8" name="CUSTOMER AND PAYER">
            <a:extLst>
              <a:ext uri="{FF2B5EF4-FFF2-40B4-BE49-F238E27FC236}">
                <a16:creationId xmlns:a16="http://schemas.microsoft.com/office/drawing/2014/main" id="{6F39AB36-F835-4606-91FC-3FDA05608840}"/>
              </a:ext>
            </a:extLst>
          </p:cNvPr>
          <p:cNvSpPr>
            <a:spLocks noGrp="1"/>
          </p:cNvSpPr>
          <p:nvPr/>
        </p:nvSpPr>
        <p:spPr>
          <a:xfrm>
            <a:off x="6296025" y="1981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CUSTOMER AND PAYER</a:t>
            </a:r>
          </a:p>
        </p:txBody>
      </p:sp>
      <p:sp>
        <p:nvSpPr>
          <p:cNvPr id="9" name="[Who uses it? Who would pay or">
            <a:extLst>
              <a:ext uri="{FF2B5EF4-FFF2-40B4-BE49-F238E27FC236}">
                <a16:creationId xmlns:a16="http://schemas.microsoft.com/office/drawing/2014/main" id="{99813F83-082A-4888-9F82-8663CA3FD57C}"/>
              </a:ext>
            </a:extLst>
          </p:cNvPr>
          <p:cNvSpPr>
            <a:spLocks noGrp="1"/>
          </p:cNvSpPr>
          <p:nvPr/>
        </p:nvSpPr>
        <p:spPr>
          <a:xfrm>
            <a:off x="6296025" y="2305050"/>
            <a:ext cx="5000625" cy="8191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[Who uses it? Who would pay or fund it? Why?]</a:t>
            </a:r>
          </a:p>
        </p:txBody>
      </p:sp>
      <p:sp>
        <p:nvSpPr>
          <p:cNvPr id="10" name="Rectangle 9">
            <a:extLst>
              <a:ext uri="{FF2B5EF4-FFF2-40B4-BE49-F238E27FC236}">
                <a16:creationId xmlns:a16="http://schemas.microsoft.com/office/drawing/2014/main" id="{1D5F0154-3564-4121-9752-9A69C0DA8B20}"/>
              </a:ext>
            </a:extLst>
          </p:cNvPr>
          <p:cNvSpPr>
            <a:spLocks noGrp="1"/>
          </p:cNvSpPr>
          <p:nvPr/>
        </p:nvSpPr>
        <p:spPr>
          <a:xfrm>
            <a:off x="647700" y="3476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1" name="VALUE CAPTURE">
            <a:extLst>
              <a:ext uri="{FF2B5EF4-FFF2-40B4-BE49-F238E27FC236}">
                <a16:creationId xmlns:a16="http://schemas.microsoft.com/office/drawing/2014/main" id="{18AF0A55-776A-47C6-8FEA-06F581E152F4}"/>
              </a:ext>
            </a:extLst>
          </p:cNvPr>
          <p:cNvSpPr>
            <a:spLocks noGrp="1"/>
          </p:cNvSpPr>
          <p:nvPr/>
        </p:nvSpPr>
        <p:spPr>
          <a:xfrm>
            <a:off x="647700" y="3886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VALUE CAPTURE</a:t>
            </a:r>
          </a:p>
        </p:txBody>
      </p:sp>
      <p:sp>
        <p:nvSpPr>
          <p:cNvPr id="12" name="[Revenue / funding mechanism a">
            <a:extLst>
              <a:ext uri="{FF2B5EF4-FFF2-40B4-BE49-F238E27FC236}">
                <a16:creationId xmlns:a16="http://schemas.microsoft.com/office/drawing/2014/main" id="{43880DC7-242A-4170-ADE0-7F036381EFD2}"/>
              </a:ext>
            </a:extLst>
          </p:cNvPr>
          <p:cNvSpPr>
            <a:spLocks noGrp="1"/>
          </p:cNvSpPr>
          <p:nvPr/>
        </p:nvSpPr>
        <p:spPr>
          <a:xfrm>
            <a:off x="647700" y="4210050"/>
            <a:ext cx="5000625" cy="895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[Revenue / funding mechanism and tentative price or unit]</a:t>
            </a:r>
          </a:p>
        </p:txBody>
      </p:sp>
      <p:sp>
        <p:nvSpPr>
          <p:cNvPr id="13" name="DELIVERY ECONOMICS">
            <a:extLst>
              <a:ext uri="{FF2B5EF4-FFF2-40B4-BE49-F238E27FC236}">
                <a16:creationId xmlns:a16="http://schemas.microsoft.com/office/drawing/2014/main" id="{C8096DC6-B84D-4847-8F30-BD1E1DC33E3D}"/>
              </a:ext>
            </a:extLst>
          </p:cNvPr>
          <p:cNvSpPr>
            <a:spLocks noGrp="1"/>
          </p:cNvSpPr>
          <p:nvPr/>
        </p:nvSpPr>
        <p:spPr>
          <a:xfrm>
            <a:off x="6296025" y="3886200"/>
            <a:ext cx="5000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DELIVERY ECONOMICS</a:t>
            </a:r>
          </a:p>
        </p:txBody>
      </p:sp>
      <p:sp>
        <p:nvSpPr>
          <p:cNvPr id="14" name="[Major costs, partners or reso">
            <a:extLst>
              <a:ext uri="{FF2B5EF4-FFF2-40B4-BE49-F238E27FC236}">
                <a16:creationId xmlns:a16="http://schemas.microsoft.com/office/drawing/2014/main" id="{7C638FA0-E166-45EE-866E-8FEAA7F379AF}"/>
              </a:ext>
            </a:extLst>
          </p:cNvPr>
          <p:cNvSpPr>
            <a:spLocks noGrp="1"/>
          </p:cNvSpPr>
          <p:nvPr/>
        </p:nvSpPr>
        <p:spPr>
          <a:xfrm>
            <a:off x="6296025" y="4210050"/>
            <a:ext cx="5000625" cy="895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725" b="0">
                <a:solidFill>
                  <a:srgbClr val="163449"/>
                </a:solidFill>
                <a:latin typeface="Bitstream Charter"/>
                <a:ea typeface="Bitstream Charter"/>
                <a:cs typeface="Bitstream Charter"/>
              </a:defRPr>
            </a:pPr>
            <a:r>
              <a:rPr kumimoji="0" sz="1725" b="0" i="0" u="none" strike="noStrike" kern="1200" cap="none" spc="0" normalizeH="0" baseline="0" noProof="0">
                <a:ln>
                  <a:noFill/>
                </a:ln>
                <a:solidFill>
                  <a:srgbClr val="163449"/>
                </a:solidFill>
                <a:effectLst/>
                <a:uLnTx/>
                <a:uFillTx/>
                <a:latin typeface="Bitstream Charter"/>
                <a:ea typeface="Bitstream Charter"/>
                <a:cs typeface="Bitstream Charter"/>
              </a:rPr>
              <a:t>[Major costs, partners or resources needed to operate]</a:t>
            </a:r>
          </a:p>
        </p:txBody>
      </p:sp>
      <p:sp>
        <p:nvSpPr>
          <p:cNvPr id="15" name="SUSTAINABILITY QUESTION">
            <a:extLst>
              <a:ext uri="{FF2B5EF4-FFF2-40B4-BE49-F238E27FC236}">
                <a16:creationId xmlns:a16="http://schemas.microsoft.com/office/drawing/2014/main" id="{87726C0B-76F9-4CAA-8652-E023574E0C38}"/>
              </a:ext>
            </a:extLst>
          </p:cNvPr>
          <p:cNvSpPr>
            <a:spLocks noGrp="1"/>
          </p:cNvSpPr>
          <p:nvPr/>
        </p:nvSpPr>
        <p:spPr>
          <a:xfrm>
            <a:off x="647700" y="5572125"/>
            <a:ext cx="2857500" cy="2190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SUSTAINABILITY QUESTION</a:t>
            </a:r>
          </a:p>
        </p:txBody>
      </p:sp>
      <p:sp>
        <p:nvSpPr>
          <p:cNvPr id="16" name="[What must be true for benefit">
            <a:extLst>
              <a:ext uri="{FF2B5EF4-FFF2-40B4-BE49-F238E27FC236}">
                <a16:creationId xmlns:a16="http://schemas.microsoft.com/office/drawing/2014/main" id="{5A1C6229-57C4-497A-8E26-ADBAA0FE8B3F}"/>
              </a:ext>
            </a:extLst>
          </p:cNvPr>
          <p:cNvSpPr>
            <a:spLocks noGrp="1"/>
          </p:cNvSpPr>
          <p:nvPr/>
        </p:nvSpPr>
        <p:spPr>
          <a:xfrm>
            <a:off x="3533775" y="5505450"/>
            <a:ext cx="7620000" cy="5810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[What must be true for benefits and operating costs to remain viable?]</a:t>
            </a:r>
          </a:p>
        </p:txBody>
      </p:sp>
    </p:spTree>
    <p:extLst>
      <p:ext uri="{BB962C8B-B14F-4D97-AF65-F5344CB8AC3E}">
        <p14:creationId xmlns:p14="http://schemas.microsoft.com/office/powerpoint/2010/main" val="1318908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0" name="RESEARCH REPORT">
            <a:extLst>
              <a:ext uri="{FF2B5EF4-FFF2-40B4-BE49-F238E27FC236}">
                <a16:creationId xmlns:a16="http://schemas.microsoft.com/office/drawing/2014/main" id="{A54BEED8-D8F4-4185-8E8E-FCF17D66D406}"/>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REPORT</a:t>
            </a:r>
          </a:p>
        </p:txBody>
      </p:sp>
      <p:sp>
        <p:nvSpPr>
          <p:cNvPr id="2" name="Research decision and next tes">
            <a:extLst>
              <a:ext uri="{FF2B5EF4-FFF2-40B4-BE49-F238E27FC236}">
                <a16:creationId xmlns:a16="http://schemas.microsoft.com/office/drawing/2014/main" id="{F67B6A99-D430-4C34-965E-3A23FCF2F4E8}"/>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Research decision and next tests</a:t>
            </a:r>
          </a:p>
        </p:txBody>
      </p:sp>
      <p:sp>
        <p:nvSpPr>
          <p:cNvPr id="3" name="Rectangle 2">
            <a:extLst>
              <a:ext uri="{FF2B5EF4-FFF2-40B4-BE49-F238E27FC236}">
                <a16:creationId xmlns:a16="http://schemas.microsoft.com/office/drawing/2014/main" id="{1A76FA36-6747-48DF-AF41-7C3A3749CE24}"/>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FB13432E-B48F-435A-9B62-087EDC312078}"/>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14   /   1:30">
            <a:extLst>
              <a:ext uri="{FF2B5EF4-FFF2-40B4-BE49-F238E27FC236}">
                <a16:creationId xmlns:a16="http://schemas.microsoft.com/office/drawing/2014/main" id="{C516BDC0-5765-429A-912B-593903F4964A}"/>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14   /   1:30</a:t>
            </a:r>
          </a:p>
        </p:txBody>
      </p:sp>
      <p:sp>
        <p:nvSpPr>
          <p:cNvPr id="6" name="RESEARCH CHANGED OUR DIRECTION">
            <a:extLst>
              <a:ext uri="{FF2B5EF4-FFF2-40B4-BE49-F238E27FC236}">
                <a16:creationId xmlns:a16="http://schemas.microsoft.com/office/drawing/2014/main" id="{85464ADC-2924-46E4-8172-379962CACE0D}"/>
              </a:ext>
            </a:extLst>
          </p:cNvPr>
          <p:cNvSpPr>
            <a:spLocks noGrp="1"/>
          </p:cNvSpPr>
          <p:nvPr/>
        </p:nvSpPr>
        <p:spPr>
          <a:xfrm>
            <a:off x="647700" y="1962150"/>
            <a:ext cx="53340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RESEARCH CHANGED OUR DIRECTION BY</a:t>
            </a:r>
          </a:p>
        </p:txBody>
      </p:sp>
      <p:sp>
        <p:nvSpPr>
          <p:cNvPr id="7" name="Earlier view: [belief]&#10;Current">
            <a:extLst>
              <a:ext uri="{FF2B5EF4-FFF2-40B4-BE49-F238E27FC236}">
                <a16:creationId xmlns:a16="http://schemas.microsoft.com/office/drawing/2014/main" id="{D5CC6FEE-FE52-4068-8EBD-2BAFDB0B0EFA}"/>
              </a:ext>
            </a:extLst>
          </p:cNvPr>
          <p:cNvSpPr>
            <a:spLocks noGrp="1"/>
          </p:cNvSpPr>
          <p:nvPr/>
        </p:nvSpPr>
        <p:spPr>
          <a:xfrm>
            <a:off x="647700" y="2324100"/>
            <a:ext cx="10287000" cy="8572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950" b="1">
                <a:solidFill>
                  <a:srgbClr val="123047"/>
                </a:solidFill>
                <a:latin typeface="Bitstream Charter"/>
                <a:ea typeface="Bitstream Charter"/>
                <a:cs typeface="Bitstream Charter"/>
              </a:defRPr>
            </a:pPr>
            <a:r>
              <a:rPr kumimoji="0" sz="1950" b="1" i="0" u="none" strike="noStrike" kern="1200" cap="none" spc="0" normalizeH="0" baseline="0" noProof="0">
                <a:ln>
                  <a:noFill/>
                </a:ln>
                <a:solidFill>
                  <a:srgbClr val="123047"/>
                </a:solidFill>
                <a:effectLst/>
                <a:uLnTx/>
                <a:uFillTx/>
                <a:latin typeface="Bitstream Charter"/>
                <a:ea typeface="Bitstream Charter"/>
                <a:cs typeface="Bitstream Charter"/>
              </a:rPr>
              <a:t>Earlier view: [belief]</a:t>
            </a:r>
          </a:p>
          <a:p>
            <a:pPr marL="0" marR="0" lvl="0" indent="0" algn="l" defTabSz="914400" rtl="0" eaLnBrk="1" fontAlgn="auto" latinLnBrk="0" hangingPunct="1">
              <a:lnSpc>
                <a:spcPct val="110000"/>
              </a:lnSpc>
              <a:spcBef>
                <a:spcPts val="0"/>
              </a:spcBef>
              <a:spcAft>
                <a:spcPts val="0"/>
              </a:spcAft>
              <a:buClrTx/>
              <a:buSzTx/>
              <a:buFontTx/>
              <a:buNone/>
              <a:tabLst/>
              <a:defRPr sz="1950" b="1">
                <a:solidFill>
                  <a:srgbClr val="123047"/>
                </a:solidFill>
                <a:latin typeface="Bitstream Charter"/>
                <a:ea typeface="Bitstream Charter"/>
                <a:cs typeface="Bitstream Charter"/>
              </a:defRPr>
            </a:pPr>
            <a:r>
              <a:rPr kumimoji="0" sz="1950" b="1" i="0" u="none" strike="noStrike" kern="1200" cap="none" spc="0" normalizeH="0" baseline="0" noProof="0">
                <a:ln>
                  <a:noFill/>
                </a:ln>
                <a:solidFill>
                  <a:srgbClr val="123047"/>
                </a:solidFill>
                <a:effectLst/>
                <a:uLnTx/>
                <a:uFillTx/>
                <a:latin typeface="Bitstream Charter"/>
                <a:ea typeface="Bitstream Charter"/>
                <a:cs typeface="Bitstream Charter"/>
              </a:rPr>
              <a:t>Current direction: [choice]</a:t>
            </a:r>
          </a:p>
        </p:txBody>
      </p:sp>
      <p:sp>
        <p:nvSpPr>
          <p:cNvPr id="8" name="Rectangle 7">
            <a:extLst>
              <a:ext uri="{FF2B5EF4-FFF2-40B4-BE49-F238E27FC236}">
                <a16:creationId xmlns:a16="http://schemas.microsoft.com/office/drawing/2014/main" id="{405BFA4A-D9CB-40F7-B44D-870DCB8A7561}"/>
              </a:ext>
            </a:extLst>
          </p:cNvPr>
          <p:cNvSpPr>
            <a:spLocks noGrp="1"/>
          </p:cNvSpPr>
          <p:nvPr/>
        </p:nvSpPr>
        <p:spPr>
          <a:xfrm>
            <a:off x="647700" y="33528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9" name="CRITICAL ASSUMPTION">
            <a:extLst>
              <a:ext uri="{FF2B5EF4-FFF2-40B4-BE49-F238E27FC236}">
                <a16:creationId xmlns:a16="http://schemas.microsoft.com/office/drawing/2014/main" id="{2AF02A2A-A382-4476-8CD9-E89232825B2B}"/>
              </a:ext>
            </a:extLst>
          </p:cNvPr>
          <p:cNvSpPr>
            <a:spLocks noGrp="1"/>
          </p:cNvSpPr>
          <p:nvPr/>
        </p:nvSpPr>
        <p:spPr>
          <a:xfrm>
            <a:off x="647700" y="3724275"/>
            <a:ext cx="4000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CRITICAL ASSUMPTION</a:t>
            </a:r>
          </a:p>
        </p:txBody>
      </p:sp>
      <p:sp>
        <p:nvSpPr>
          <p:cNvPr id="10" name="NEXT TEST">
            <a:extLst>
              <a:ext uri="{FF2B5EF4-FFF2-40B4-BE49-F238E27FC236}">
                <a16:creationId xmlns:a16="http://schemas.microsoft.com/office/drawing/2014/main" id="{EEB361CA-8BC4-437A-9711-24AC3CA80C2E}"/>
              </a:ext>
            </a:extLst>
          </p:cNvPr>
          <p:cNvSpPr>
            <a:spLocks noGrp="1"/>
          </p:cNvSpPr>
          <p:nvPr/>
        </p:nvSpPr>
        <p:spPr>
          <a:xfrm>
            <a:off x="5267325" y="3724275"/>
            <a:ext cx="409575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NEXT TEST</a:t>
            </a:r>
          </a:p>
        </p:txBody>
      </p:sp>
      <p:sp>
        <p:nvSpPr>
          <p:cNvPr id="11" name="DECISION RULE">
            <a:extLst>
              <a:ext uri="{FF2B5EF4-FFF2-40B4-BE49-F238E27FC236}">
                <a16:creationId xmlns:a16="http://schemas.microsoft.com/office/drawing/2014/main" id="{122DAF87-E202-4CC6-AF5C-F880AB34A1A7}"/>
              </a:ext>
            </a:extLst>
          </p:cNvPr>
          <p:cNvSpPr>
            <a:spLocks noGrp="1"/>
          </p:cNvSpPr>
          <p:nvPr/>
        </p:nvSpPr>
        <p:spPr>
          <a:xfrm>
            <a:off x="9525000" y="3724275"/>
            <a:ext cx="19050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DECISION RULE</a:t>
            </a:r>
          </a:p>
        </p:txBody>
      </p:sp>
      <p:sp>
        <p:nvSpPr>
          <p:cNvPr id="12" name="Rectangle 11">
            <a:extLst>
              <a:ext uri="{FF2B5EF4-FFF2-40B4-BE49-F238E27FC236}">
                <a16:creationId xmlns:a16="http://schemas.microsoft.com/office/drawing/2014/main" id="{ABEB5298-DAC1-42B1-91AC-4E74F0E3C798}"/>
              </a:ext>
            </a:extLst>
          </p:cNvPr>
          <p:cNvSpPr>
            <a:spLocks noGrp="1"/>
          </p:cNvSpPr>
          <p:nvPr/>
        </p:nvSpPr>
        <p:spPr>
          <a:xfrm>
            <a:off x="647700" y="402907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3" name="[User will attempt the task]">
            <a:extLst>
              <a:ext uri="{FF2B5EF4-FFF2-40B4-BE49-F238E27FC236}">
                <a16:creationId xmlns:a16="http://schemas.microsoft.com/office/drawing/2014/main" id="{2090F2CC-20E9-4B28-9C7C-544906627268}"/>
              </a:ext>
            </a:extLst>
          </p:cNvPr>
          <p:cNvSpPr>
            <a:spLocks noGrp="1"/>
          </p:cNvSpPr>
          <p:nvPr/>
        </p:nvSpPr>
        <p:spPr>
          <a:xfrm>
            <a:off x="647700" y="4124325"/>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[User will attempt the task]</a:t>
            </a:r>
          </a:p>
        </p:txBody>
      </p:sp>
      <p:sp>
        <p:nvSpPr>
          <p:cNvPr id="14" name="[Prototype and user test]">
            <a:extLst>
              <a:ext uri="{FF2B5EF4-FFF2-40B4-BE49-F238E27FC236}">
                <a16:creationId xmlns:a16="http://schemas.microsoft.com/office/drawing/2014/main" id="{C3F9249E-296C-4A6A-B2F7-818BE4C2A863}"/>
              </a:ext>
            </a:extLst>
          </p:cNvPr>
          <p:cNvSpPr>
            <a:spLocks noGrp="1"/>
          </p:cNvSpPr>
          <p:nvPr/>
        </p:nvSpPr>
        <p:spPr>
          <a:xfrm>
            <a:off x="5267325" y="4124325"/>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[Prototype and user test]</a:t>
            </a:r>
          </a:p>
        </p:txBody>
      </p:sp>
      <p:sp>
        <p:nvSpPr>
          <p:cNvPr id="15" name="[Success criterion]">
            <a:extLst>
              <a:ext uri="{FF2B5EF4-FFF2-40B4-BE49-F238E27FC236}">
                <a16:creationId xmlns:a16="http://schemas.microsoft.com/office/drawing/2014/main" id="{30572934-FCC5-48E3-82B8-52E23DC5C079}"/>
              </a:ext>
            </a:extLst>
          </p:cNvPr>
          <p:cNvSpPr>
            <a:spLocks noGrp="1"/>
          </p:cNvSpPr>
          <p:nvPr/>
        </p:nvSpPr>
        <p:spPr>
          <a:xfrm>
            <a:off x="9525000" y="4124325"/>
            <a:ext cx="1857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[Success criterion]</a:t>
            </a:r>
          </a:p>
        </p:txBody>
      </p:sp>
      <p:sp>
        <p:nvSpPr>
          <p:cNvPr id="16" name="Rectangle 15">
            <a:extLst>
              <a:ext uri="{FF2B5EF4-FFF2-40B4-BE49-F238E27FC236}">
                <a16:creationId xmlns:a16="http://schemas.microsoft.com/office/drawing/2014/main" id="{D28E9E41-2170-4CA1-9CBC-71821CFA22EB}"/>
              </a:ext>
            </a:extLst>
          </p:cNvPr>
          <p:cNvSpPr>
            <a:spLocks noGrp="1"/>
          </p:cNvSpPr>
          <p:nvPr/>
        </p:nvSpPr>
        <p:spPr>
          <a:xfrm>
            <a:off x="647700" y="489585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7" name="[Payer will fund it]">
            <a:extLst>
              <a:ext uri="{FF2B5EF4-FFF2-40B4-BE49-F238E27FC236}">
                <a16:creationId xmlns:a16="http://schemas.microsoft.com/office/drawing/2014/main" id="{A194F868-7709-4BB1-80D2-1FDE289EC53D}"/>
              </a:ext>
            </a:extLst>
          </p:cNvPr>
          <p:cNvSpPr>
            <a:spLocks noGrp="1"/>
          </p:cNvSpPr>
          <p:nvPr/>
        </p:nvSpPr>
        <p:spPr>
          <a:xfrm>
            <a:off x="647700" y="4991100"/>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[Payer will fund it]</a:t>
            </a:r>
          </a:p>
        </p:txBody>
      </p:sp>
      <p:sp>
        <p:nvSpPr>
          <p:cNvPr id="18" name="[Price interview]">
            <a:extLst>
              <a:ext uri="{FF2B5EF4-FFF2-40B4-BE49-F238E27FC236}">
                <a16:creationId xmlns:a16="http://schemas.microsoft.com/office/drawing/2014/main" id="{8DE39B5B-AAAC-42C1-85BD-B726A0C7C80E}"/>
              </a:ext>
            </a:extLst>
          </p:cNvPr>
          <p:cNvSpPr>
            <a:spLocks noGrp="1"/>
          </p:cNvSpPr>
          <p:nvPr/>
        </p:nvSpPr>
        <p:spPr>
          <a:xfrm>
            <a:off x="5267325" y="4991100"/>
            <a:ext cx="4143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[Price interview]</a:t>
            </a:r>
          </a:p>
        </p:txBody>
      </p:sp>
      <p:sp>
        <p:nvSpPr>
          <p:cNvPr id="19" name="[Success criterion]">
            <a:extLst>
              <a:ext uri="{FF2B5EF4-FFF2-40B4-BE49-F238E27FC236}">
                <a16:creationId xmlns:a16="http://schemas.microsoft.com/office/drawing/2014/main" id="{15963ACC-3845-4034-98BC-B94605FF3151}"/>
              </a:ext>
            </a:extLst>
          </p:cNvPr>
          <p:cNvSpPr>
            <a:spLocks noGrp="1"/>
          </p:cNvSpPr>
          <p:nvPr/>
        </p:nvSpPr>
        <p:spPr>
          <a:xfrm>
            <a:off x="9525000" y="4991100"/>
            <a:ext cx="1857375" cy="67627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[Success criterion]</a:t>
            </a:r>
          </a:p>
        </p:txBody>
      </p:sp>
    </p:spTree>
    <p:extLst>
      <p:ext uri="{BB962C8B-B14F-4D97-AF65-F5344CB8AC3E}">
        <p14:creationId xmlns:p14="http://schemas.microsoft.com/office/powerpoint/2010/main" val="1090557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3047"/>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38197C-C449-4A42-AD3B-1BE15CDFF645}"/>
              </a:ext>
            </a:extLst>
          </p:cNvPr>
          <p:cNvSpPr>
            <a:spLocks noGrp="1"/>
          </p:cNvSpPr>
          <p:nvPr/>
        </p:nvSpPr>
        <p:spPr>
          <a:xfrm>
            <a:off x="647700" y="847725"/>
            <a:ext cx="800100" cy="57150"/>
          </a:xfrm>
          <a:prstGeom prst="rect">
            <a:avLst/>
          </a:prstGeom>
          <a:solidFill>
            <a:srgbClr val="C96D4B"/>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 name="Questions">
            <a:extLst>
              <a:ext uri="{FF2B5EF4-FFF2-40B4-BE49-F238E27FC236}">
                <a16:creationId xmlns:a16="http://schemas.microsoft.com/office/drawing/2014/main" id="{2FD03C51-9161-4515-BD3C-1273B9793B7F}"/>
              </a:ext>
            </a:extLst>
          </p:cNvPr>
          <p:cNvSpPr>
            <a:spLocks noGrp="1"/>
          </p:cNvSpPr>
          <p:nvPr/>
        </p:nvSpPr>
        <p:spPr>
          <a:xfrm>
            <a:off x="647700" y="2095500"/>
            <a:ext cx="9906000" cy="1143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4875" b="1">
                <a:solidFill>
                  <a:srgbClr val="FFFFFF"/>
                </a:solidFill>
                <a:latin typeface="Bitstream Charter"/>
                <a:ea typeface="Bitstream Charter"/>
                <a:cs typeface="Bitstream Charter"/>
              </a:defRPr>
            </a:pPr>
            <a:r>
              <a:rPr kumimoji="0" sz="4875" b="1" i="0" u="none" strike="noStrike" kern="1200" cap="none" spc="0" normalizeH="0" baseline="0" noProof="0">
                <a:ln>
                  <a:noFill/>
                </a:ln>
                <a:solidFill>
                  <a:srgbClr val="FFFFFF"/>
                </a:solidFill>
                <a:effectLst/>
                <a:uLnTx/>
                <a:uFillTx/>
                <a:latin typeface="Bitstream Charter"/>
                <a:ea typeface="Bitstream Charter"/>
                <a:cs typeface="Bitstream Charter"/>
              </a:rPr>
              <a:t>Questions</a:t>
            </a:r>
          </a:p>
        </p:txBody>
      </p:sp>
      <p:sp>
        <p:nvSpPr>
          <p:cNvPr id="3" name="5 minutes">
            <a:extLst>
              <a:ext uri="{FF2B5EF4-FFF2-40B4-BE49-F238E27FC236}">
                <a16:creationId xmlns:a16="http://schemas.microsoft.com/office/drawing/2014/main" id="{4D868B6F-3D4F-4EE2-8ED1-FB74A761CB40}"/>
              </a:ext>
            </a:extLst>
          </p:cNvPr>
          <p:cNvSpPr>
            <a:spLocks noGrp="1"/>
          </p:cNvSpPr>
          <p:nvPr/>
        </p:nvSpPr>
        <p:spPr>
          <a:xfrm>
            <a:off x="647700" y="3476625"/>
            <a:ext cx="4762500" cy="4572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100" b="0">
                <a:solidFill>
                  <a:srgbClr val="BFE0DA"/>
                </a:solidFill>
                <a:latin typeface="Bitstream Charter"/>
                <a:ea typeface="Bitstream Charter"/>
                <a:cs typeface="Bitstream Charter"/>
              </a:defRPr>
            </a:pPr>
            <a:r>
              <a:rPr kumimoji="0" sz="2100" b="0" i="0" u="none" strike="noStrike" kern="1200" cap="none" spc="0" normalizeH="0" baseline="0" noProof="0">
                <a:ln>
                  <a:noFill/>
                </a:ln>
                <a:solidFill>
                  <a:srgbClr val="BFE0DA"/>
                </a:solidFill>
                <a:effectLst/>
                <a:uLnTx/>
                <a:uFillTx/>
                <a:latin typeface="Bitstream Charter"/>
                <a:ea typeface="Bitstream Charter"/>
                <a:cs typeface="Bitstream Charter"/>
              </a:rPr>
              <a:t>5 minutes</a:t>
            </a:r>
          </a:p>
        </p:txBody>
      </p:sp>
      <p:sp>
        <p:nvSpPr>
          <p:cNvPr id="4" name="[Team contact / project name]">
            <a:extLst>
              <a:ext uri="{FF2B5EF4-FFF2-40B4-BE49-F238E27FC236}">
                <a16:creationId xmlns:a16="http://schemas.microsoft.com/office/drawing/2014/main" id="{1D41F824-D6C2-4535-9281-F877037A80FE}"/>
              </a:ext>
            </a:extLst>
          </p:cNvPr>
          <p:cNvSpPr>
            <a:spLocks noGrp="1"/>
          </p:cNvSpPr>
          <p:nvPr/>
        </p:nvSpPr>
        <p:spPr>
          <a:xfrm>
            <a:off x="647700" y="5962650"/>
            <a:ext cx="9525000" cy="304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425" b="0">
                <a:solidFill>
                  <a:srgbClr val="BFE0DA"/>
                </a:solidFill>
                <a:latin typeface="Bitstream Charter"/>
                <a:ea typeface="Bitstream Charter"/>
                <a:cs typeface="Bitstream Charter"/>
              </a:defRPr>
            </a:pPr>
            <a:r>
              <a:rPr kumimoji="0" sz="1425" b="0" i="0" u="none" strike="noStrike" kern="1200" cap="none" spc="0" normalizeH="0" baseline="0" noProof="0">
                <a:ln>
                  <a:noFill/>
                </a:ln>
                <a:solidFill>
                  <a:srgbClr val="BFE0DA"/>
                </a:solidFill>
                <a:effectLst/>
                <a:uLnTx/>
                <a:uFillTx/>
                <a:latin typeface="Bitstream Charter"/>
                <a:ea typeface="Bitstream Charter"/>
                <a:cs typeface="Bitstream Charter"/>
              </a:rPr>
              <a:t>[Team contact / project name]</a:t>
            </a:r>
          </a:p>
        </p:txBody>
      </p:sp>
    </p:spTree>
    <p:extLst>
      <p:ext uri="{BB962C8B-B14F-4D97-AF65-F5344CB8AC3E}">
        <p14:creationId xmlns:p14="http://schemas.microsoft.com/office/powerpoint/2010/main" val="11192262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6" name="APPENDIX">
            <a:extLst>
              <a:ext uri="{FF2B5EF4-FFF2-40B4-BE49-F238E27FC236}">
                <a16:creationId xmlns:a16="http://schemas.microsoft.com/office/drawing/2014/main" id="{C961BB2D-602D-406A-875E-93476B2763F4}"/>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APPENDIX</a:t>
            </a:r>
          </a:p>
        </p:txBody>
      </p:sp>
      <p:sp>
        <p:nvSpPr>
          <p:cNvPr id="2" name="Appendix: evidence and source ">
            <a:extLst>
              <a:ext uri="{FF2B5EF4-FFF2-40B4-BE49-F238E27FC236}">
                <a16:creationId xmlns:a16="http://schemas.microsoft.com/office/drawing/2014/main" id="{9B1111F5-9999-4A20-9B8E-BB7995C995F9}"/>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Appendix: evidence and source register</a:t>
            </a:r>
          </a:p>
        </p:txBody>
      </p:sp>
      <p:sp>
        <p:nvSpPr>
          <p:cNvPr id="3" name="Rectangle 2">
            <a:extLst>
              <a:ext uri="{FF2B5EF4-FFF2-40B4-BE49-F238E27FC236}">
                <a16:creationId xmlns:a16="http://schemas.microsoft.com/office/drawing/2014/main" id="{D6E00148-7AF4-4D3D-8087-E44A584EF484}"/>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4B137C50-4817-46D4-979F-AE8CEBE535D1}"/>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16   /   BACKUP">
            <a:extLst>
              <a:ext uri="{FF2B5EF4-FFF2-40B4-BE49-F238E27FC236}">
                <a16:creationId xmlns:a16="http://schemas.microsoft.com/office/drawing/2014/main" id="{650E1936-5D17-451D-A42B-06DEAF87BC44}"/>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16   /   BACKUP</a:t>
            </a:r>
          </a:p>
        </p:txBody>
      </p:sp>
      <p:sp>
        <p:nvSpPr>
          <p:cNvPr id="6" name="CLAIM OR FINDING">
            <a:extLst>
              <a:ext uri="{FF2B5EF4-FFF2-40B4-BE49-F238E27FC236}">
                <a16:creationId xmlns:a16="http://schemas.microsoft.com/office/drawing/2014/main" id="{79B79906-29B2-4F25-AC1F-D7278F0B5F79}"/>
              </a:ext>
            </a:extLst>
          </p:cNvPr>
          <p:cNvSpPr>
            <a:spLocks noGrp="1"/>
          </p:cNvSpPr>
          <p:nvPr/>
        </p:nvSpPr>
        <p:spPr>
          <a:xfrm>
            <a:off x="647700" y="1924050"/>
            <a:ext cx="2857500"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CLAIM OR FINDING</a:t>
            </a:r>
          </a:p>
        </p:txBody>
      </p:sp>
      <p:sp>
        <p:nvSpPr>
          <p:cNvPr id="7" name="SOURCE / PARTICIPANT ID">
            <a:extLst>
              <a:ext uri="{FF2B5EF4-FFF2-40B4-BE49-F238E27FC236}">
                <a16:creationId xmlns:a16="http://schemas.microsoft.com/office/drawing/2014/main" id="{B85E73ED-4A4E-46C7-81D1-EC957A6C2716}"/>
              </a:ext>
            </a:extLst>
          </p:cNvPr>
          <p:cNvSpPr>
            <a:spLocks noGrp="1"/>
          </p:cNvSpPr>
          <p:nvPr/>
        </p:nvSpPr>
        <p:spPr>
          <a:xfrm>
            <a:off x="3867150" y="1924050"/>
            <a:ext cx="32861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SOURCE / PARTICIPANT ID</a:t>
            </a:r>
          </a:p>
        </p:txBody>
      </p:sp>
      <p:sp>
        <p:nvSpPr>
          <p:cNvPr id="8" name="DATE · LINK · LIMIT">
            <a:extLst>
              <a:ext uri="{FF2B5EF4-FFF2-40B4-BE49-F238E27FC236}">
                <a16:creationId xmlns:a16="http://schemas.microsoft.com/office/drawing/2014/main" id="{636DEDA4-26E0-409D-9CE4-284DCE58DC2D}"/>
              </a:ext>
            </a:extLst>
          </p:cNvPr>
          <p:cNvSpPr>
            <a:spLocks noGrp="1"/>
          </p:cNvSpPr>
          <p:nvPr/>
        </p:nvSpPr>
        <p:spPr>
          <a:xfrm>
            <a:off x="7543800" y="1924050"/>
            <a:ext cx="3857625" cy="2286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DATE · LINK · LIMIT</a:t>
            </a:r>
          </a:p>
        </p:txBody>
      </p:sp>
      <p:sp>
        <p:nvSpPr>
          <p:cNvPr id="9" name="Rectangle 8">
            <a:extLst>
              <a:ext uri="{FF2B5EF4-FFF2-40B4-BE49-F238E27FC236}">
                <a16:creationId xmlns:a16="http://schemas.microsoft.com/office/drawing/2014/main" id="{9AA0E1D3-DDAB-49C9-A1BB-A44A54106BDE}"/>
              </a:ext>
            </a:extLst>
          </p:cNvPr>
          <p:cNvSpPr>
            <a:spLocks noGrp="1"/>
          </p:cNvSpPr>
          <p:nvPr/>
        </p:nvSpPr>
        <p:spPr>
          <a:xfrm>
            <a:off x="647700" y="22193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Slide / claim]">
            <a:extLst>
              <a:ext uri="{FF2B5EF4-FFF2-40B4-BE49-F238E27FC236}">
                <a16:creationId xmlns:a16="http://schemas.microsoft.com/office/drawing/2014/main" id="{525876D9-DE32-4FFD-ABB5-093AC8A1C364}"/>
              </a:ext>
            </a:extLst>
          </p:cNvPr>
          <p:cNvSpPr>
            <a:spLocks noGrp="1"/>
          </p:cNvSpPr>
          <p:nvPr/>
        </p:nvSpPr>
        <p:spPr>
          <a:xfrm>
            <a:off x="647700" y="23050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[Slide / claim]</a:t>
            </a:r>
          </a:p>
        </p:txBody>
      </p:sp>
      <p:sp>
        <p:nvSpPr>
          <p:cNvPr id="11" name="[P03 / report title]">
            <a:extLst>
              <a:ext uri="{FF2B5EF4-FFF2-40B4-BE49-F238E27FC236}">
                <a16:creationId xmlns:a16="http://schemas.microsoft.com/office/drawing/2014/main" id="{58B8EFCB-644E-4DBA-9A5E-DE0753FE8EE0}"/>
              </a:ext>
            </a:extLst>
          </p:cNvPr>
          <p:cNvSpPr>
            <a:spLocks noGrp="1"/>
          </p:cNvSpPr>
          <p:nvPr/>
        </p:nvSpPr>
        <p:spPr>
          <a:xfrm>
            <a:off x="3867150" y="23050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[P03 / report title]</a:t>
            </a:r>
          </a:p>
        </p:txBody>
      </p:sp>
      <p:sp>
        <p:nvSpPr>
          <p:cNvPr id="12" name="[Date, URL, caveat]">
            <a:extLst>
              <a:ext uri="{FF2B5EF4-FFF2-40B4-BE49-F238E27FC236}">
                <a16:creationId xmlns:a16="http://schemas.microsoft.com/office/drawing/2014/main" id="{8AB698BE-0B0D-4B63-9CC0-A07AFE592848}"/>
              </a:ext>
            </a:extLst>
          </p:cNvPr>
          <p:cNvSpPr>
            <a:spLocks noGrp="1"/>
          </p:cNvSpPr>
          <p:nvPr/>
        </p:nvSpPr>
        <p:spPr>
          <a:xfrm>
            <a:off x="7543800" y="23050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[Date, URL, caveat]</a:t>
            </a:r>
          </a:p>
        </p:txBody>
      </p:sp>
      <p:sp>
        <p:nvSpPr>
          <p:cNvPr id="13" name="Rectangle 12">
            <a:extLst>
              <a:ext uri="{FF2B5EF4-FFF2-40B4-BE49-F238E27FC236}">
                <a16:creationId xmlns:a16="http://schemas.microsoft.com/office/drawing/2014/main" id="{602C232F-D50A-4347-A9A6-8066AD6D5BAF}"/>
              </a:ext>
            </a:extLst>
          </p:cNvPr>
          <p:cNvSpPr>
            <a:spLocks noGrp="1"/>
          </p:cNvSpPr>
          <p:nvPr/>
        </p:nvSpPr>
        <p:spPr>
          <a:xfrm>
            <a:off x="647700" y="30956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Slide / claim]">
            <a:extLst>
              <a:ext uri="{FF2B5EF4-FFF2-40B4-BE49-F238E27FC236}">
                <a16:creationId xmlns:a16="http://schemas.microsoft.com/office/drawing/2014/main" id="{6298C9B2-A2B1-4622-BF24-F1273960E63C}"/>
              </a:ext>
            </a:extLst>
          </p:cNvPr>
          <p:cNvSpPr>
            <a:spLocks noGrp="1"/>
          </p:cNvSpPr>
          <p:nvPr/>
        </p:nvSpPr>
        <p:spPr>
          <a:xfrm>
            <a:off x="647700" y="31813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[Slide / claim]</a:t>
            </a:r>
          </a:p>
        </p:txBody>
      </p:sp>
      <p:sp>
        <p:nvSpPr>
          <p:cNvPr id="15" name="[P03 / report title]">
            <a:extLst>
              <a:ext uri="{FF2B5EF4-FFF2-40B4-BE49-F238E27FC236}">
                <a16:creationId xmlns:a16="http://schemas.microsoft.com/office/drawing/2014/main" id="{EBFC80C7-3711-46F9-9575-7CA2A28ABF3E}"/>
              </a:ext>
            </a:extLst>
          </p:cNvPr>
          <p:cNvSpPr>
            <a:spLocks noGrp="1"/>
          </p:cNvSpPr>
          <p:nvPr/>
        </p:nvSpPr>
        <p:spPr>
          <a:xfrm>
            <a:off x="3867150" y="31813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[P03 / report title]</a:t>
            </a:r>
          </a:p>
        </p:txBody>
      </p:sp>
      <p:sp>
        <p:nvSpPr>
          <p:cNvPr id="16" name="[Date, URL, caveat]">
            <a:extLst>
              <a:ext uri="{FF2B5EF4-FFF2-40B4-BE49-F238E27FC236}">
                <a16:creationId xmlns:a16="http://schemas.microsoft.com/office/drawing/2014/main" id="{A3AE6968-0F59-4170-9CE0-9F862102424F}"/>
              </a:ext>
            </a:extLst>
          </p:cNvPr>
          <p:cNvSpPr>
            <a:spLocks noGrp="1"/>
          </p:cNvSpPr>
          <p:nvPr/>
        </p:nvSpPr>
        <p:spPr>
          <a:xfrm>
            <a:off x="7543800" y="31813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[Date, URL, caveat]</a:t>
            </a:r>
          </a:p>
        </p:txBody>
      </p:sp>
      <p:sp>
        <p:nvSpPr>
          <p:cNvPr id="17" name="Rectangle 16">
            <a:extLst>
              <a:ext uri="{FF2B5EF4-FFF2-40B4-BE49-F238E27FC236}">
                <a16:creationId xmlns:a16="http://schemas.microsoft.com/office/drawing/2014/main" id="{5AFD7ACF-50C7-4B5C-91EF-21ED273575EE}"/>
              </a:ext>
            </a:extLst>
          </p:cNvPr>
          <p:cNvSpPr>
            <a:spLocks noGrp="1"/>
          </p:cNvSpPr>
          <p:nvPr/>
        </p:nvSpPr>
        <p:spPr>
          <a:xfrm>
            <a:off x="647700" y="39719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Slide / claim]">
            <a:extLst>
              <a:ext uri="{FF2B5EF4-FFF2-40B4-BE49-F238E27FC236}">
                <a16:creationId xmlns:a16="http://schemas.microsoft.com/office/drawing/2014/main" id="{523DBCB0-BAB0-47B9-9FBB-BEB1A687EB13}"/>
              </a:ext>
            </a:extLst>
          </p:cNvPr>
          <p:cNvSpPr>
            <a:spLocks noGrp="1"/>
          </p:cNvSpPr>
          <p:nvPr/>
        </p:nvSpPr>
        <p:spPr>
          <a:xfrm>
            <a:off x="647700" y="40576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[Slide / claim]</a:t>
            </a:r>
          </a:p>
        </p:txBody>
      </p:sp>
      <p:sp>
        <p:nvSpPr>
          <p:cNvPr id="19" name="[P03 / report title]">
            <a:extLst>
              <a:ext uri="{FF2B5EF4-FFF2-40B4-BE49-F238E27FC236}">
                <a16:creationId xmlns:a16="http://schemas.microsoft.com/office/drawing/2014/main" id="{65C1CCC7-FF5F-490F-BCAC-162784CD03EE}"/>
              </a:ext>
            </a:extLst>
          </p:cNvPr>
          <p:cNvSpPr>
            <a:spLocks noGrp="1"/>
          </p:cNvSpPr>
          <p:nvPr/>
        </p:nvSpPr>
        <p:spPr>
          <a:xfrm>
            <a:off x="3867150" y="40576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[P03 / report title]</a:t>
            </a:r>
          </a:p>
        </p:txBody>
      </p:sp>
      <p:sp>
        <p:nvSpPr>
          <p:cNvPr id="20" name="[Date, URL, caveat]">
            <a:extLst>
              <a:ext uri="{FF2B5EF4-FFF2-40B4-BE49-F238E27FC236}">
                <a16:creationId xmlns:a16="http://schemas.microsoft.com/office/drawing/2014/main" id="{68BF6614-F616-4946-BDEC-F0ED27062FC7}"/>
              </a:ext>
            </a:extLst>
          </p:cNvPr>
          <p:cNvSpPr>
            <a:spLocks noGrp="1"/>
          </p:cNvSpPr>
          <p:nvPr/>
        </p:nvSpPr>
        <p:spPr>
          <a:xfrm>
            <a:off x="7543800" y="40576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[Date, URL, caveat]</a:t>
            </a:r>
          </a:p>
        </p:txBody>
      </p:sp>
      <p:sp>
        <p:nvSpPr>
          <p:cNvPr id="21" name="Rectangle 20">
            <a:extLst>
              <a:ext uri="{FF2B5EF4-FFF2-40B4-BE49-F238E27FC236}">
                <a16:creationId xmlns:a16="http://schemas.microsoft.com/office/drawing/2014/main" id="{68E41DB5-8E87-4227-982C-96D267D7B5FE}"/>
              </a:ext>
            </a:extLst>
          </p:cNvPr>
          <p:cNvSpPr>
            <a:spLocks noGrp="1"/>
          </p:cNvSpPr>
          <p:nvPr/>
        </p:nvSpPr>
        <p:spPr>
          <a:xfrm>
            <a:off x="647700" y="4848225"/>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Slide / claim]">
            <a:extLst>
              <a:ext uri="{FF2B5EF4-FFF2-40B4-BE49-F238E27FC236}">
                <a16:creationId xmlns:a16="http://schemas.microsoft.com/office/drawing/2014/main" id="{DFE25585-6DD2-4DD5-877D-C08346C2F97C}"/>
              </a:ext>
            </a:extLst>
          </p:cNvPr>
          <p:cNvSpPr>
            <a:spLocks noGrp="1"/>
          </p:cNvSpPr>
          <p:nvPr/>
        </p:nvSpPr>
        <p:spPr>
          <a:xfrm>
            <a:off x="647700" y="4933950"/>
            <a:ext cx="3000375"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[Slide / claim]</a:t>
            </a:r>
          </a:p>
        </p:txBody>
      </p:sp>
      <p:sp>
        <p:nvSpPr>
          <p:cNvPr id="23" name="[P03 / report title]">
            <a:extLst>
              <a:ext uri="{FF2B5EF4-FFF2-40B4-BE49-F238E27FC236}">
                <a16:creationId xmlns:a16="http://schemas.microsoft.com/office/drawing/2014/main" id="{657A6D63-92C8-440A-A230-4F639C903739}"/>
              </a:ext>
            </a:extLst>
          </p:cNvPr>
          <p:cNvSpPr>
            <a:spLocks noGrp="1"/>
          </p:cNvSpPr>
          <p:nvPr/>
        </p:nvSpPr>
        <p:spPr>
          <a:xfrm>
            <a:off x="3867150" y="4933950"/>
            <a:ext cx="3429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[P03 / report title]</a:t>
            </a:r>
          </a:p>
        </p:txBody>
      </p:sp>
      <p:sp>
        <p:nvSpPr>
          <p:cNvPr id="24" name="[Date, URL, caveat]">
            <a:extLst>
              <a:ext uri="{FF2B5EF4-FFF2-40B4-BE49-F238E27FC236}">
                <a16:creationId xmlns:a16="http://schemas.microsoft.com/office/drawing/2014/main" id="{7E0FE626-AA12-4F7B-B094-5055271AB4A1}"/>
              </a:ext>
            </a:extLst>
          </p:cNvPr>
          <p:cNvSpPr>
            <a:spLocks noGrp="1"/>
          </p:cNvSpPr>
          <p:nvPr/>
        </p:nvSpPr>
        <p:spPr>
          <a:xfrm>
            <a:off x="7543800" y="4933950"/>
            <a:ext cx="3810000" cy="6858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00" b="0">
                <a:solidFill>
                  <a:srgbClr val="163449"/>
                </a:solidFill>
                <a:latin typeface="Bitstream Charter"/>
                <a:ea typeface="Bitstream Charter"/>
                <a:cs typeface="Bitstream Charter"/>
              </a:defRPr>
            </a:pPr>
            <a:r>
              <a:rPr kumimoji="0" sz="1500" b="0" i="0" u="none" strike="noStrike" kern="1200" cap="none" spc="0" normalizeH="0" baseline="0" noProof="0">
                <a:ln>
                  <a:noFill/>
                </a:ln>
                <a:solidFill>
                  <a:srgbClr val="163449"/>
                </a:solidFill>
                <a:effectLst/>
                <a:uLnTx/>
                <a:uFillTx/>
                <a:latin typeface="Bitstream Charter"/>
                <a:ea typeface="Bitstream Charter"/>
                <a:cs typeface="Bitstream Charter"/>
              </a:rPr>
              <a:t>[Date, URL, caveat]</a:t>
            </a:r>
          </a:p>
        </p:txBody>
      </p:sp>
      <p:sp>
        <p:nvSpPr>
          <p:cNvPr id="25" name="Rectangle 24">
            <a:extLst>
              <a:ext uri="{FF2B5EF4-FFF2-40B4-BE49-F238E27FC236}">
                <a16:creationId xmlns:a16="http://schemas.microsoft.com/office/drawing/2014/main" id="{1B380E69-796B-47E2-947F-3AB2234A7BFD}"/>
              </a:ext>
            </a:extLst>
          </p:cNvPr>
          <p:cNvSpPr>
            <a:spLocks noGrp="1"/>
          </p:cNvSpPr>
          <p:nvPr/>
        </p:nvSpPr>
        <p:spPr>
          <a:xfrm>
            <a:off x="647700" y="5753100"/>
            <a:ext cx="108966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Tree>
    <p:extLst>
      <p:ext uri="{BB962C8B-B14F-4D97-AF65-F5344CB8AC3E}">
        <p14:creationId xmlns:p14="http://schemas.microsoft.com/office/powerpoint/2010/main" val="911511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2"/>
        </a:solidFill>
        <a:effectLst/>
      </p:bgPr>
    </p:bg>
    <p:spTree>
      <p:nvGrpSpPr>
        <p:cNvPr id="1" name=""/>
        <p:cNvGrpSpPr/>
        <p:nvPr/>
      </p:nvGrpSpPr>
      <p:grpSpPr>
        <a:xfrm>
          <a:off x="0" y="0"/>
          <a:ext cx="0" cy="0"/>
          <a:chOff x="0" y="0"/>
          <a:chExt cx="0" cy="0"/>
        </a:xfrm>
      </p:grpSpPr>
      <p:sp>
        <p:nvSpPr>
          <p:cNvPr id="23" name="APPENDIX">
            <a:extLst>
              <a:ext uri="{FF2B5EF4-FFF2-40B4-BE49-F238E27FC236}">
                <a16:creationId xmlns:a16="http://schemas.microsoft.com/office/drawing/2014/main" id="{403F7EA9-7273-44CA-AAEE-E5F40A5C58B3}"/>
              </a:ext>
            </a:extLst>
          </p:cNvPr>
          <p:cNvSpPr>
            <a:spLocks noGrp="1"/>
          </p:cNvSpPr>
          <p:nvPr/>
        </p:nvSpPr>
        <p:spPr>
          <a:xfrm>
            <a:off x="647700" y="323850"/>
            <a:ext cx="4762500" cy="2381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APPENDIX</a:t>
            </a:r>
          </a:p>
        </p:txBody>
      </p:sp>
      <p:sp>
        <p:nvSpPr>
          <p:cNvPr id="2" name="Appendix: research instrument ">
            <a:extLst>
              <a:ext uri="{FF2B5EF4-FFF2-40B4-BE49-F238E27FC236}">
                <a16:creationId xmlns:a16="http://schemas.microsoft.com/office/drawing/2014/main" id="{5A801802-CAB0-433D-9740-5A3EBA26901B}"/>
              </a:ext>
            </a:extLst>
          </p:cNvPr>
          <p:cNvSpPr>
            <a:spLocks noGrp="1"/>
          </p:cNvSpPr>
          <p:nvPr/>
        </p:nvSpPr>
        <p:spPr>
          <a:xfrm>
            <a:off x="647700" y="714375"/>
            <a:ext cx="10715625" cy="7620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2925" b="1">
                <a:solidFill>
                  <a:srgbClr val="123047"/>
                </a:solidFill>
                <a:latin typeface="Bitstream Charter"/>
                <a:ea typeface="Bitstream Charter"/>
                <a:cs typeface="Bitstream Charter"/>
              </a:defRPr>
            </a:pPr>
            <a:r>
              <a:rPr kumimoji="0" sz="2925" b="1" i="0" u="none" strike="noStrike" kern="1200" cap="none" spc="0" normalizeH="0" baseline="0" noProof="0">
                <a:ln>
                  <a:noFill/>
                </a:ln>
                <a:solidFill>
                  <a:srgbClr val="123047"/>
                </a:solidFill>
                <a:effectLst/>
                <a:uLnTx/>
                <a:uFillTx/>
                <a:latin typeface="Bitstream Charter"/>
                <a:ea typeface="Bitstream Charter"/>
                <a:cs typeface="Bitstream Charter"/>
              </a:rPr>
              <a:t>Appendix: research instrument and synthesis</a:t>
            </a:r>
          </a:p>
        </p:txBody>
      </p:sp>
      <p:sp>
        <p:nvSpPr>
          <p:cNvPr id="3" name="Rectangle 2">
            <a:extLst>
              <a:ext uri="{FF2B5EF4-FFF2-40B4-BE49-F238E27FC236}">
                <a16:creationId xmlns:a16="http://schemas.microsoft.com/office/drawing/2014/main" id="{813D1EC8-E79D-446C-97CD-A980F84C5223}"/>
              </a:ext>
            </a:extLst>
          </p:cNvPr>
          <p:cNvSpPr>
            <a:spLocks noGrp="1"/>
          </p:cNvSpPr>
          <p:nvPr/>
        </p:nvSpPr>
        <p:spPr>
          <a:xfrm>
            <a:off x="647700" y="1504950"/>
            <a:ext cx="10896600" cy="19050"/>
          </a:xfrm>
          <a:prstGeom prst="rect">
            <a:avLst/>
          </a:prstGeom>
          <a:solidFill>
            <a:srgbClr val="12304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4" name="COMM7115  ·  BUSINESS PROPOSAL">
            <a:extLst>
              <a:ext uri="{FF2B5EF4-FFF2-40B4-BE49-F238E27FC236}">
                <a16:creationId xmlns:a16="http://schemas.microsoft.com/office/drawing/2014/main" id="{5B1490CA-9F84-4DC5-9503-BA40357ED75E}"/>
              </a:ext>
            </a:extLst>
          </p:cNvPr>
          <p:cNvSpPr>
            <a:spLocks noGrp="1"/>
          </p:cNvSpPr>
          <p:nvPr/>
        </p:nvSpPr>
        <p:spPr>
          <a:xfrm>
            <a:off x="647700" y="6438900"/>
            <a:ext cx="7048500" cy="1905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COMM7115  ·  BUSINESS PROPOSAL RESEARCH</a:t>
            </a:r>
          </a:p>
        </p:txBody>
      </p:sp>
      <p:sp>
        <p:nvSpPr>
          <p:cNvPr id="5" name="17   /   BACKUP">
            <a:extLst>
              <a:ext uri="{FF2B5EF4-FFF2-40B4-BE49-F238E27FC236}">
                <a16:creationId xmlns:a16="http://schemas.microsoft.com/office/drawing/2014/main" id="{42D2B102-BB15-4AF7-9A1C-542F498798BD}"/>
              </a:ext>
            </a:extLst>
          </p:cNvPr>
          <p:cNvSpPr>
            <a:spLocks noGrp="1"/>
          </p:cNvSpPr>
          <p:nvPr/>
        </p:nvSpPr>
        <p:spPr>
          <a:xfrm>
            <a:off x="9477375" y="6438900"/>
            <a:ext cx="2057400" cy="19050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10000"/>
              </a:lnSpc>
              <a:spcBef>
                <a:spcPts val="0"/>
              </a:spcBef>
              <a:spcAft>
                <a:spcPts val="0"/>
              </a:spcAft>
              <a:buClrTx/>
              <a:buSzTx/>
              <a:buFontTx/>
              <a:buNone/>
              <a:tabLst/>
              <a:defRPr sz="900" b="0">
                <a:solidFill>
                  <a:srgbClr val="59716E"/>
                </a:solidFill>
                <a:latin typeface="Bitstream Charter"/>
                <a:ea typeface="Bitstream Charter"/>
                <a:cs typeface="Bitstream Charter"/>
              </a:defRPr>
            </a:pPr>
            <a:r>
              <a:rPr kumimoji="0" sz="900" b="0" i="0" u="none" strike="noStrike" kern="1200" cap="none" spc="0" normalizeH="0" baseline="0" noProof="0">
                <a:ln>
                  <a:noFill/>
                </a:ln>
                <a:solidFill>
                  <a:srgbClr val="59716E"/>
                </a:solidFill>
                <a:effectLst/>
                <a:uLnTx/>
                <a:uFillTx/>
                <a:latin typeface="Bitstream Charter"/>
                <a:ea typeface="Bitstream Charter"/>
                <a:cs typeface="Bitstream Charter"/>
              </a:rPr>
              <a:t>17   /   BACKUP</a:t>
            </a:r>
          </a:p>
        </p:txBody>
      </p:sp>
      <p:sp>
        <p:nvSpPr>
          <p:cNvPr id="6" name="SAMPLE NEUTRAL QUESTIONS">
            <a:extLst>
              <a:ext uri="{FF2B5EF4-FFF2-40B4-BE49-F238E27FC236}">
                <a16:creationId xmlns:a16="http://schemas.microsoft.com/office/drawing/2014/main" id="{F6CF59C3-15E2-405A-BEFA-090F08B86018}"/>
              </a:ext>
            </a:extLst>
          </p:cNvPr>
          <p:cNvSpPr>
            <a:spLocks noGrp="1"/>
          </p:cNvSpPr>
          <p:nvPr/>
        </p:nvSpPr>
        <p:spPr>
          <a:xfrm>
            <a:off x="647700" y="1933575"/>
            <a:ext cx="5048250"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SAMPLE NEUTRAL QUESTIONS</a:t>
            </a:r>
          </a:p>
        </p:txBody>
      </p:sp>
      <p:sp>
        <p:nvSpPr>
          <p:cNvPr id="7" name="ANALYSIS RECORD">
            <a:extLst>
              <a:ext uri="{FF2B5EF4-FFF2-40B4-BE49-F238E27FC236}">
                <a16:creationId xmlns:a16="http://schemas.microsoft.com/office/drawing/2014/main" id="{D7113B33-6C24-4C92-BEAB-843B0A45CD3A}"/>
              </a:ext>
            </a:extLst>
          </p:cNvPr>
          <p:cNvSpPr>
            <a:spLocks noGrp="1"/>
          </p:cNvSpPr>
          <p:nvPr/>
        </p:nvSpPr>
        <p:spPr>
          <a:xfrm>
            <a:off x="6448425" y="1933575"/>
            <a:ext cx="4762500" cy="2476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050" b="1">
                <a:solidFill>
                  <a:srgbClr val="13756E"/>
                </a:solidFill>
                <a:latin typeface="Bitstream Charter"/>
                <a:ea typeface="Bitstream Charter"/>
                <a:cs typeface="Bitstream Charter"/>
              </a:defRPr>
            </a:pPr>
            <a:r>
              <a:rPr kumimoji="0" sz="1050" b="1" i="0" u="none" strike="noStrike" kern="1200" cap="none" spc="0" normalizeH="0" baseline="0" noProof="0">
                <a:ln>
                  <a:noFill/>
                </a:ln>
                <a:solidFill>
                  <a:srgbClr val="13756E"/>
                </a:solidFill>
                <a:effectLst/>
                <a:uLnTx/>
                <a:uFillTx/>
                <a:latin typeface="Bitstream Charter"/>
                <a:ea typeface="Bitstream Charter"/>
                <a:cs typeface="Bitstream Charter"/>
              </a:rPr>
              <a:t>ANALYSIS RECORD</a:t>
            </a:r>
          </a:p>
        </p:txBody>
      </p:sp>
      <p:sp>
        <p:nvSpPr>
          <p:cNvPr id="8" name="1.  [Tell me about the last ti">
            <a:extLst>
              <a:ext uri="{FF2B5EF4-FFF2-40B4-BE49-F238E27FC236}">
                <a16:creationId xmlns:a16="http://schemas.microsoft.com/office/drawing/2014/main" id="{DC260B6F-8935-4EAB-9E5F-6261B41DBC51}"/>
              </a:ext>
            </a:extLst>
          </p:cNvPr>
          <p:cNvSpPr>
            <a:spLocks noGrp="1"/>
          </p:cNvSpPr>
          <p:nvPr/>
        </p:nvSpPr>
        <p:spPr>
          <a:xfrm>
            <a:off x="647700" y="2333625"/>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1.  [Tell me about the last time you tried to…]</a:t>
            </a:r>
          </a:p>
        </p:txBody>
      </p:sp>
      <p:sp>
        <p:nvSpPr>
          <p:cNvPr id="9" name="Rectangle 8">
            <a:extLst>
              <a:ext uri="{FF2B5EF4-FFF2-40B4-BE49-F238E27FC236}">
                <a16:creationId xmlns:a16="http://schemas.microsoft.com/office/drawing/2014/main" id="{1CBEE285-194F-426F-B144-9AD1CD42ADCB}"/>
              </a:ext>
            </a:extLst>
          </p:cNvPr>
          <p:cNvSpPr>
            <a:spLocks noGrp="1"/>
          </p:cNvSpPr>
          <p:nvPr/>
        </p:nvSpPr>
        <p:spPr>
          <a:xfrm>
            <a:off x="647700" y="2857500"/>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0" name="2.  [What did you do first?]">
            <a:extLst>
              <a:ext uri="{FF2B5EF4-FFF2-40B4-BE49-F238E27FC236}">
                <a16:creationId xmlns:a16="http://schemas.microsoft.com/office/drawing/2014/main" id="{F00C393D-6A13-4FE9-8FB0-1AADB35DCA4A}"/>
              </a:ext>
            </a:extLst>
          </p:cNvPr>
          <p:cNvSpPr>
            <a:spLocks noGrp="1"/>
          </p:cNvSpPr>
          <p:nvPr/>
        </p:nvSpPr>
        <p:spPr>
          <a:xfrm>
            <a:off x="647700" y="2952750"/>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2.  [What did you do first?]</a:t>
            </a:r>
          </a:p>
        </p:txBody>
      </p:sp>
      <p:sp>
        <p:nvSpPr>
          <p:cNvPr id="11" name="Rectangle 10">
            <a:extLst>
              <a:ext uri="{FF2B5EF4-FFF2-40B4-BE49-F238E27FC236}">
                <a16:creationId xmlns:a16="http://schemas.microsoft.com/office/drawing/2014/main" id="{EA48A54D-1B7B-4B6B-ABDC-FC1DC702B6D9}"/>
              </a:ext>
            </a:extLst>
          </p:cNvPr>
          <p:cNvSpPr>
            <a:spLocks noGrp="1"/>
          </p:cNvSpPr>
          <p:nvPr/>
        </p:nvSpPr>
        <p:spPr>
          <a:xfrm>
            <a:off x="647700" y="3476625"/>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2" name="3.  [Where did it become diffi">
            <a:extLst>
              <a:ext uri="{FF2B5EF4-FFF2-40B4-BE49-F238E27FC236}">
                <a16:creationId xmlns:a16="http://schemas.microsoft.com/office/drawing/2014/main" id="{08420AFE-6E8E-4D3F-8DB8-DC8F5EC3D4C2}"/>
              </a:ext>
            </a:extLst>
          </p:cNvPr>
          <p:cNvSpPr>
            <a:spLocks noGrp="1"/>
          </p:cNvSpPr>
          <p:nvPr/>
        </p:nvSpPr>
        <p:spPr>
          <a:xfrm>
            <a:off x="647700" y="3571875"/>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3.  [Where did it become difficult?]</a:t>
            </a:r>
          </a:p>
        </p:txBody>
      </p:sp>
      <p:sp>
        <p:nvSpPr>
          <p:cNvPr id="13" name="Rectangle 12">
            <a:extLst>
              <a:ext uri="{FF2B5EF4-FFF2-40B4-BE49-F238E27FC236}">
                <a16:creationId xmlns:a16="http://schemas.microsoft.com/office/drawing/2014/main" id="{B658609A-15AE-49DB-AF2E-D8CB6676A0C0}"/>
              </a:ext>
            </a:extLst>
          </p:cNvPr>
          <p:cNvSpPr>
            <a:spLocks noGrp="1"/>
          </p:cNvSpPr>
          <p:nvPr/>
        </p:nvSpPr>
        <p:spPr>
          <a:xfrm>
            <a:off x="647700" y="4095750"/>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4" name="4.  [What did you do instead?]">
            <a:extLst>
              <a:ext uri="{FF2B5EF4-FFF2-40B4-BE49-F238E27FC236}">
                <a16:creationId xmlns:a16="http://schemas.microsoft.com/office/drawing/2014/main" id="{0FD74E90-B615-41D0-BC5A-78287CBC651C}"/>
              </a:ext>
            </a:extLst>
          </p:cNvPr>
          <p:cNvSpPr>
            <a:spLocks noGrp="1"/>
          </p:cNvSpPr>
          <p:nvPr/>
        </p:nvSpPr>
        <p:spPr>
          <a:xfrm>
            <a:off x="647700" y="4191000"/>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4.  [What did you do instead?]</a:t>
            </a:r>
          </a:p>
        </p:txBody>
      </p:sp>
      <p:sp>
        <p:nvSpPr>
          <p:cNvPr id="15" name="Rectangle 14">
            <a:extLst>
              <a:ext uri="{FF2B5EF4-FFF2-40B4-BE49-F238E27FC236}">
                <a16:creationId xmlns:a16="http://schemas.microsoft.com/office/drawing/2014/main" id="{03F1494C-008E-4116-8A30-A2FC9EFFBCFB}"/>
              </a:ext>
            </a:extLst>
          </p:cNvPr>
          <p:cNvSpPr>
            <a:spLocks noGrp="1"/>
          </p:cNvSpPr>
          <p:nvPr/>
        </p:nvSpPr>
        <p:spPr>
          <a:xfrm>
            <a:off x="647700" y="4714875"/>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6" name="5.  [What would a better outco">
            <a:extLst>
              <a:ext uri="{FF2B5EF4-FFF2-40B4-BE49-F238E27FC236}">
                <a16:creationId xmlns:a16="http://schemas.microsoft.com/office/drawing/2014/main" id="{0435F587-C4A2-49C3-8847-8FB7884A8E1B}"/>
              </a:ext>
            </a:extLst>
          </p:cNvPr>
          <p:cNvSpPr>
            <a:spLocks noGrp="1"/>
          </p:cNvSpPr>
          <p:nvPr/>
        </p:nvSpPr>
        <p:spPr>
          <a:xfrm>
            <a:off x="647700" y="4810125"/>
            <a:ext cx="5238750" cy="5143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575" b="0">
                <a:solidFill>
                  <a:srgbClr val="163449"/>
                </a:solidFill>
                <a:latin typeface="Bitstream Charter"/>
                <a:ea typeface="Bitstream Charter"/>
                <a:cs typeface="Bitstream Charter"/>
              </a:defRPr>
            </a:pPr>
            <a:r>
              <a:rPr kumimoji="0" sz="1575" b="0" i="0" u="none" strike="noStrike" kern="1200" cap="none" spc="0" normalizeH="0" baseline="0" noProof="0">
                <a:ln>
                  <a:noFill/>
                </a:ln>
                <a:solidFill>
                  <a:srgbClr val="163449"/>
                </a:solidFill>
                <a:effectLst/>
                <a:uLnTx/>
                <a:uFillTx/>
                <a:latin typeface="Bitstream Charter"/>
                <a:ea typeface="Bitstream Charter"/>
                <a:cs typeface="Bitstream Charter"/>
              </a:rPr>
              <a:t>5.  [What would a better outcome look like?]</a:t>
            </a:r>
          </a:p>
        </p:txBody>
      </p:sp>
      <p:sp>
        <p:nvSpPr>
          <p:cNvPr id="17" name="Rectangle 16">
            <a:extLst>
              <a:ext uri="{FF2B5EF4-FFF2-40B4-BE49-F238E27FC236}">
                <a16:creationId xmlns:a16="http://schemas.microsoft.com/office/drawing/2014/main" id="{6EA180CA-5E29-4E8F-AB20-090E2EFE72F5}"/>
              </a:ext>
            </a:extLst>
          </p:cNvPr>
          <p:cNvSpPr>
            <a:spLocks noGrp="1"/>
          </p:cNvSpPr>
          <p:nvPr/>
        </p:nvSpPr>
        <p:spPr>
          <a:xfrm>
            <a:off x="647700" y="5334000"/>
            <a:ext cx="49530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18" name="[Recruiting criteria and conse">
            <a:extLst>
              <a:ext uri="{FF2B5EF4-FFF2-40B4-BE49-F238E27FC236}">
                <a16:creationId xmlns:a16="http://schemas.microsoft.com/office/drawing/2014/main" id="{340B1D6B-9D23-4E70-B4F3-CD2E24EFE23B}"/>
              </a:ext>
            </a:extLst>
          </p:cNvPr>
          <p:cNvSpPr>
            <a:spLocks noGrp="1"/>
          </p:cNvSpPr>
          <p:nvPr/>
        </p:nvSpPr>
        <p:spPr>
          <a:xfrm>
            <a:off x="6448425" y="2352675"/>
            <a:ext cx="4762500" cy="6953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[Recruiting criteria and consent process]</a:t>
            </a:r>
          </a:p>
        </p:txBody>
      </p:sp>
      <p:sp>
        <p:nvSpPr>
          <p:cNvPr id="19" name="Rectangle 18">
            <a:extLst>
              <a:ext uri="{FF2B5EF4-FFF2-40B4-BE49-F238E27FC236}">
                <a16:creationId xmlns:a16="http://schemas.microsoft.com/office/drawing/2014/main" id="{FEF24DF7-41F6-4174-AC9D-F7A8F295C42D}"/>
              </a:ext>
            </a:extLst>
          </p:cNvPr>
          <p:cNvSpPr>
            <a:spLocks noGrp="1"/>
          </p:cNvSpPr>
          <p:nvPr/>
        </p:nvSpPr>
        <p:spPr>
          <a:xfrm>
            <a:off x="6448425" y="3105150"/>
            <a:ext cx="47625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0" name="[How notes were coded or group">
            <a:extLst>
              <a:ext uri="{FF2B5EF4-FFF2-40B4-BE49-F238E27FC236}">
                <a16:creationId xmlns:a16="http://schemas.microsoft.com/office/drawing/2014/main" id="{C9BC8445-BCD6-4613-AD30-8E61602CC7F5}"/>
              </a:ext>
            </a:extLst>
          </p:cNvPr>
          <p:cNvSpPr>
            <a:spLocks noGrp="1"/>
          </p:cNvSpPr>
          <p:nvPr/>
        </p:nvSpPr>
        <p:spPr>
          <a:xfrm>
            <a:off x="6448425" y="3324225"/>
            <a:ext cx="4762500" cy="9144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[How notes were coded or grouped into themes]</a:t>
            </a:r>
          </a:p>
        </p:txBody>
      </p:sp>
      <p:sp>
        <p:nvSpPr>
          <p:cNvPr id="21" name="Rectangle 20">
            <a:extLst>
              <a:ext uri="{FF2B5EF4-FFF2-40B4-BE49-F238E27FC236}">
                <a16:creationId xmlns:a16="http://schemas.microsoft.com/office/drawing/2014/main" id="{2F7E8618-B1D0-4221-9CC0-6AF6E087D782}"/>
              </a:ext>
            </a:extLst>
          </p:cNvPr>
          <p:cNvSpPr>
            <a:spLocks noGrp="1"/>
          </p:cNvSpPr>
          <p:nvPr/>
        </p:nvSpPr>
        <p:spPr>
          <a:xfrm>
            <a:off x="6448425" y="4286250"/>
            <a:ext cx="4762500" cy="9525"/>
          </a:xfrm>
          <a:prstGeom prst="rect">
            <a:avLst/>
          </a:prstGeom>
          <a:solidFill>
            <a:srgbClr val="BCC9C7"/>
          </a:solidFill>
          <a:ln w="0">
            <a:no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ptos"/>
              <a:ea typeface="+mn-ea"/>
              <a:cs typeface="+mn-cs"/>
            </a:endParaRPr>
          </a:p>
        </p:txBody>
      </p:sp>
      <p:sp>
        <p:nvSpPr>
          <p:cNvPr id="22" name="[Disconfirming cases or confli">
            <a:extLst>
              <a:ext uri="{FF2B5EF4-FFF2-40B4-BE49-F238E27FC236}">
                <a16:creationId xmlns:a16="http://schemas.microsoft.com/office/drawing/2014/main" id="{40C9E904-030D-408E-B43A-599063B499C8}"/>
              </a:ext>
            </a:extLst>
          </p:cNvPr>
          <p:cNvSpPr>
            <a:spLocks noGrp="1"/>
          </p:cNvSpPr>
          <p:nvPr/>
        </p:nvSpPr>
        <p:spPr>
          <a:xfrm>
            <a:off x="6448425" y="4514850"/>
            <a:ext cx="4762500" cy="885825"/>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10000"/>
              </a:lnSpc>
              <a:spcBef>
                <a:spcPts val="0"/>
              </a:spcBef>
              <a:spcAft>
                <a:spcPts val="0"/>
              </a:spcAft>
              <a:buClrTx/>
              <a:buSzTx/>
              <a:buFontTx/>
              <a:buNone/>
              <a:tabLst/>
              <a:defRPr sz="1650" b="0">
                <a:solidFill>
                  <a:srgbClr val="163449"/>
                </a:solidFill>
                <a:latin typeface="Bitstream Charter"/>
                <a:ea typeface="Bitstream Charter"/>
                <a:cs typeface="Bitstream Charter"/>
              </a:defRPr>
            </a:pPr>
            <a:r>
              <a:rPr kumimoji="0" sz="1650" b="0" i="0" u="none" strike="noStrike" kern="1200" cap="none" spc="0" normalizeH="0" baseline="0" noProof="0">
                <a:ln>
                  <a:noFill/>
                </a:ln>
                <a:solidFill>
                  <a:srgbClr val="163449"/>
                </a:solidFill>
                <a:effectLst/>
                <a:uLnTx/>
                <a:uFillTx/>
                <a:latin typeface="Bitstream Charter"/>
                <a:ea typeface="Bitstream Charter"/>
                <a:cs typeface="Bitstream Charter"/>
              </a:rPr>
              <a:t>[Disconfirming cases or conflicting responses]</a:t>
            </a:r>
          </a:p>
        </p:txBody>
      </p:sp>
    </p:spTree>
    <p:extLst>
      <p:ext uri="{BB962C8B-B14F-4D97-AF65-F5344CB8AC3E}">
        <p14:creationId xmlns:p14="http://schemas.microsoft.com/office/powerpoint/2010/main" val="11611226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2083</Words>
  <Application>Microsoft Macintosh PowerPoint</Application>
  <PresentationFormat>Widescreen</PresentationFormat>
  <Paragraphs>264</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Bitstream Charter</vt:lpstr>
      <vt:lpstr>Aptos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Tik Fan CHAN</dc:creator>
  <cp:lastModifiedBy>Tik Fan CHAN</cp:lastModifiedBy>
  <cp:revision>1</cp:revision>
  <dcterms:created xsi:type="dcterms:W3CDTF">2026-09-29T11:23:55Z</dcterms:created>
  <dcterms:modified xsi:type="dcterms:W3CDTF">2026-09-29T11:24:51Z</dcterms:modified>
</cp:coreProperties>
</file>